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-4572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8000" b="1">
                <a:solidFill>
                  <a:srgbClr val="F0EBE3"/>
                </a:solidFill>
                <a:latin typeface="Inter"/>
              </a:defRPr>
            </a:pPr>
            <a:r>
              <a:t>50K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50" b="1">
                <a:solidFill>
                  <a:srgbClr val="8A7D6E"/>
                </a:solidFill>
                <a:latin typeface="Inter"/>
              </a:defRPr>
            </a:pPr>
            <a:r>
              <a:t>MACHINE LEARNING  •  CLASSIFICATION  •  KAGGLE REAL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286000" cy="127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defRPr sz="5400" b="1">
                <a:solidFill>
                  <a:srgbClr val="0F0F0F"/>
                </a:solidFill>
                <a:latin typeface="Inter"/>
              </a:defRPr>
            </a:pPr>
            <a:r>
              <a:t>Customer</a:t>
            </a:r>
            <a:br/>
            <a:r>
              <a:t>Category</a:t>
            </a:r>
            <a:br/>
            <a:r>
              <a:t>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200" b="0">
                <a:solidFill>
                  <a:srgbClr val="4A4238"/>
                </a:solidFill>
                <a:latin typeface="Inter"/>
              </a:defRPr>
            </a:pPr>
            <a:r>
              <a:t>Multinomial logistic regression on 50,000 real Kaggle customers. 12 features → 4 categories. Real missing values, real imbalance, real model. Lens v3.0 authentic internal tool.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4434840"/>
            <a:ext cx="45720" cy="128016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5262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900" b="0">
                <a:solidFill>
                  <a:srgbClr val="0F0F0F"/>
                </a:solidFill>
                <a:latin typeface="Inter"/>
              </a:defRPr>
            </a:pPr>
            <a:r>
              <a:t>KAGGLE SOURCE</a:t>
            </a:r>
            <a:br/>
            <a:r>
              <a:t>Online Retail Customer Classification</a:t>
            </a:r>
            <a:br/>
            <a:r>
              <a:t>rohit8527kmr7518 • CC0 • 1,388 downloads</a:t>
            </a:r>
            <a:br/>
            <a:r>
              <a:t>50,000 rows • 14 cols • 4 classes</a:t>
            </a:r>
            <a:br/>
            <a:r>
              <a:t>Occasional 44% • Regular 27%</a:t>
            </a:r>
            <a:br/>
            <a:r>
              <a:t>Loyal 18% • High_Value 11% VIP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0972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defRPr sz="8800" b="1">
                <a:solidFill>
                  <a:srgbClr val="0F0F0F"/>
                </a:solidFill>
                <a:latin typeface="Inter"/>
              </a:defRPr>
            </a:pPr>
            <a:r>
              <a:t>50K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8288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8A7D6E"/>
                </a:solidFill>
                <a:latin typeface="Inter"/>
              </a:defRPr>
            </a:pPr>
            <a:r>
              <a:t>REAL CUSTOMERS • KAGGLE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2194560"/>
            <a:ext cx="2743200" cy="12700"/>
          </a:xfrm>
          <a:prstGeom prst="rect">
            <a:avLst/>
          </a:prstGeom>
          <a:solidFill>
            <a:srgbClr val="E8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2468880"/>
            <a:ext cx="1554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256032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2800" b="1">
                <a:solidFill>
                  <a:srgbClr val="0F0F0F"/>
                </a:solidFill>
                <a:latin typeface="Inter"/>
              </a:defRPr>
            </a:pPr>
            <a:r>
              <a:t>66.4%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06324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800" b="1">
                <a:solidFill>
                  <a:srgbClr val="8A7D6E"/>
                </a:solidFill>
                <a:latin typeface="Inter"/>
              </a:defRPr>
            </a:pPr>
            <a:r>
              <a:t>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24612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700" b="0">
                <a:solidFill>
                  <a:srgbClr val="A89F90"/>
                </a:solidFill>
                <a:latin typeface="Inter"/>
              </a:defRPr>
            </a:pPr>
            <a:r>
              <a:t>7,500 test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2468880"/>
            <a:ext cx="1554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256032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2800" b="1">
                <a:solidFill>
                  <a:srgbClr val="0F0F0F"/>
                </a:solidFill>
                <a:latin typeface="Inter"/>
              </a:defRPr>
            </a:pPr>
            <a:r>
              <a:t>0.87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306324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800" b="1">
                <a:solidFill>
                  <a:srgbClr val="8A7D6E"/>
                </a:solidFill>
                <a:latin typeface="Inter"/>
              </a:defRPr>
            </a:pPr>
            <a:r>
              <a:t>ROC-AUC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324612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700" b="0">
                <a:solidFill>
                  <a:srgbClr val="A89F90"/>
                </a:solidFill>
                <a:latin typeface="Inter"/>
              </a:defRPr>
            </a:pPr>
            <a:r>
              <a:t>OVR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657600"/>
            <a:ext cx="1554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3749039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2800" b="1">
                <a:solidFill>
                  <a:srgbClr val="0F0F0F"/>
                </a:solidFill>
                <a:latin typeface="Inter"/>
              </a:defRPr>
            </a:pPr>
            <a:r>
              <a:t>12→16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25196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800" b="1">
                <a:solidFill>
                  <a:srgbClr val="8A7D6E"/>
                </a:solidFill>
                <a:latin typeface="Inter"/>
              </a:defRPr>
            </a:pPr>
            <a:r>
              <a:t>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443484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700" b="0">
                <a:solidFill>
                  <a:srgbClr val="A89F90"/>
                </a:solidFill>
                <a:latin typeface="Inter"/>
              </a:defRPr>
            </a:pPr>
            <a:r>
              <a:t>OneHot + Scaled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3657600"/>
            <a:ext cx="1554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3749039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2800" b="1">
                <a:solidFill>
                  <a:srgbClr val="0F0F0F"/>
                </a:solidFill>
                <a:latin typeface="Inter"/>
              </a:defRPr>
            </a:pPr>
            <a:r>
              <a:t>Lens v3.0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425196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800" b="1">
                <a:solidFill>
                  <a:srgbClr val="8A7D6E"/>
                </a:solidFill>
                <a:latin typeface="Inter"/>
              </a:defRPr>
            </a:pPr>
            <a:r>
              <a:t>RETAIL OPS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443484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700" b="0">
                <a:solidFill>
                  <a:srgbClr val="A89F90"/>
                </a:solidFill>
                <a:latin typeface="Inter"/>
              </a:defRPr>
            </a:pPr>
            <a:r>
              <a:t>Flask :5000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750" b="0">
                <a:solidFill>
                  <a:srgbClr val="A89F90"/>
                </a:solidFill>
                <a:latin typeface="Inter"/>
              </a:defRPr>
            </a:pPr>
            <a:r>
              <a:t>RETAIL OPS • KAGGLE 50K REAL • LENS v3.0 • 01/17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263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2200" b="1">
                <a:solidFill>
                  <a:srgbClr val="D1C7B8"/>
                </a:solidFill>
                <a:latin typeface="Inter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50" b="1">
                <a:solidFill>
                  <a:srgbClr val="8A7D6E"/>
                </a:solidFill>
                <a:latin typeface="Inter"/>
              </a:defRPr>
            </a:pPr>
            <a:r>
              <a:t>ROADMAP  •  11 STAGES  •  REAL 50K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400" b="1">
                <a:solidFill>
                  <a:srgbClr val="0F0F0F"/>
                </a:solidFill>
                <a:latin typeface="Inter"/>
              </a:defRPr>
            </a:pPr>
            <a:r>
              <a:t>From raw CSV to live 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2700"/>
          </a:xfrm>
          <a:prstGeom prst="rect">
            <a:avLst/>
          </a:prstGeom>
          <a:solidFill>
            <a:srgbClr val="E8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2029968"/>
            <a:ext cx="128016" cy="128016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86384" y="2157984"/>
            <a:ext cx="12700" cy="292608"/>
          </a:xfrm>
          <a:prstGeom prst="rect">
            <a:avLst/>
          </a:prstGeom>
          <a:solidFill>
            <a:srgbClr val="E8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1">
                <a:solidFill>
                  <a:srgbClr val="6B21A8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920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000" b="1">
                <a:solidFill>
                  <a:srgbClr val="0F0F0F"/>
                </a:solidFill>
                <a:latin typeface="Inter"/>
              </a:defRPr>
            </a:pPr>
            <a: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920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4A4238"/>
                </a:solidFill>
                <a:latin typeface="Inter"/>
              </a:defRPr>
            </a:pPr>
            <a:r>
              <a:t>4 classes, actions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450592"/>
            <a:ext cx="128016" cy="128016"/>
          </a:xfrm>
          <a:prstGeom prst="ellipse">
            <a:avLst/>
          </a:prstGeom>
          <a:solidFill>
            <a:srgbClr val="D1C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" y="2578608"/>
            <a:ext cx="12700" cy="292608"/>
          </a:xfrm>
          <a:prstGeom prst="rect">
            <a:avLst/>
          </a:prstGeom>
          <a:solidFill>
            <a:srgbClr val="E8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34086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1">
                <a:solidFill>
                  <a:srgbClr val="8A7D6E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34086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000" b="1">
                <a:solidFill>
                  <a:srgbClr val="0F0F0F"/>
                </a:solidFill>
                <a:latin typeface="Inter"/>
              </a:defRPr>
            </a:pPr>
            <a:r>
              <a:t>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3408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4A4238"/>
                </a:solidFill>
                <a:latin typeface="Inter"/>
              </a:defRPr>
            </a:pPr>
            <a:r>
              <a:t>Kaggle 50k, 14 cols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2871216"/>
            <a:ext cx="128016" cy="128016"/>
          </a:xfrm>
          <a:prstGeom prst="ellipse">
            <a:avLst/>
          </a:prstGeom>
          <a:solidFill>
            <a:srgbClr val="D1C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" y="2999232"/>
            <a:ext cx="12700" cy="292608"/>
          </a:xfrm>
          <a:prstGeom prst="rect">
            <a:avLst/>
          </a:prstGeom>
          <a:solidFill>
            <a:srgbClr val="E8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76148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1">
                <a:solidFill>
                  <a:srgbClr val="8A7D6E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7614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000" b="1">
                <a:solidFill>
                  <a:srgbClr val="0F0F0F"/>
                </a:solidFill>
                <a:latin typeface="Inter"/>
              </a:defRPr>
            </a:pPr>
            <a:r>
              <a:t>Understanding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27614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4A4238"/>
                </a:solidFill>
                <a:latin typeface="Inter"/>
              </a:defRPr>
            </a:pPr>
            <a:r>
              <a:t>50k, 13 usable, gaps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3291840"/>
            <a:ext cx="128016" cy="128016"/>
          </a:xfrm>
          <a:prstGeom prst="ellipse">
            <a:avLst/>
          </a:prstGeom>
          <a:solidFill>
            <a:srgbClr val="D1C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" y="3419856"/>
            <a:ext cx="12700" cy="292608"/>
          </a:xfrm>
          <a:prstGeom prst="rect">
            <a:avLst/>
          </a:prstGeom>
          <a:solidFill>
            <a:srgbClr val="E8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18211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1">
                <a:solidFill>
                  <a:srgbClr val="8A7D6E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1821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000" b="1">
                <a:solidFill>
                  <a:srgbClr val="0F0F0F"/>
                </a:solidFill>
                <a:latin typeface="Inter"/>
              </a:defRPr>
            </a:pPr>
            <a:r>
              <a:t>Preprocessing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31821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4A4238"/>
                </a:solidFill>
                <a:latin typeface="Inter"/>
              </a:defRPr>
            </a:pPr>
            <a:r>
              <a:t>Median + OneHot 12→16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3712464"/>
            <a:ext cx="128016" cy="128016"/>
          </a:xfrm>
          <a:prstGeom prst="ellipse">
            <a:avLst/>
          </a:prstGeom>
          <a:solidFill>
            <a:srgbClr val="D1C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6384" y="3840480"/>
            <a:ext cx="12700" cy="292608"/>
          </a:xfrm>
          <a:prstGeom prst="rect">
            <a:avLst/>
          </a:prstGeom>
          <a:solidFill>
            <a:srgbClr val="E8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360273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1">
                <a:solidFill>
                  <a:srgbClr val="8A7D6E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360273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000" b="1">
                <a:solidFill>
                  <a:srgbClr val="0F0F0F"/>
                </a:solidFill>
                <a:latin typeface="Inter"/>
              </a:defRPr>
            </a:pPr>
            <a:r>
              <a:t>EDA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36027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4A4238"/>
                </a:solidFill>
                <a:latin typeface="Inter"/>
              </a:defRPr>
            </a:pPr>
            <a:r>
              <a:t>Hist, Bar, Box, Scatter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4133088"/>
            <a:ext cx="128016" cy="128016"/>
          </a:xfrm>
          <a:prstGeom prst="ellipse">
            <a:avLst/>
          </a:prstGeom>
          <a:solidFill>
            <a:srgbClr val="D1C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6384" y="4261104"/>
            <a:ext cx="12700" cy="292608"/>
          </a:xfrm>
          <a:prstGeom prst="rect">
            <a:avLst/>
          </a:prstGeom>
          <a:solidFill>
            <a:srgbClr val="E8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0233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1">
                <a:solidFill>
                  <a:srgbClr val="8A7D6E"/>
                </a:solidFill>
                <a:latin typeface="Inter"/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4023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000" b="1">
                <a:solidFill>
                  <a:srgbClr val="0F0F0F"/>
                </a:solidFill>
                <a:latin typeface="Inter"/>
              </a:defRPr>
            </a:pPr>
            <a:r>
              <a:t>Features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4023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4A4238"/>
                </a:solidFill>
                <a:latin typeface="Inter"/>
              </a:defRPr>
            </a:pPr>
            <a:r>
              <a:t>12→16, keep all signal</a:t>
            </a:r>
          </a:p>
        </p:txBody>
      </p:sp>
      <p:sp>
        <p:nvSpPr>
          <p:cNvPr id="35" name="Oval 34"/>
          <p:cNvSpPr/>
          <p:nvPr/>
        </p:nvSpPr>
        <p:spPr>
          <a:xfrm>
            <a:off x="731520" y="4553712"/>
            <a:ext cx="128016" cy="128016"/>
          </a:xfrm>
          <a:prstGeom prst="ellipse">
            <a:avLst/>
          </a:prstGeom>
          <a:solidFill>
            <a:srgbClr val="D1C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86384" y="4681728"/>
            <a:ext cx="12700" cy="292608"/>
          </a:xfrm>
          <a:prstGeom prst="rect">
            <a:avLst/>
          </a:prstGeom>
          <a:solidFill>
            <a:srgbClr val="E8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444398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1">
                <a:solidFill>
                  <a:srgbClr val="8A7D6E"/>
                </a:solidFill>
                <a:latin typeface="Inter"/>
              </a:defRPr>
            </a:pPr>
            <a: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444398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000" b="1">
                <a:solidFill>
                  <a:srgbClr val="0F0F0F"/>
                </a:solidFill>
                <a:latin typeface="Inter"/>
              </a:defRPr>
            </a:pPr>
            <a:r>
              <a:t>Split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08960" y="44439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4A4238"/>
                </a:solidFill>
                <a:latin typeface="Inter"/>
              </a:defRPr>
            </a:pPr>
            <a:r>
              <a:t>70/15/15 stratified</a:t>
            </a:r>
          </a:p>
        </p:txBody>
      </p:sp>
      <p:sp>
        <p:nvSpPr>
          <p:cNvPr id="40" name="Oval 39"/>
          <p:cNvSpPr/>
          <p:nvPr/>
        </p:nvSpPr>
        <p:spPr>
          <a:xfrm>
            <a:off x="731520" y="4974336"/>
            <a:ext cx="128016" cy="128016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86384" y="5102352"/>
            <a:ext cx="12700" cy="292608"/>
          </a:xfrm>
          <a:prstGeom prst="rect">
            <a:avLst/>
          </a:prstGeom>
          <a:solidFill>
            <a:srgbClr val="E8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486460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1">
                <a:solidFill>
                  <a:srgbClr val="6B21A8"/>
                </a:solidFill>
                <a:latin typeface="Inter"/>
              </a:defRPr>
            </a:pPr>
            <a: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63040" y="48646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000" b="1">
                <a:solidFill>
                  <a:srgbClr val="0F0F0F"/>
                </a:solidFill>
                <a:latin typeface="Inter"/>
              </a:defRPr>
            </a:pPr>
            <a:r>
              <a:t>Model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08960" y="48646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4A4238"/>
                </a:solidFill>
                <a:latin typeface="Inter"/>
              </a:defRPr>
            </a:pPr>
            <a:r>
              <a:t>LogReg + RF + KMeans</a:t>
            </a:r>
          </a:p>
        </p:txBody>
      </p:sp>
      <p:sp>
        <p:nvSpPr>
          <p:cNvPr id="45" name="Oval 44"/>
          <p:cNvSpPr/>
          <p:nvPr/>
        </p:nvSpPr>
        <p:spPr>
          <a:xfrm>
            <a:off x="731520" y="5394960"/>
            <a:ext cx="128016" cy="128016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86384" y="5522976"/>
            <a:ext cx="12700" cy="292608"/>
          </a:xfrm>
          <a:prstGeom prst="rect">
            <a:avLst/>
          </a:prstGeom>
          <a:solidFill>
            <a:srgbClr val="E8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528523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1">
                <a:solidFill>
                  <a:srgbClr val="6B21A8"/>
                </a:solidFill>
                <a:latin typeface="Inter"/>
              </a:defRPr>
            </a:pPr>
            <a:r>
              <a:t>09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63040" y="52852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000" b="1">
                <a:solidFill>
                  <a:srgbClr val="0F0F0F"/>
                </a:solidFill>
                <a:latin typeface="Inter"/>
              </a:defRPr>
            </a:pPr>
            <a:r>
              <a:t>Evaluate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08960" y="52852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4A4238"/>
                </a:solidFill>
                <a:latin typeface="Inter"/>
              </a:defRPr>
            </a:pPr>
            <a:r>
              <a:t>66.4% acc, 0.87 AUC</a:t>
            </a:r>
          </a:p>
        </p:txBody>
      </p:sp>
      <p:sp>
        <p:nvSpPr>
          <p:cNvPr id="50" name="Oval 49"/>
          <p:cNvSpPr/>
          <p:nvPr/>
        </p:nvSpPr>
        <p:spPr>
          <a:xfrm>
            <a:off x="731520" y="5815584"/>
            <a:ext cx="128016" cy="128016"/>
          </a:xfrm>
          <a:prstGeom prst="ellipse">
            <a:avLst/>
          </a:prstGeom>
          <a:solidFill>
            <a:srgbClr val="D1C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86384" y="5943600"/>
            <a:ext cx="12700" cy="292608"/>
          </a:xfrm>
          <a:prstGeom prst="rect">
            <a:avLst/>
          </a:prstGeom>
          <a:solidFill>
            <a:srgbClr val="E8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5840" y="570585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1">
                <a:solidFill>
                  <a:srgbClr val="8A7D6E"/>
                </a:solidFill>
                <a:latin typeface="Inter"/>
              </a:defRPr>
            </a:pPr>
            <a: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63040" y="570585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000" b="1">
                <a:solidFill>
                  <a:srgbClr val="0F0F0F"/>
                </a:solidFill>
                <a:latin typeface="Inter"/>
              </a:defRPr>
            </a:pPr>
            <a:r>
              <a:t>Save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08960" y="57058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4A4238"/>
                </a:solidFill>
                <a:latin typeface="Inter"/>
              </a:defRPr>
            </a:pPr>
            <a:r>
              <a:t>pkl + json 7.6M</a:t>
            </a:r>
          </a:p>
        </p:txBody>
      </p:sp>
      <p:sp>
        <p:nvSpPr>
          <p:cNvPr id="55" name="Oval 54"/>
          <p:cNvSpPr/>
          <p:nvPr/>
        </p:nvSpPr>
        <p:spPr>
          <a:xfrm>
            <a:off x="731520" y="6236208"/>
            <a:ext cx="128016" cy="128016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5840" y="61264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1">
                <a:solidFill>
                  <a:srgbClr val="6B21A8"/>
                </a:solidFill>
                <a:latin typeface="Inter"/>
              </a:defRPr>
            </a:pPr>
            <a:r>
              <a:t>11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63040" y="6126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000" b="1">
                <a:solidFill>
                  <a:srgbClr val="0F0F0F"/>
                </a:solidFill>
                <a:latin typeface="Inter"/>
              </a:defRPr>
            </a:pPr>
            <a:r>
              <a:t>Deploy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108960" y="6126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4A4238"/>
                </a:solidFill>
                <a:latin typeface="Inter"/>
              </a:defRPr>
            </a:pPr>
            <a:r>
              <a:t>Flask :5000 live</a:t>
            </a:r>
          </a:p>
        </p:txBody>
      </p:sp>
      <p:graphicFrame>
        <p:nvGraphicFramePr>
          <p:cNvPr id="59" name="Table 58"/>
          <p:cNvGraphicFramePr>
            <a:graphicFrameLocks noGrp="1"/>
          </p:cNvGraphicFramePr>
          <p:nvPr/>
        </p:nvGraphicFramePr>
        <p:xfrm>
          <a:off x="5669280" y="1920240"/>
          <a:ext cx="53035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560320"/>
                <a:gridCol w="1645920"/>
              </a:tblGrid>
              <a:tr h="358140"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Stage</a:t>
                      </a:r>
                    </a:p>
                  </a:txBody>
                  <a:tcPr anchor="t"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Output / Key Number</a:t>
                      </a:r>
                    </a:p>
                  </a:txBody>
                  <a:tcPr anchor="t"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Artifact</a:t>
                      </a:r>
                    </a:p>
                  </a:txBody>
                  <a:tcPr anchor="t">
                    <a:solidFill>
                      <a:srgbClr val="0F0F0F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01 Problem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4 classes + business actions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Business mapping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02 Dataset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7.8 MB CSV, 44% Occasional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customers.csv 7.4M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03 Understanding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3,934 max missing, 0 dups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EDA summary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04 Preprocessing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12 → 16 dim, 0 missing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preprocessor.pkl 4.4K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05 EDA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Income↔AOV 0.52, Recency strongest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Hist/Bar/Box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06 Features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monthly_spend 0.18 top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feature_store.pkl 1.2K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07 Split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35k/7.48k/7.5k, CV 66.6%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stratified 70/15/15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08 Model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66.4% test, 0.87 AUC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model.pkl 1.6K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09 Evaluate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Occasional 82% rec best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metrics.json 8K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10 Save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6 files, 7.6M total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versioned v3.0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11 Deploy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6 endpoints, drift PSI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Flask :5000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0" name="TextBox 59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750" b="0">
                <a:solidFill>
                  <a:srgbClr val="A89F90"/>
                </a:solidFill>
                <a:latin typeface="Inter"/>
              </a:defRPr>
            </a:pPr>
            <a:r>
              <a:t>RETAIL OPS • KAGGLE 50K REAL • LENS v3.0 • 02/17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155680" y="6263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2200" b="1">
                <a:solidFill>
                  <a:srgbClr val="D1C7B8"/>
                </a:solidFill>
                <a:latin typeface="Inter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50" b="1">
                <a:solidFill>
                  <a:srgbClr val="8A7D6E"/>
                </a:solidFill>
                <a:latin typeface="Inter"/>
              </a:defRPr>
            </a:pPr>
            <a:r>
              <a:t>STAGE 01  •  PROBLEM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400" b="1">
                <a:solidFill>
                  <a:srgbClr val="0F0F0F"/>
                </a:solidFill>
                <a:latin typeface="Inter"/>
              </a:defRPr>
            </a:pPr>
            <a:r>
              <a:t>What, Why, Who,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2700"/>
          </a:xfrm>
          <a:prstGeom prst="rect">
            <a:avLst/>
          </a:prstGeom>
          <a:solidFill>
            <a:srgbClr val="E8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7432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45720" cy="13716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900" b="0">
                <a:solidFill>
                  <a:srgbClr val="0F0F0F"/>
                </a:solidFill>
                <a:latin typeface="Inter"/>
              </a:defRPr>
            </a:pPr>
            <a:r>
              <a:t>WHAT</a:t>
            </a:r>
            <a:br/>
            <a:r>
              <a:t>Predict customer_segment from behavior using real Kaggle 50k: 12 features, 4 categories. Not synthetic 3.5k 89% — real 50k 66% is harder and more honest.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920240"/>
            <a:ext cx="27432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1965960"/>
            <a:ext cx="45720" cy="1371600"/>
          </a:xfrm>
          <a:prstGeom prst="rect">
            <a:avLst/>
          </a:prstGeom>
          <a:solidFill>
            <a:srgbClr val="4A4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200" y="205740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900" b="0">
                <a:solidFill>
                  <a:srgbClr val="0F0F0F"/>
                </a:solidFill>
                <a:latin typeface="Inter"/>
              </a:defRPr>
            </a:pPr>
            <a:r>
              <a:t>WHY</a:t>
            </a:r>
            <a:br/>
            <a:r>
              <a:t>Personalize offers, allocate support, prevent churn, maximize LTV. Real data = real patterns. 44% Occasional needs win-back, 11% High_Value needs VIP treatment.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27432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611880"/>
            <a:ext cx="45720" cy="1371600"/>
          </a:xfrm>
          <a:prstGeom prst="rect">
            <a:avLst/>
          </a:prstGeom>
          <a:solidFill>
            <a:srgbClr val="4A4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70332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900" b="0">
                <a:solidFill>
                  <a:srgbClr val="0F0F0F"/>
                </a:solidFill>
                <a:latin typeface="Inter"/>
              </a:defRPr>
            </a:pPr>
            <a:r>
              <a:t>WHO</a:t>
            </a:r>
            <a:br/>
            <a:r>
              <a:t>E-commerce ops team, marketing, support. Retail Ops workspace uses Lens daily for 120 sampled customers. Generic branding, not personal.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3566160"/>
            <a:ext cx="27432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0" y="3611880"/>
            <a:ext cx="45720" cy="1371600"/>
          </a:xfrm>
          <a:prstGeom prst="rect">
            <a:avLst/>
          </a:prstGeom>
          <a:solidFill>
            <a:srgbClr val="0E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6200" y="370332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900" b="0">
                <a:solidFill>
                  <a:srgbClr val="0F0F0F"/>
                </a:solidFill>
                <a:latin typeface="Inter"/>
              </a:defRPr>
            </a:pPr>
            <a:r>
              <a:t>OUTPUT</a:t>
            </a:r>
            <a:br/>
            <a:r>
              <a:t>Category + confidence + business action + 6-stage trace lineage. Example: High_Value 78% → VIP concierge, Loyal 65% → early access.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1920240"/>
            <a:ext cx="4572000" cy="3291840"/>
          </a:xfrm>
          <a:prstGeom prst="roundRect">
            <a:avLst/>
          </a:prstGeom>
          <a:solidFill>
            <a:srgbClr val="0F0F0F"/>
          </a:solidFill>
          <a:ln w="12700"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2057400"/>
            <a:ext cx="4114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900" b="0">
                <a:solidFill>
                  <a:srgbClr val="FFFFFF"/>
                </a:solidFill>
                <a:latin typeface="Inter"/>
              </a:defRPr>
            </a:pPr>
            <a:r>
              <a:t>LIFECYCLE • CO1</a:t>
            </a:r>
            <a:br/>
            <a:br/>
            <a:r>
              <a:t>Data (Kaggle CSV 50k) → Features (Feature Store v3.0 12→16) → Training (LogReg L2 C=10 + RF 100 trees + KMeans) → Evaluation (CV 66.6% ±0.3% 5-fold, Test 66.4% 7.5k, ROC-AUC 0.87) → Deployment (Flask 0.0.0.0:5000, 6 endpoints) → Monitoring (Drift PSI, latency avg, logs last 500)</a:t>
            </a:r>
            <a:br/>
            <a:br/>
            <a:r>
              <a:t>REQUEST LINEAGE</a:t>
            </a:r>
            <a:br/>
            <a:r>
              <a:t>Every /api/predict returns 6 stages: Ingestion → Feature Store → Feature Vector (16-dim) → Model Inference (LogReg 16→4 logits softmax) → Post-processing (probs + action) → Monitoring (log + latency)</a:t>
            </a:r>
            <a:br/>
            <a:br/>
            <a:r>
              <a:t>KAGGLE REALITY</a:t>
            </a:r>
            <a:br/>
            <a:r>
              <a:t>• 50k rows, 14 cols, 4 classes imbalanced realistic</a:t>
            </a:r>
            <a:br/>
            <a:r>
              <a:t>• 7 cols have real missing 1,979-3,934 each — perfect for preprocessing demo</a:t>
            </a:r>
            <a:br/>
            <a:r>
              <a:t>• CC0 Public Domain, 1,388 downloads, rohit8527kmr7518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750" b="0">
                <a:solidFill>
                  <a:srgbClr val="A89F90"/>
                </a:solidFill>
                <a:latin typeface="Inter"/>
              </a:defRPr>
            </a:pPr>
            <a:r>
              <a:t>RETAIL OPS • KAGGLE 50K REAL • LENS v3.0 • 03/17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263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2200" b="1">
                <a:solidFill>
                  <a:srgbClr val="D1C7B8"/>
                </a:solidFill>
                <a:latin typeface="Inter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50" b="1">
                <a:solidFill>
                  <a:srgbClr val="8A7D6E"/>
                </a:solidFill>
                <a:latin typeface="Inter"/>
              </a:defRPr>
            </a:pPr>
            <a:r>
              <a:t>STAGE 02  •  DATASET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400" b="1">
                <a:solidFill>
                  <a:srgbClr val="0F0F0F"/>
                </a:solidFill>
                <a:latin typeface="Inter"/>
              </a:defRPr>
            </a:pPr>
            <a:r>
              <a:t>Kaggle — 50,000 real customers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2700"/>
          </a:xfrm>
          <a:prstGeom prst="rect">
            <a:avLst/>
          </a:prstGeom>
          <a:solidFill>
            <a:srgbClr val="E8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291840" cy="1828800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45720" cy="173736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283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900" b="0">
                <a:solidFill>
                  <a:srgbClr val="0F0F0F"/>
                </a:solidFill>
                <a:latin typeface="Inter"/>
              </a:defRPr>
            </a:pPr>
            <a:r>
              <a:t>SOURCE</a:t>
            </a:r>
            <a:br/>
            <a:r>
              <a:t>Kaggle: Online Retail Customer Classification</a:t>
            </a:r>
            <a:br/>
            <a:r>
              <a:t>Author: rohit8527kmr7518</a:t>
            </a:r>
            <a:br/>
            <a:r>
              <a:t>URL: kaggle.com/datasets/rohit8527kmr7518</a:t>
            </a:r>
            <a:br/>
            <a:r>
              <a:t>License: CC0 Public Domain</a:t>
            </a:r>
            <a:br/>
            <a:r>
              <a:t>Downloads: 1,388</a:t>
            </a:r>
            <a:br/>
            <a:br/>
            <a:r>
              <a:t>DOWNLOAD</a:t>
            </a:r>
            <a:br/>
            <a:r>
              <a:t>File: retail_customer_segmentation.csv</a:t>
            </a:r>
            <a:br/>
            <a:r>
              <a:t>Size: 7.8 MB • Rows: 50,001 (header + 50k)</a:t>
            </a:r>
            <a:br/>
            <a:r>
              <a:t>Cols: 14 • Format: CSV UTF-8</a:t>
            </a:r>
            <a:br/>
            <a:br/>
            <a:r>
              <a:t>TARGET</a:t>
            </a:r>
            <a:br/>
            <a:r>
              <a:t>customer_segment: 4 classes</a:t>
            </a:r>
            <a:br/>
            <a:r>
              <a:t>Occasional 44% (22,109) • Regular 27% (13,455)</a:t>
            </a:r>
            <a:br/>
            <a:r>
              <a:t>Loyal 18% (9,163) • High_Value 11% (5,273)</a:t>
            </a:r>
            <a:br/>
            <a:r>
              <a:t>Imbalanced but realistic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1">
                <a:solidFill>
                  <a:srgbClr val="8A7D6E"/>
                </a:solidFill>
                <a:latin typeface="Inter"/>
              </a:defRPr>
            </a:pPr>
            <a:r>
              <a:t>CLASS DISTRIBUTION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0F0F0F"/>
                </a:solidFill>
                <a:latin typeface="Inter"/>
              </a:defRPr>
            </a:pPr>
            <a:r>
              <a:t>Occasional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4434840"/>
            <a:ext cx="1828800" cy="164592"/>
          </a:xfrm>
          <a:prstGeom prst="round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28800" y="4434840"/>
            <a:ext cx="1609344" cy="164592"/>
          </a:xfrm>
          <a:prstGeom prst="roundRect">
            <a:avLst/>
          </a:prstGeom>
          <a:solidFill>
            <a:srgbClr val="8A7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4297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1">
                <a:solidFill>
                  <a:srgbClr val="0F0F0F"/>
                </a:solidFill>
                <a:latin typeface="Inter"/>
              </a:defRPr>
            </a:pPr>
            <a:r>
              <a:t>44%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0F0F0F"/>
                </a:solidFill>
                <a:latin typeface="Inter"/>
              </a:defRPr>
            </a:pPr>
            <a:r>
              <a:t>Regular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4892040"/>
            <a:ext cx="1828800" cy="164592"/>
          </a:xfrm>
          <a:prstGeom prst="round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828800" y="4892040"/>
            <a:ext cx="987552" cy="164592"/>
          </a:xfrm>
          <a:prstGeom prst="roundRect">
            <a:avLst/>
          </a:prstGeom>
          <a:solidFill>
            <a:srgbClr val="6B8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0" y="47548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1">
                <a:solidFill>
                  <a:srgbClr val="0F0F0F"/>
                </a:solidFill>
                <a:latin typeface="Inter"/>
              </a:defRPr>
            </a:pPr>
            <a:r>
              <a:t>27%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12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0F0F0F"/>
                </a:solidFill>
                <a:latin typeface="Inter"/>
              </a:defRPr>
            </a:pPr>
            <a:r>
              <a:t>Loyal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5349240"/>
            <a:ext cx="1828800" cy="164592"/>
          </a:xfrm>
          <a:prstGeom prst="round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828800" y="5349240"/>
            <a:ext cx="658368" cy="164592"/>
          </a:xfrm>
          <a:prstGeom prst="roundRect">
            <a:avLst/>
          </a:prstGeom>
          <a:solidFill>
            <a:srgbClr val="5B7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0" y="52120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1">
                <a:solidFill>
                  <a:srgbClr val="0F0F0F"/>
                </a:solidFill>
                <a:latin typeface="Inter"/>
              </a:defRPr>
            </a:pPr>
            <a:r>
              <a:t>18%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69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0F0F0F"/>
                </a:solidFill>
                <a:latin typeface="Inter"/>
              </a:defRPr>
            </a:pPr>
            <a:r>
              <a:t>High_Value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5806440"/>
            <a:ext cx="1828800" cy="164592"/>
          </a:xfrm>
          <a:prstGeom prst="round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828800" y="5806440"/>
            <a:ext cx="402336" cy="164592"/>
          </a:xfrm>
          <a:prstGeom prst="round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0" y="56692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1">
                <a:solidFill>
                  <a:srgbClr val="0F0F0F"/>
                </a:solidFill>
                <a:latin typeface="Inter"/>
              </a:defRPr>
            </a:pPr>
            <a:r>
              <a:t>11%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4389120" y="1920240"/>
          <a:ext cx="57607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731520"/>
                <a:gridCol w="640080"/>
                <a:gridCol w="2743200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Column</a:t>
                      </a:r>
                    </a:p>
                  </a:txBody>
                  <a:tcPr anchor="t"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Type</a:t>
                      </a:r>
                    </a:p>
                  </a:txBody>
                  <a:tcPr anchor="t"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Missing</a:t>
                      </a:r>
                    </a:p>
                  </a:txBody>
                  <a:tcPr anchor="t"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Range / Note</a:t>
                      </a:r>
                    </a:p>
                  </a:txBody>
                  <a:tcPr anchor="t">
                    <a:solidFill>
                      <a:srgbClr val="0F0F0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customer_id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int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ID, dropped, 50k unique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age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int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0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18-70, normal 35-50 peak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annual_income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float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3,075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15k-150k, right-skewed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months_active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int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0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1-72 mo tenure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avg_monthly_spend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float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2,520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20-800, 320 mean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purchase_frequency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float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1,979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0.1-10/mo, 3.2 mean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avg_order_value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float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20-500, AOV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discount_usage_rate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float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2,549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0-1, 0.22 mean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return_rate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float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2,487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0-1, 0.15 mean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browsing_time_minutes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float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3,934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5-200 min, max missing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support_interactions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float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1,988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0-15, 1.8 mean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payment_method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object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0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Card 40% Wallet 35% UPI 25%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region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object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Urban 50% Semi 30% Rural 20%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customer_segment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object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0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Target 4 classes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750" b="0">
                <a:solidFill>
                  <a:srgbClr val="A89F90"/>
                </a:solidFill>
                <a:latin typeface="Inter"/>
              </a:defRPr>
            </a:pPr>
            <a:r>
              <a:t>RETAIL OPS • KAGGLE 50K REAL • LENS v3.0 • 04/17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263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2200" b="1">
                <a:solidFill>
                  <a:srgbClr val="D1C7B8"/>
                </a:solidFill>
                <a:latin typeface="Inter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50" b="1">
                <a:solidFill>
                  <a:srgbClr val="8A7D6E"/>
                </a:solidFill>
                <a:latin typeface="Inter"/>
              </a:defRPr>
            </a:pPr>
            <a:r>
              <a:t>STAGE 03  •  DATA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400" b="1">
                <a:solidFill>
                  <a:srgbClr val="0F0F0F"/>
                </a:solidFill>
                <a:latin typeface="Inter"/>
              </a:defRPr>
            </a:pPr>
            <a:r>
              <a:t>50k records, 12 features, real gaps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2700"/>
          </a:xfrm>
          <a:prstGeom prst="rect">
            <a:avLst/>
          </a:prstGeom>
          <a:solidFill>
            <a:srgbClr val="E8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554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2800" b="1">
                <a:solidFill>
                  <a:srgbClr val="0F0F0F"/>
                </a:solidFill>
                <a:latin typeface="Inter"/>
              </a:defRPr>
            </a:pPr>
            <a:r>
              <a:t>50,000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800" b="1">
                <a:solidFill>
                  <a:srgbClr val="8A7D6E"/>
                </a:solidFill>
                <a:latin typeface="Inter"/>
              </a:defRPr>
            </a:pPr>
            <a:r>
              <a:t>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700" b="0">
                <a:solidFill>
                  <a:srgbClr val="A89F90"/>
                </a:solidFill>
                <a:latin typeface="Inter"/>
              </a:defRPr>
            </a:pPr>
            <a:r>
              <a:t>Kaggle real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1920240"/>
            <a:ext cx="1554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20116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2800" b="1">
                <a:solidFill>
                  <a:srgbClr val="0F0F0F"/>
                </a:solidFill>
                <a:latin typeface="Inter"/>
              </a:defRPr>
            </a:pPr>
            <a: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51460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800" b="1">
                <a:solidFill>
                  <a:srgbClr val="8A7D6E"/>
                </a:solidFill>
                <a:latin typeface="Inter"/>
              </a:defRPr>
            </a:pPr>
            <a:r>
              <a:t>USABLE COLS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69748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700" b="0">
                <a:solidFill>
                  <a:srgbClr val="A89F90"/>
                </a:solidFill>
                <a:latin typeface="Inter"/>
              </a:defRPr>
            </a:pPr>
            <a:r>
              <a:t>12 feat + target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920240"/>
            <a:ext cx="1554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20116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2800" b="1">
                <a:solidFill>
                  <a:srgbClr val="0F0F0F"/>
                </a:solidFill>
                <a:latin typeface="Inter"/>
              </a:defRPr>
            </a:pPr>
            <a:r>
              <a:t>3,934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51460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800" b="1">
                <a:solidFill>
                  <a:srgbClr val="8A7D6E"/>
                </a:solidFill>
                <a:latin typeface="Inter"/>
              </a:defRPr>
            </a:pPr>
            <a:r>
              <a:t>MAX MISSING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69748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700" b="0">
                <a:solidFill>
                  <a:srgbClr val="A89F90"/>
                </a:solidFill>
                <a:latin typeface="Inter"/>
              </a:defRPr>
            </a:pPr>
            <a:r>
              <a:t>browsing_time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1920240"/>
            <a:ext cx="1554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0116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2800" b="1">
                <a:solidFill>
                  <a:srgbClr val="0F0F0F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51460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800" b="1">
                <a:solidFill>
                  <a:srgbClr val="8A7D6E"/>
                </a:solidFill>
                <a:latin typeface="Inter"/>
              </a:defRPr>
            </a:pPr>
            <a:r>
              <a:t>CLASSES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69748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700" b="0">
                <a:solidFill>
                  <a:srgbClr val="A89F90"/>
                </a:solidFill>
                <a:latin typeface="Inter"/>
              </a:defRPr>
            </a:pPr>
            <a:r>
              <a:t>44/27/18/11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1920240"/>
            <a:ext cx="1554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0" y="20116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2800" b="1">
                <a:solidFill>
                  <a:srgbClr val="0F0F0F"/>
                </a:solidFill>
                <a:latin typeface="Inter"/>
              </a:defRPr>
            </a:pPr>
            <a:r>
              <a:t>7.8 MB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251460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800" b="1">
                <a:solidFill>
                  <a:srgbClr val="8A7D6E"/>
                </a:solidFill>
                <a:latin typeface="Inter"/>
              </a:defRPr>
            </a:pPr>
            <a:r>
              <a:t>CSV SIZE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269748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700" b="0">
                <a:solidFill>
                  <a:srgbClr val="A89F90"/>
                </a:solidFill>
                <a:latin typeface="Inter"/>
              </a:defRPr>
            </a:pPr>
            <a:r>
              <a:t>7.4M in artifacts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8320" y="1920240"/>
            <a:ext cx="1554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20116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2800" b="1">
                <a:solidFill>
                  <a:srgbClr val="0F0F0F"/>
                </a:solidFill>
                <a:latin typeface="Inter"/>
              </a:defRPr>
            </a:pPr>
            <a: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251460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800" b="1">
                <a:solidFill>
                  <a:srgbClr val="8A7D6E"/>
                </a:solidFill>
                <a:latin typeface="Inter"/>
              </a:defRPr>
            </a:pPr>
            <a:r>
              <a:t>DUPLICATES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269748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700" b="0">
                <a:solidFill>
                  <a:srgbClr val="A89F90"/>
                </a:solidFill>
                <a:latin typeface="Inter"/>
              </a:defRPr>
            </a:pPr>
            <a:r>
              <a:t>clean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731520" y="3200400"/>
          <a:ext cx="61264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731520"/>
                <a:gridCol w="822960"/>
                <a:gridCol w="640080"/>
                <a:gridCol w="2560320"/>
              </a:tblGrid>
              <a:tr h="282632"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Feature</a:t>
                      </a:r>
                    </a:p>
                  </a:txBody>
                  <a:tcPr anchor="t"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Mean</a:t>
                      </a:r>
                    </a:p>
                  </a:txBody>
                  <a:tcPr anchor="t"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Min-Max</a:t>
                      </a:r>
                    </a:p>
                  </a:txBody>
                  <a:tcPr anchor="t"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Missing</a:t>
                      </a:r>
                    </a:p>
                  </a:txBody>
                  <a:tcPr anchor="t"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Signal</a:t>
                      </a:r>
                    </a:p>
                  </a:txBody>
                  <a:tcPr anchor="t">
                    <a:solidFill>
                      <a:srgbClr val="0F0F0F"/>
                    </a:solidFill>
                  </a:tcPr>
                </a:tc>
              </a:tr>
              <a:tr h="282632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age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43.5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18-70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Loyal 45 vs Occasional 32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282632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annual_income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₹55k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15k-150k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3,075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High_Value 95k+ vs Occ 38k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</a:tr>
              <a:tr h="282632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months_active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36 mo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1-72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Loyal 60mo+ vs Occ 18mo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282632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avg_monthly_spend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₹320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20-800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2,520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High_Value 650+ vs Occ 120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</a:tr>
              <a:tr h="282632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purchase_frequency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3.2/mo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0.1-10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1,979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Loyal 4.2 vs Occ 0.8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282632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avg_order_value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₹150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20-500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0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High_Value 280 vs Occ 85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</a:tr>
              <a:tr h="282632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discount_usage_rate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0.22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0-1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2,549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Occ 0.32 vs High 0.08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282632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return_rate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0.15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0-1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2,487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Occ 0.22 vs High 0.04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</a:tr>
              <a:tr h="282632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browsing_time_minutes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65 min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5-200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3,934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Loyal 90+ vs Occ 30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2826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support_interactions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1.8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0-15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1,988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Occ 3.2 vs Loyal 0.8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8046720" y="3200400"/>
            <a:ext cx="36576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3246120"/>
            <a:ext cx="45720" cy="3017520"/>
          </a:xfrm>
          <a:prstGeom prst="rect">
            <a:avLst/>
          </a:prstGeom>
          <a:solidFill>
            <a:srgbClr val="0E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333756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900" b="0">
                <a:solidFill>
                  <a:srgbClr val="0F0F0F"/>
                </a:solidFill>
                <a:latin typeface="Inter"/>
              </a:defRPr>
            </a:pPr>
            <a:r>
              <a:t>MISSING ANALYSIS</a:t>
            </a:r>
            <a:br/>
            <a:br/>
            <a:r>
              <a:t>7 columns have real gaps — perfect for preprocessing demo:</a:t>
            </a:r>
            <a:br/>
            <a:br/>
            <a:r>
              <a:t>• browsing_time 3,934 (7.9%)</a:t>
            </a:r>
            <a:br/>
            <a:r>
              <a:t>• annual_income 3,075 (6.2%)</a:t>
            </a:r>
            <a:br/>
            <a:r>
              <a:t>• discount_usage 2,549 (5.1%)</a:t>
            </a:r>
            <a:br/>
            <a:r>
              <a:t>• avg_monthly_spend 2,520 (5.0%)</a:t>
            </a:r>
            <a:br/>
            <a:r>
              <a:t>• return_rate 2,487 (5.0%)</a:t>
            </a:r>
            <a:br/>
            <a:r>
              <a:t>• support_interactions 1,988 (4.0%)</a:t>
            </a:r>
            <a:br/>
            <a:r>
              <a:t>• purchase_frequency 1,979 (4.0%)</a:t>
            </a:r>
            <a:br/>
            <a:br/>
            <a:r>
              <a:t>Median imputation robust to outliers.</a:t>
            </a:r>
            <a:br/>
            <a:r>
              <a:t>Most_frequent for categoricals.</a:t>
            </a:r>
            <a:br/>
            <a:br/>
            <a:r>
              <a:t>TYPES</a:t>
            </a:r>
            <a:br/>
            <a:r>
              <a:t>10 numeric, 2 categorical, 1 target</a:t>
            </a:r>
            <a:br/>
            <a:r>
              <a:t>50k unique customers, 0 duplicates</a:t>
            </a:r>
            <a:br/>
            <a:r>
              <a:t>Real-world messy, not synthetic clean.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750" b="0">
                <a:solidFill>
                  <a:srgbClr val="A89F90"/>
                </a:solidFill>
                <a:latin typeface="Inter"/>
              </a:defRPr>
            </a:pPr>
            <a:r>
              <a:t>RETAIL OPS • KAGGLE 50K REAL • LENS v3.0 • 05/17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263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2200" b="1">
                <a:solidFill>
                  <a:srgbClr val="D1C7B8"/>
                </a:solidFill>
                <a:latin typeface="Inter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50" b="1">
                <a:solidFill>
                  <a:srgbClr val="8A7D6E"/>
                </a:solidFill>
                <a:latin typeface="Inter"/>
              </a:defRPr>
            </a:pPr>
            <a:r>
              <a:t>STAGE 04  •  DATA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400" b="1">
                <a:solidFill>
                  <a:srgbClr val="0F0F0F"/>
                </a:solidFill>
                <a:latin typeface="Inter"/>
              </a:defRPr>
            </a:pPr>
            <a:r>
              <a:t>Clean real gaps, keep signal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2700"/>
          </a:xfrm>
          <a:prstGeom prst="rect">
            <a:avLst/>
          </a:prstGeom>
          <a:solidFill>
            <a:srgbClr val="E8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377440" cy="109728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FF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45720" cy="1005839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192024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900" b="0">
                <a:solidFill>
                  <a:srgbClr val="0F0F0F"/>
                </a:solidFill>
                <a:latin typeface="Inter"/>
              </a:defRPr>
            </a:pPr>
            <a:r>
              <a:t>BEFORE</a:t>
            </a:r>
            <a:br/>
            <a:r>
              <a:t>50,000 rows, 13 cols</a:t>
            </a:r>
            <a:br/>
            <a:r>
              <a:t>7 cols missing 1,979-3,934</a:t>
            </a:r>
            <a:br/>
            <a:r>
              <a:t>10 num + 2 cat + target</a:t>
            </a:r>
            <a:br/>
            <a:r>
              <a:t>7.8 MB 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800" b="1">
                <a:solidFill>
                  <a:srgbClr val="6B21A8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920240"/>
            <a:ext cx="2377440" cy="1097280"/>
          </a:xfrm>
          <a:prstGeom prst="roundRect">
            <a:avLst/>
          </a:prstGeom>
          <a:solidFill>
            <a:srgbClr val="F0FFF0"/>
          </a:solidFill>
          <a:ln w="12700">
            <a:solidFill>
              <a:srgbClr val="CC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0" y="1965960"/>
            <a:ext cx="45720" cy="1005839"/>
          </a:xfrm>
          <a:prstGeom prst="rect">
            <a:avLst/>
          </a:prstGeom>
          <a:solidFill>
            <a:srgbClr val="0E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9080" y="2057400"/>
            <a:ext cx="192024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900" b="0">
                <a:solidFill>
                  <a:srgbClr val="0F0F0F"/>
                </a:solidFill>
                <a:latin typeface="Inter"/>
              </a:defRPr>
            </a:pPr>
            <a:r>
              <a:t>AFTER</a:t>
            </a:r>
            <a:br/>
            <a:r>
              <a:t>50,000 rows, 16 cols transformed</a:t>
            </a:r>
            <a:br/>
            <a:r>
              <a:t>0 missing, median + OneHot</a:t>
            </a:r>
            <a:br/>
            <a:r>
              <a:t>10 scaled + 6 one-hot</a:t>
            </a:r>
            <a:br/>
            <a:r>
              <a:t>Ready for LogReg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91840"/>
            <a:ext cx="3291840" cy="3017520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337560"/>
            <a:ext cx="45720" cy="2926079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42900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900" b="0">
                <a:solidFill>
                  <a:srgbClr val="0F0F0F"/>
                </a:solidFill>
                <a:latin typeface="Inter"/>
              </a:defRPr>
            </a:pPr>
            <a:r>
              <a:t>MISSING</a:t>
            </a:r>
            <a:br/>
            <a:r>
              <a:t>Median imputation for 10 numeric (robust to outliers), most_frequent for 2 categoricals. Same imputer saved in Feature Store v3.0 and reused in serving — prevents training-serving skew.</a:t>
            </a:r>
            <a:br/>
            <a:br/>
            <a:r>
              <a:t>DUPLICATES</a:t>
            </a:r>
            <a:br/>
            <a:r>
              <a:t>0 duplicates in 50k — Kaggle data clean.</a:t>
            </a:r>
            <a:br/>
            <a:br/>
            <a:r>
              <a:t>OUTLIERS</a:t>
            </a:r>
            <a:br/>
            <a:r>
              <a:t>Clipped via IQR but kept: high income ₹150k and high spend ₹800 are valid High_Value signals. IsolationForest flagged 5% anomalies for monitoring.</a:t>
            </a:r>
            <a:br/>
            <a:br/>
            <a:r>
              <a:t>CATEGORICAL</a:t>
            </a:r>
            <a:br/>
            <a:r>
              <a:t>One-hot: payment_method 3 cats, region 3 cats → 6 binary cols. Total 16 features after transform.</a:t>
            </a:r>
            <a:br/>
            <a:br/>
            <a:r>
              <a:t>NUMERICAL</a:t>
            </a:r>
            <a:br/>
            <a:r>
              <a:t>StandardScaler: mean=0, std=1 for 10 numeric. Same scaler reused in Flask API.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291840"/>
            <a:ext cx="329184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3337560"/>
            <a:ext cx="45720" cy="2926079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42900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900" b="0">
                <a:solidFill>
                  <a:srgbClr val="0F0F0F"/>
                </a:solidFill>
                <a:latin typeface="Inter"/>
              </a:defRPr>
            </a:pPr>
            <a:r>
              <a:t>TRANSFORMATIONS</a:t>
            </a:r>
            <a:br/>
            <a:r>
              <a:t>numeric: median_imputation → standard_scaling</a:t>
            </a:r>
            <a:br/>
            <a:r>
              <a:t>categorical: most_frequent → one_hot_encoding</a:t>
            </a:r>
            <a:br/>
            <a:br/>
            <a:r>
              <a:t>PIPELINE</a:t>
            </a:r>
            <a:br/>
            <a:r>
              <a:t>INPUT (12 raw) → Imputer → OneHot + Scaler → OUTPUT (16-dim) → LogReg</a:t>
            </a:r>
            <a:br/>
            <a:r>
              <a:t>Saved: preprocessor.pkl 4.4K, feature_store.pkl 1.2K</a:t>
            </a:r>
            <a:br/>
            <a:br/>
            <a:r>
              <a:t>SKEW PREVENTION (Feature Store v3.0)</a:t>
            </a:r>
            <a:br/>
            <a:r>
              <a:t>• Same imputer stats train &amp; serve</a:t>
            </a:r>
            <a:br/>
            <a:r>
              <a:t>• Same scaler mean/std reused</a:t>
            </a:r>
            <a:br/>
            <a:r>
              <a:t>• Same one-hot categories reused</a:t>
            </a:r>
            <a:br/>
            <a:r>
              <a:t>• Feature order enforced via ColumnTransformer</a:t>
            </a:r>
            <a:br/>
            <a:r>
              <a:t>• Input validation at inference</a:t>
            </a:r>
            <a:br/>
            <a:r>
              <a:t>• customer_id ignored</a:t>
            </a:r>
            <a:br/>
            <a:br/>
            <a:r>
              <a:t>WHY MEDIAN NOT MEAN?</a:t>
            </a:r>
            <a:br/>
            <a:r>
              <a:t>Right-skewed income, spend — median robust. 3,934 missing browsing_time — median preserves distribution.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920240"/>
            <a:ext cx="3383280" cy="4389120"/>
          </a:xfrm>
          <a:prstGeom prst="roundRect">
            <a:avLst/>
          </a:prstGeom>
          <a:solidFill>
            <a:srgbClr val="0F0F0F"/>
          </a:solidFill>
          <a:ln w="12700"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0574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900" b="0">
                <a:solidFill>
                  <a:srgbClr val="FFFFFF"/>
                </a:solidFill>
                <a:latin typeface="Inter"/>
              </a:defRPr>
            </a:pPr>
            <a:r>
              <a:t>JINJA FIX • CRITICAL</a:t>
            </a:r>
            <a:br/>
            <a:br/>
            <a:r>
              <a:t>Fixed TemplateSyntaxError:</a:t>
            </a:r>
            <a:br/>
            <a:r>
              <a:t>`expected token 'end of print statement', got ':'`</a:t>
            </a:r>
            <a:br/>
            <a:r>
              <a:t>At index.html line 335 — JS `${{Occasional:'#8a7d6e',...}}` parsed as Jinja {{}}.</a:t>
            </a:r>
            <a:br/>
            <a:br/>
            <a:r>
              <a:t>Solution:</a:t>
            </a:r>
            <a:br/>
            <a:r>
              <a:t>{% raw %}...{% endraw %} wraps entire &lt;script&gt; block so Jinja doesn't parse JS object literals.</a:t>
            </a:r>
            <a:br/>
            <a:br/>
            <a:r>
              <a:t>Verified:</a:t>
            </a:r>
            <a:br/>
            <a:r>
              <a:t>curl http://127.0.0.1:5000/ → 200</a:t>
            </a:r>
            <a:br/>
            <a:r>
              <a:t>curl /api/metrics → test_accuracy 0.6648 ROC-AUC 0.868</a:t>
            </a:r>
            <a:br/>
            <a:br/>
            <a:r>
              <a:t>FLASK</a:t>
            </a:r>
            <a:br/>
            <a:r>
              <a:t>venv creation: python -m venv venv</a:t>
            </a:r>
            <a:br/>
            <a:r>
              <a:t>Bypass: .\venv\Scripts\python.exe app.py</a:t>
            </a:r>
            <a:br/>
            <a:r>
              <a:t>Bind: 0.0.0.0:5000 not 127.0.0.1 for preview</a:t>
            </a:r>
            <a:br/>
            <a:r>
              <a:t>Lens v3.0 authentic tool, generic Retail Ops branding, not personal.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750" b="0">
                <a:solidFill>
                  <a:srgbClr val="A89F90"/>
                </a:solidFill>
                <a:latin typeface="Inter"/>
              </a:defRPr>
            </a:pPr>
            <a:r>
              <a:t>RETAIL OPS • KAGGLE 50K REAL • LENS v3.0 • 06/17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263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2200" b="1">
                <a:solidFill>
                  <a:srgbClr val="D1C7B8"/>
                </a:solidFill>
                <a:latin typeface="Inter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50" b="1">
                <a:solidFill>
                  <a:srgbClr val="8A7D6E"/>
                </a:solidFill>
                <a:latin typeface="Inter"/>
              </a:defRPr>
            </a:pPr>
            <a:r>
              <a:t>STAGE 05  •  EXPLORATORY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400" b="1">
                <a:solidFill>
                  <a:srgbClr val="0F0F0F"/>
                </a:solidFill>
                <a:latin typeface="Inter"/>
              </a:defRPr>
            </a:pPr>
            <a:r>
              <a:t>What 50k real customers look like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2700"/>
          </a:xfrm>
          <a:prstGeom prst="rect">
            <a:avLst/>
          </a:prstGeom>
          <a:solidFill>
            <a:srgbClr val="E8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9144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6400800"/>
              </a:tblGrid>
              <a:tr h="342900"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Plot</a:t>
                      </a:r>
                    </a:p>
                  </a:txBody>
                  <a:tcPr anchor="t"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What it shows</a:t>
                      </a:r>
                    </a:p>
                  </a:txBody>
                  <a:tcPr anchor="t"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Key finding from 50k real</a:t>
                      </a:r>
                    </a:p>
                  </a:txBody>
                  <a:tcPr anchor="t">
                    <a:solidFill>
                      <a:srgbClr val="0F0F0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Histogram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Numeric distribution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Age normal 35-50 peak, Income right-skewed 55k mean, Spend 320 mean right-skewed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Bar Categorical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Count per category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Payment: Card 40% Wallet 35% UPI 25%, Region: Urban 50% Semi 30% Rural 20%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Bar Target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Class balance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Occasional 44% (22k) biggest, High_Value 11% (5k) smallest — imbalanced realistic, stratified needed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Box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Outliers per feature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High income &gt;120k = High_Value, High return &gt;0.4 = Occasional, Low browsing &lt;20 = Occasional churn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Scatter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Relationship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Income vs Spend r=0.52, Tenure vs Freq r=0.45, Browsing vs Spend r=0.41 — moderate correlations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Heatmap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Correlation matrix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Strongest: spend↔freq 0.48, income↔AOV 0.44, tenure↔freq 0.45, discount↔return 0.32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Count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Target balance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Stratified split preserves 44/27/18/11 ratio in train/val/test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846320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4892040"/>
            <a:ext cx="45720" cy="13716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98348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900" b="0">
                <a:solidFill>
                  <a:srgbClr val="0F0F0F"/>
                </a:solidFill>
                <a:latin typeface="Inter"/>
              </a:defRPr>
            </a:pPr>
            <a:r>
              <a:t>KEY INSIGHTS</a:t>
            </a:r>
            <a:br/>
            <a:r>
              <a:t>• Income strongly predicts High_Value (₹95k+)</a:t>
            </a:r>
            <a:br/>
            <a:r>
              <a:t>• Tenure + Frequency = Loyal (60mo+ 4.2/mo)</a:t>
            </a:r>
            <a:br/>
            <a:r>
              <a:t>• Discount + Return + Support = Occasional churn signal</a:t>
            </a:r>
            <a:br/>
            <a:r>
              <a:t>• Browsing time separates Loyal 90+ min vs Occasional 30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846320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4892040"/>
            <a:ext cx="45720" cy="1371600"/>
          </a:xfrm>
          <a:prstGeom prst="rect">
            <a:avLst/>
          </a:prstGeom>
          <a:solidFill>
            <a:srgbClr val="0E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498348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900" b="0">
                <a:solidFill>
                  <a:srgbClr val="0F0F0F"/>
                </a:solidFill>
                <a:latin typeface="Inter"/>
              </a:defRPr>
            </a:pPr>
            <a:r>
              <a:t>CORRELATIONS</a:t>
            </a:r>
            <a:br/>
            <a:r>
              <a:t>• spend ↔ freq 0.48 — frequent shoppers spend more monthly</a:t>
            </a:r>
            <a:br/>
            <a:r>
              <a:t>• income ↔ AOV 0.44 — richer buy bigger baskets</a:t>
            </a:r>
            <a:br/>
            <a:r>
              <a:t>• tenure ↔ freq 0.45 — longer stay, shop more</a:t>
            </a:r>
            <a:br/>
            <a:r>
              <a:t>• All correlations &lt;0.6 — no multicollinearity issue for LogReg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846320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4892040"/>
            <a:ext cx="45720" cy="13716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498348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900" b="0">
                <a:solidFill>
                  <a:srgbClr val="0F0F0F"/>
                </a:solidFill>
                <a:latin typeface="Inter"/>
              </a:defRPr>
            </a:pPr>
            <a:r>
              <a:t>BUSINESS</a:t>
            </a:r>
            <a:br/>
            <a:r>
              <a:t>• Occasional 44% — win-back campaigns, discount sensitivity 0.32</a:t>
            </a:r>
            <a:br/>
            <a:r>
              <a:t>• Regular 27% — nurture to Loyal, hardest middle</a:t>
            </a:r>
            <a:br/>
            <a:r>
              <a:t>• Loyal 18% — early access, retention, low support 0.8</a:t>
            </a:r>
            <a:br/>
            <a:r>
              <a:t>• High_Value 11% — VIP concierge, high income 95k+, low discount 0.08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750" b="0">
                <a:solidFill>
                  <a:srgbClr val="A89F90"/>
                </a:solidFill>
                <a:latin typeface="Inter"/>
              </a:defRPr>
            </a:pPr>
            <a:r>
              <a:t>RETAIL OPS • KAGGLE 50K REAL • LENS v3.0 • 07/17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263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2200" b="1">
                <a:solidFill>
                  <a:srgbClr val="D1C7B8"/>
                </a:solidFill>
                <a:latin typeface="Inter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50" b="1">
                <a:solidFill>
                  <a:srgbClr val="8A7D6E"/>
                </a:solidFill>
                <a:latin typeface="Inter"/>
              </a:defRPr>
            </a:pPr>
            <a:r>
              <a:t>STAGE 06  •  FEATURE SELECTION &amp;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400" b="1">
                <a:solidFill>
                  <a:srgbClr val="0F0F0F"/>
                </a:solidFill>
                <a:latin typeface="Inter"/>
              </a:defRPr>
            </a:pPr>
            <a:r>
              <a:t>12 → 16 features, keep all signal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2700"/>
          </a:xfrm>
          <a:prstGeom prst="rect">
            <a:avLst/>
          </a:prstGeom>
          <a:solidFill>
            <a:srgbClr val="E8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4572000" cy="4389120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45720" cy="429768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900" b="0">
                <a:solidFill>
                  <a:srgbClr val="0F0F0F"/>
                </a:solidFill>
                <a:latin typeface="Inter"/>
              </a:defRPr>
            </a:pPr>
            <a:r>
              <a:t>WHICH USED (12 → 16) — ALL 12 HAVE SIGNAL</a:t>
            </a:r>
            <a:br/>
            <a:br/>
            <a:r>
              <a:t>• age: Loyal 45 avg vs Occasional 32 avg — tenure proxy</a:t>
            </a:r>
            <a:br/>
            <a:r>
              <a:t>• annual_income: High_Value ₹95k+ vs Occasional ₹38k — strongest VIP predictor</a:t>
            </a:r>
            <a:br/>
            <a:r>
              <a:t>• months_active: Loyal 60mo+ vs Occasional 18mo — loyalty signal</a:t>
            </a:r>
            <a:br/>
            <a:r>
              <a:t>• avg_monthly_spend: High_Value ₹650+ vs Occasional ₹120 — spend power</a:t>
            </a:r>
            <a:br/>
            <a:r>
              <a:t>• purchase_frequency: Loyal 4.2/mo vs Occasional 0.8/mo — engagement</a:t>
            </a:r>
            <a:br/>
            <a:r>
              <a:t>• avg_order_value: High_Value ₹280 vs Occasional ₹85 — basket size</a:t>
            </a:r>
            <a:br/>
            <a:r>
              <a:t>• discount_usage_rate: Occasional 0.32 vs High_Value 0.08 — strong negative VIP</a:t>
            </a:r>
            <a:br/>
            <a:r>
              <a:t>• return_rate: Occasional 0.22 vs High_Value 0.04 — dissatisfaction</a:t>
            </a:r>
            <a:br/>
            <a:r>
              <a:t>• browsing_time: Loyal 90+ min vs Occasional 30 min — engagement depth</a:t>
            </a:r>
            <a:br/>
            <a:r>
              <a:t>• support_interactions: Occasional 3.2 vs Loyal 0.8 — churn signal</a:t>
            </a:r>
            <a:br/>
            <a:r>
              <a:t>• payment_method: Card 60% High_Value, Wallet 45% Occasional — behavior</a:t>
            </a:r>
            <a:br/>
            <a:r>
              <a:t>• region: Urban 70% High_Value, Rural 40% Occasional — demographics</a:t>
            </a:r>
            <a:br/>
            <a:br/>
            <a:r>
              <a:t>WHICH REMOVED</a:t>
            </a:r>
            <a:br/>
            <a:r>
              <a:t>customer_id removed — not predictive, just ID. No other removal — all 12 useful.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1">
                <a:solidFill>
                  <a:srgbClr val="8A7D6E"/>
                </a:solidFill>
                <a:latin typeface="Inter"/>
              </a:defRPr>
            </a:pPr>
            <a:r>
              <a:t>RANDOM FOREST IMPORTANCE • 50K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2860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0">
                <a:solidFill>
                  <a:srgbClr val="4A4238"/>
                </a:solidFill>
                <a:latin typeface="Inter"/>
              </a:defRPr>
            </a:pPr>
            <a:r>
              <a:t>avg_monthly_spend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423160"/>
            <a:ext cx="2011680" cy="164592"/>
          </a:xfrm>
          <a:prstGeom prst="round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0" y="2423160"/>
            <a:ext cx="1810512" cy="164592"/>
          </a:xfrm>
          <a:prstGeom prst="round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0" y="22860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1">
                <a:solidFill>
                  <a:srgbClr val="0F0F0F"/>
                </a:solidFill>
                <a:latin typeface="Inter"/>
              </a:defRPr>
            </a:pPr>
            <a:r>
              <a:t>0.18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615184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0">
                <a:solidFill>
                  <a:srgbClr val="4A4238"/>
                </a:solidFill>
                <a:latin typeface="Inter"/>
              </a:defRPr>
            </a:pPr>
            <a:r>
              <a:t>purchase_frequency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2752344"/>
            <a:ext cx="2011680" cy="164592"/>
          </a:xfrm>
          <a:prstGeom prst="round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0" y="2752344"/>
            <a:ext cx="1508760" cy="164592"/>
          </a:xfrm>
          <a:prstGeom prst="roundRect">
            <a:avLst/>
          </a:prstGeom>
          <a:solidFill>
            <a:srgbClr val="1A1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261518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1">
                <a:solidFill>
                  <a:srgbClr val="0F0F0F"/>
                </a:solidFill>
                <a:latin typeface="Inter"/>
              </a:defRPr>
            </a:pPr>
            <a:r>
              <a:t>0.15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94436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0">
                <a:solidFill>
                  <a:srgbClr val="4A4238"/>
                </a:solidFill>
                <a:latin typeface="Inter"/>
              </a:defRPr>
            </a:pPr>
            <a:r>
              <a:t>annual_income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3081527"/>
            <a:ext cx="2011680" cy="164592"/>
          </a:xfrm>
          <a:prstGeom prst="round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0" y="3081527"/>
            <a:ext cx="1408176" cy="164592"/>
          </a:xfrm>
          <a:prstGeom prst="round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294436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1">
                <a:solidFill>
                  <a:srgbClr val="0F0F0F"/>
                </a:solidFill>
                <a:latin typeface="Inter"/>
              </a:defRPr>
            </a:pPr>
            <a:r>
              <a:t>0.14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327355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0">
                <a:solidFill>
                  <a:srgbClr val="4A4238"/>
                </a:solidFill>
                <a:latin typeface="Inter"/>
              </a:defRPr>
            </a:pPr>
            <a:r>
              <a:t>months_active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3410712"/>
            <a:ext cx="2011680" cy="164592"/>
          </a:xfrm>
          <a:prstGeom prst="round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0" y="3410712"/>
            <a:ext cx="1207008" cy="164592"/>
          </a:xfrm>
          <a:prstGeom prst="roundRect">
            <a:avLst/>
          </a:prstGeom>
          <a:solidFill>
            <a:srgbClr val="4A4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32735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1">
                <a:solidFill>
                  <a:srgbClr val="0F0F0F"/>
                </a:solidFill>
                <a:latin typeface="Inter"/>
              </a:defRPr>
            </a:pPr>
            <a:r>
              <a:t>0.12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60273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0">
                <a:solidFill>
                  <a:srgbClr val="4A4238"/>
                </a:solidFill>
                <a:latin typeface="Inter"/>
              </a:defRPr>
            </a:pPr>
            <a:r>
              <a:t>avg_order_value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3739896"/>
            <a:ext cx="2011680" cy="164592"/>
          </a:xfrm>
          <a:prstGeom prst="round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0" y="3739896"/>
            <a:ext cx="1106424" cy="164592"/>
          </a:xfrm>
          <a:prstGeom prst="roundRect">
            <a:avLst/>
          </a:prstGeom>
          <a:solidFill>
            <a:srgbClr val="4A4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3602736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1">
                <a:solidFill>
                  <a:srgbClr val="0F0F0F"/>
                </a:solidFill>
                <a:latin typeface="Inter"/>
              </a:defRPr>
            </a:pPr>
            <a:r>
              <a:t>0.11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39319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0">
                <a:solidFill>
                  <a:srgbClr val="4A4238"/>
                </a:solidFill>
                <a:latin typeface="Inter"/>
              </a:defRPr>
            </a:pPr>
            <a:r>
              <a:t>browsing_time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0" y="4069080"/>
            <a:ext cx="2011680" cy="164592"/>
          </a:xfrm>
          <a:prstGeom prst="round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0" y="4069080"/>
            <a:ext cx="905256" cy="164592"/>
          </a:xfrm>
          <a:prstGeom prst="roundRect">
            <a:avLst/>
          </a:prstGeom>
          <a:solidFill>
            <a:srgbClr val="8A7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0" y="39319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1">
                <a:solidFill>
                  <a:srgbClr val="0F0F0F"/>
                </a:solidFill>
                <a:latin typeface="Inter"/>
              </a:defRPr>
            </a:pPr>
            <a:r>
              <a:t>0.09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4261104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0">
                <a:solidFill>
                  <a:srgbClr val="4A4238"/>
                </a:solidFill>
                <a:latin typeface="Inter"/>
              </a:defRPr>
            </a:pPr>
            <a:r>
              <a:t>discount_usage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0" y="4398264"/>
            <a:ext cx="2011680" cy="164592"/>
          </a:xfrm>
          <a:prstGeom prst="round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15200" y="4398264"/>
            <a:ext cx="704088" cy="164592"/>
          </a:xfrm>
          <a:prstGeom prst="roundRect">
            <a:avLst/>
          </a:prstGeom>
          <a:solidFill>
            <a:srgbClr val="8A7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0" y="426110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1">
                <a:solidFill>
                  <a:srgbClr val="0F0F0F"/>
                </a:solidFill>
                <a:latin typeface="Inter"/>
              </a:defRPr>
            </a:pPr>
            <a:r>
              <a:t>0.07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459028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0">
                <a:solidFill>
                  <a:srgbClr val="4A4238"/>
                </a:solidFill>
                <a:latin typeface="Inter"/>
              </a:defRPr>
            </a:pPr>
            <a:r>
              <a:t>return_rate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0" y="4727448"/>
            <a:ext cx="2011680" cy="164592"/>
          </a:xfrm>
          <a:prstGeom prst="round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15200" y="4727448"/>
            <a:ext cx="603504" cy="164592"/>
          </a:xfrm>
          <a:prstGeom prst="roundRect">
            <a:avLst/>
          </a:prstGeom>
          <a:solidFill>
            <a:srgbClr val="8A7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18320" y="459028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1">
                <a:solidFill>
                  <a:srgbClr val="0F0F0F"/>
                </a:solidFill>
                <a:latin typeface="Inter"/>
              </a:defRPr>
            </a:pPr>
            <a:r>
              <a:t>0.06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491947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0">
                <a:solidFill>
                  <a:srgbClr val="4A4238"/>
                </a:solidFill>
                <a:latin typeface="Inter"/>
              </a:defRPr>
            </a:pPr>
            <a:r>
              <a:t>age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0" y="5056632"/>
            <a:ext cx="2011680" cy="164592"/>
          </a:xfrm>
          <a:prstGeom prst="round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315200" y="5056632"/>
            <a:ext cx="402336" cy="164592"/>
          </a:xfrm>
          <a:prstGeom prst="roundRect">
            <a:avLst/>
          </a:prstGeom>
          <a:solidFill>
            <a:srgbClr val="A89F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18320" y="49194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1">
                <a:solidFill>
                  <a:srgbClr val="0F0F0F"/>
                </a:solidFill>
                <a:latin typeface="Inter"/>
              </a:defRPr>
            </a:pPr>
            <a:r>
              <a:t>0.04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524865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0">
                <a:solidFill>
                  <a:srgbClr val="4A4238"/>
                </a:solidFill>
                <a:latin typeface="Inter"/>
              </a:defRPr>
            </a:pPr>
            <a:r>
              <a:t>support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0" y="5385816"/>
            <a:ext cx="2011680" cy="164592"/>
          </a:xfrm>
          <a:prstGeom prst="round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315200" y="5385816"/>
            <a:ext cx="301752" cy="164592"/>
          </a:xfrm>
          <a:prstGeom prst="roundRect">
            <a:avLst/>
          </a:prstGeom>
          <a:solidFill>
            <a:srgbClr val="A89F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18320" y="5248656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1">
                <a:solidFill>
                  <a:srgbClr val="0F0F0F"/>
                </a:solidFill>
                <a:latin typeface="Inter"/>
              </a:defRPr>
            </a:pPr>
            <a:r>
              <a:t>0.03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0" y="55778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0">
                <a:solidFill>
                  <a:srgbClr val="4A4238"/>
                </a:solidFill>
                <a:latin typeface="Inter"/>
              </a:defRPr>
            </a:pPr>
            <a:r>
              <a:t>region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15200" y="5715000"/>
            <a:ext cx="2011680" cy="164592"/>
          </a:xfrm>
          <a:prstGeom prst="round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315200" y="5715000"/>
            <a:ext cx="201168" cy="164592"/>
          </a:xfrm>
          <a:prstGeom prst="roundRect">
            <a:avLst/>
          </a:prstGeom>
          <a:solidFill>
            <a:srgbClr val="D1C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18320" y="55778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1">
                <a:solidFill>
                  <a:srgbClr val="0F0F0F"/>
                </a:solidFill>
                <a:latin typeface="Inter"/>
              </a:defRPr>
            </a:pPr>
            <a:r>
              <a:t>0.02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0" y="5907024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0">
                <a:solidFill>
                  <a:srgbClr val="4A4238"/>
                </a:solidFill>
                <a:latin typeface="Inter"/>
              </a:defRPr>
            </a:pPr>
            <a:r>
              <a:t>payment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15200" y="6044184"/>
            <a:ext cx="2011680" cy="164592"/>
          </a:xfrm>
          <a:prstGeom prst="round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315200" y="6044184"/>
            <a:ext cx="100584" cy="164592"/>
          </a:xfrm>
          <a:prstGeom prst="roundRect">
            <a:avLst/>
          </a:prstGeom>
          <a:solidFill>
            <a:srgbClr val="D1C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18320" y="590702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1">
                <a:solidFill>
                  <a:srgbClr val="0F0F0F"/>
                </a:solidFill>
                <a:latin typeface="Inter"/>
              </a:defRPr>
            </a:pPr>
            <a:r>
              <a:t>0.01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669280" y="5669280"/>
            <a:ext cx="57607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69280" y="5715000"/>
            <a:ext cx="45720" cy="640080"/>
          </a:xfrm>
          <a:prstGeom prst="rect">
            <a:avLst/>
          </a:prstGeom>
          <a:solidFill>
            <a:srgbClr val="0E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897880" y="58064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800" b="0">
                <a:solidFill>
                  <a:srgbClr val="0F0F0F"/>
                </a:solidFill>
                <a:latin typeface="Inter"/>
              </a:defRPr>
            </a:pPr>
            <a:r>
              <a:t>NEW FEATURES: 6 one-hot from 2 categoricals → payment_method_Card/UPI/Wallet (3) + region_Rural/Semi/Urban (3) = 16-dim total. Feature Store v3.0-kaggle versioned, 6 skew checks.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750" b="0">
                <a:solidFill>
                  <a:srgbClr val="A89F90"/>
                </a:solidFill>
                <a:latin typeface="Inter"/>
              </a:defRPr>
            </a:pPr>
            <a:r>
              <a:t>RETAIL OPS • KAGGLE 50K REAL • LENS v3.0 • 08/17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155680" y="6263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2200" b="1">
                <a:solidFill>
                  <a:srgbClr val="D1C7B8"/>
                </a:solidFill>
                <a:latin typeface="Inter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50" b="1">
                <a:solidFill>
                  <a:srgbClr val="8A7D6E"/>
                </a:solidFill>
                <a:latin typeface="Inter"/>
              </a:defRPr>
            </a:pPr>
            <a:r>
              <a:t>STAGE 07  •  TRAIN-TEST SPLIT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400" b="1">
                <a:solidFill>
                  <a:srgbClr val="0F0F0F"/>
                </a:solidFill>
                <a:latin typeface="Inter"/>
              </a:defRPr>
            </a:pPr>
            <a:r>
              <a:t>70% Train, 15% Val, 15% Test • Stratified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2700"/>
          </a:xfrm>
          <a:prstGeom prst="rect">
            <a:avLst/>
          </a:prstGeom>
          <a:solidFill>
            <a:srgbClr val="E8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554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2800" b="1">
                <a:solidFill>
                  <a:srgbClr val="0F0F0F"/>
                </a:solidFill>
                <a:latin typeface="Inter"/>
              </a:defRPr>
            </a:pPr>
            <a:r>
              <a:t>35,020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800" b="1">
                <a:solidFill>
                  <a:srgbClr val="8A7D6E"/>
                </a:solidFill>
                <a:latin typeface="Inter"/>
              </a:defRPr>
            </a:pPr>
            <a:r>
              <a:t>TRAIN 70%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700" b="0">
                <a:solidFill>
                  <a:srgbClr val="A89F90"/>
                </a:solidFill>
                <a:latin typeface="Inter"/>
              </a:defRPr>
            </a:pPr>
            <a:r>
              <a:t>fit 16→4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1920240"/>
            <a:ext cx="1554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20116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2800" b="1">
                <a:solidFill>
                  <a:srgbClr val="0F0F0F"/>
                </a:solidFill>
                <a:latin typeface="Inter"/>
              </a:defRPr>
            </a:pPr>
            <a:r>
              <a:t>7,480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51460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800" b="1">
                <a:solidFill>
                  <a:srgbClr val="8A7D6E"/>
                </a:solidFill>
                <a:latin typeface="Inter"/>
              </a:defRPr>
            </a:pPr>
            <a:r>
              <a:t>VAL 15%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69748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700" b="0">
                <a:solidFill>
                  <a:srgbClr val="A89F90"/>
                </a:solidFill>
                <a:latin typeface="Inter"/>
              </a:defRPr>
            </a:pPr>
            <a:r>
              <a:t>tune 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920240"/>
            <a:ext cx="1554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20116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2800" b="1">
                <a:solidFill>
                  <a:srgbClr val="0F0F0F"/>
                </a:solidFill>
                <a:latin typeface="Inter"/>
              </a:defRPr>
            </a:pPr>
            <a:r>
              <a:t>7,500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51460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800" b="1">
                <a:solidFill>
                  <a:srgbClr val="8A7D6E"/>
                </a:solidFill>
                <a:latin typeface="Inter"/>
              </a:defRPr>
            </a:pPr>
            <a:r>
              <a:t>TEST 15%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69748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700" b="0">
                <a:solidFill>
                  <a:srgbClr val="A89F90"/>
                </a:solidFill>
                <a:latin typeface="Inter"/>
              </a:defRPr>
            </a:pPr>
            <a:r>
              <a:t>holdout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1920240"/>
            <a:ext cx="1554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0116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2800" b="1">
                <a:solidFill>
                  <a:srgbClr val="0F0F0F"/>
                </a:solidFill>
                <a:latin typeface="Inter"/>
              </a:defRPr>
            </a:pPr>
            <a:r>
              <a:t>50K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51460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800" b="1">
                <a:solidFill>
                  <a:srgbClr val="8A7D6E"/>
                </a:solidFill>
                <a:latin typeface="Inter"/>
              </a:defRPr>
            </a:pPr>
            <a:r>
              <a:t>TOTAL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69748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700" b="0">
                <a:solidFill>
                  <a:srgbClr val="A89F90"/>
                </a:solidFill>
                <a:latin typeface="Inter"/>
              </a:defRPr>
            </a:pPr>
            <a:r>
              <a:t>real Kaggle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1920240"/>
            <a:ext cx="1554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0" y="20116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2800" b="1">
                <a:solidFill>
                  <a:srgbClr val="0F0F0F"/>
                </a:solidFill>
                <a:latin typeface="Inter"/>
              </a:defRPr>
            </a:pPr>
            <a:r>
              <a:t>66.6%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251460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800" b="1">
                <a:solidFill>
                  <a:srgbClr val="8A7D6E"/>
                </a:solidFill>
                <a:latin typeface="Inter"/>
              </a:defRPr>
            </a:pPr>
            <a:r>
              <a:t>CV MEAN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269748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700" b="0">
                <a:solidFill>
                  <a:srgbClr val="A89F90"/>
                </a:solidFill>
                <a:latin typeface="Inter"/>
              </a:defRPr>
            </a:pPr>
            <a:r>
              <a:t>5-fold ±0.3%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731520" y="3200400"/>
          <a:ext cx="4572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</a:tblGrid>
              <a:tr h="219456"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Set</a:t>
                      </a:r>
                    </a:p>
                  </a:txBody>
                  <a:tcPr anchor="t"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Rows</a:t>
                      </a:r>
                    </a:p>
                  </a:txBody>
                  <a:tcPr anchor="t"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Cols</a:t>
                      </a:r>
                    </a:p>
                  </a:txBody>
                  <a:tcPr anchor="t"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Share</a:t>
                      </a:r>
                    </a:p>
                  </a:txBody>
                  <a:tcPr anchor="t"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Purpose</a:t>
                      </a:r>
                    </a:p>
                  </a:txBody>
                  <a:tcPr anchor="t">
                    <a:solidFill>
                      <a:srgbClr val="0F0F0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Full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50,000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100%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Kaggle real 14 cols -1 ID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Train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35,020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12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70%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Fit 16→4 LogReg + RF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Val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7,480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15%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Tune C, penalty, depth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Test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7,500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12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15%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Final unseen, 66.4%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731520" y="4480560"/>
            <a:ext cx="4572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526280"/>
            <a:ext cx="45720" cy="173736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617720"/>
            <a:ext cx="4114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900" b="0">
                <a:solidFill>
                  <a:srgbClr val="0F0F0F"/>
                </a:solidFill>
                <a:latin typeface="Inter"/>
              </a:defRPr>
            </a:pPr>
            <a:r>
              <a:t>WHY 70/15/15 NOT 80/20</a:t>
            </a:r>
            <a:br/>
            <a:r>
              <a:t>50k large enough for 3 splits — val needed for hyperparameter search (Grid C=10 L2 best, Random RF 150 trees, Bayesian 5 trials). Stratified preserves 44% Occasional, 27% Regular, 18% Loyal, 11% High_Value in each split. No leakage: preprocessor fitted only on train 35k. CV 66.6% ±0.3% shows stable.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0" y="3200400"/>
            <a:ext cx="5760720" cy="3108960"/>
          </a:xfrm>
          <a:prstGeom prst="roundRect">
            <a:avLst/>
          </a:prstGeom>
          <a:solidFill>
            <a:srgbClr val="0F0F0F"/>
          </a:solidFill>
          <a:ln w="12700"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97880" y="3337560"/>
            <a:ext cx="5303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900" b="0">
                <a:solidFill>
                  <a:srgbClr val="FFFFFF"/>
                </a:solidFill>
                <a:latin typeface="Inter"/>
              </a:defRPr>
            </a:pPr>
            <a:r>
              <a:t>LEAKAGE PREVENTION &amp; PACKAGING</a:t>
            </a:r>
            <a:br/>
            <a:br/>
            <a:r>
              <a:t>• Preprocessor fitted only on train 35,020 — scaler mean/std, imputer median, one-hot categories all from train only</a:t>
            </a:r>
            <a:br/>
            <a:r>
              <a:t>• Test 7,500 never seen during fit</a:t>
            </a:r>
            <a:br/>
            <a:r>
              <a:t>• Training-serving skew avoided via same preprocessor.pkl in Flask API</a:t>
            </a:r>
            <a:br/>
            <a:br/>
            <a:r>
              <a:t>MODEL PACKAGING</a:t>
            </a:r>
            <a:br/>
            <a:r>
              <a:t>customers.csv 7.4M, preprocessor.pkl 4.4K, model_multinomial_logreg.pkl 1.6K, feature_store.pkl 1.2K, metrics.json 8K, unsupervised.json 194K = 7.6M total</a:t>
            </a:r>
            <a:br/>
            <a:br/>
            <a:r>
              <a:t>REST SERVING</a:t>
            </a:r>
            <a:br/>
            <a:r>
              <a:t>Flask app.py: POST /api/predict 12 raw → 16-dim → 4 probs, GET /api/customers 120 sampled, GET /api/metrics 66.4% acc, GET /api/monitoring drift PSI, GET /api/unsupervised KMeans/PCA/t-SNE, GET /debug minimal page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750" b="0">
                <a:solidFill>
                  <a:srgbClr val="A89F90"/>
                </a:solidFill>
                <a:latin typeface="Inter"/>
              </a:defRPr>
            </a:pPr>
            <a:r>
              <a:t>RETAIL OPS • KAGGLE 50K REAL • LENS v3.0 • 09/17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263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2200" b="1">
                <a:solidFill>
                  <a:srgbClr val="D1C7B8"/>
                </a:solidFill>
                <a:latin typeface="Inter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50" b="1">
                <a:solidFill>
                  <a:srgbClr val="8A7D6E"/>
                </a:solidFill>
                <a:latin typeface="Inter"/>
              </a:defRPr>
            </a:pPr>
            <a:r>
              <a:t>STAGE 08  •  MODEL BUILDING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400" b="1">
                <a:solidFill>
                  <a:srgbClr val="0F0F0F"/>
                </a:solidFill>
                <a:latin typeface="Inter"/>
              </a:defRPr>
            </a:pPr>
            <a:r>
              <a:t>Multinomial LogReg + Trees + Unsupervised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2700"/>
          </a:xfrm>
          <a:prstGeom prst="rect">
            <a:avLst/>
          </a:prstGeom>
          <a:solidFill>
            <a:srgbClr val="E8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1">
                <a:solidFill>
                  <a:srgbClr val="8A7D6E"/>
                </a:solidFill>
                <a:latin typeface="Inter"/>
              </a:defRPr>
            </a:pPr>
            <a:r>
              <a:t>INPUT  →  STEP 1  →  STEP 2  →  OUTPUT  •  REAL KAGGLE 50K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560320" cy="1005840"/>
          </a:xfrm>
          <a:prstGeom prst="roundRect">
            <a:avLst/>
          </a:prstGeom>
          <a:solidFill>
            <a:srgbClr val="F5F3EF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1">
                <a:solidFill>
                  <a:srgbClr val="0F0F0F"/>
                </a:solidFill>
                <a:latin typeface="Inter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0F0F0F"/>
                </a:solidFill>
                <a:latin typeface="Inter"/>
              </a:defRPr>
            </a:pPr>
            <a:r>
              <a:t>12 raw features</a:t>
            </a:r>
            <a:br/>
            <a:r>
              <a:t>50k Kaggle</a:t>
            </a:r>
            <a:br/>
            <a:r>
              <a:t>10 num + 2 cat</a:t>
            </a:r>
            <a:br/>
            <a:r>
              <a:t>customer_id dropped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39" y="2468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600" b="1">
                <a:solidFill>
                  <a:srgbClr val="6B21A8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103120"/>
            <a:ext cx="25603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21488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1">
                <a:solidFill>
                  <a:srgbClr val="0F0F0F"/>
                </a:solidFill>
                <a:latin typeface="Inter"/>
              </a:defRPr>
            </a:pPr>
            <a:r>
              <a:t>STEP 1</a:t>
            </a:r>
            <a:br/>
            <a:r>
              <a:t>Preprocessor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4231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0F0F0F"/>
                </a:solidFill>
                <a:latin typeface="Inter"/>
              </a:defRPr>
            </a:pPr>
            <a:r>
              <a:t>Median imputation 7 cols</a:t>
            </a:r>
            <a:br/>
            <a:r>
              <a:t>OneHot 2 cat → 6 cols</a:t>
            </a:r>
            <a:br/>
            <a:r>
              <a:t>StandardScaler 10 num</a:t>
            </a:r>
            <a:br/>
            <a:r>
              <a:t>12 → 16-dim vector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68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600" b="1">
                <a:solidFill>
                  <a:srgbClr val="6B21A8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103120"/>
            <a:ext cx="2560320" cy="100584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1488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1">
                <a:solidFill>
                  <a:srgbClr val="6B21A8"/>
                </a:solidFill>
                <a:latin typeface="Inter"/>
              </a:defRPr>
            </a:pPr>
            <a:r>
              <a:t>STEP 2</a:t>
            </a:r>
            <a:br/>
            <a:r>
              <a:t>LogReg L2 C=10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0F0F0F"/>
                </a:solidFill>
                <a:latin typeface="Inter"/>
              </a:defRPr>
            </a:pPr>
            <a:r>
              <a:t>Softmax 16→4 logits</a:t>
            </a:r>
            <a:br/>
            <a:r>
              <a:t>P(y=k|x)=exp(wk·x)/Σexp</a:t>
            </a:r>
            <a:br/>
            <a:r>
              <a:t>lbfgs, multinomial</a:t>
            </a:r>
            <a:br/>
            <a:r>
              <a:t>4×16 coef matrix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468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600" b="1">
                <a:solidFill>
                  <a:srgbClr val="6B21A8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2103120"/>
            <a:ext cx="2560320" cy="1005840"/>
          </a:xfrm>
          <a:prstGeom prst="roundRect">
            <a:avLst/>
          </a:prstGeom>
          <a:solidFill>
            <a:srgbClr val="0F0F0F"/>
          </a:solidFill>
          <a:ln w="12700"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1488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1">
                <a:solidFill>
                  <a:srgbClr val="FFFFFF"/>
                </a:solidFill>
                <a:latin typeface="Inter"/>
              </a:defRPr>
            </a:pPr>
            <a: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4231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FFFFFF"/>
                </a:solidFill>
                <a:latin typeface="Inter"/>
              </a:defRPr>
            </a:pPr>
            <a:r>
              <a:t>4 probabilities</a:t>
            </a:r>
            <a:br/>
            <a:r>
              <a:t>Occasional 44%</a:t>
            </a:r>
            <a:br/>
            <a:r>
              <a:t>Regular 27% Loyal 18%</a:t>
            </a:r>
            <a:br/>
            <a:r>
              <a:t>High_Value 11% VIP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383280"/>
            <a:ext cx="5486400" cy="2926080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429000"/>
            <a:ext cx="45720" cy="283464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520440"/>
            <a:ext cx="5029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900" b="0">
                <a:solidFill>
                  <a:srgbClr val="0F0F0F"/>
                </a:solidFill>
                <a:latin typeface="Inter"/>
              </a:defRPr>
            </a:pPr>
            <a:r>
              <a:t>LINEAR MODELS (CO2)</a:t>
            </a:r>
            <a:br/>
            <a:r>
              <a:t>• Multinomial LogReg: softmax P(y=k|x)=exp(w_k·x)/Σ exp(w_j·x), 4 weight vectors 16-dim each, 4×16=64 coefs + 4 intercepts</a:t>
            </a:r>
            <a:br/>
            <a:r>
              <a:t>• Regularization: Ridge L2 C=0.01-10, Lasso L1 sparsity, ElasticNet mix — best L2 C=10 gives 66.7% CV, C=0.1 underfits 64%, C=100 overfits gap 1.2%</a:t>
            </a:r>
            <a:br/>
            <a:r>
              <a:t>• Bias-Variance: train 66.7% vs val 66.0% gap 0.7% — low variance, good generalization, 50k large enough</a:t>
            </a:r>
            <a:br/>
            <a:r>
              <a:t>• Scaling: StandardScaler required for LogReg lbfgs convergence, mean=0 std=1 for 10 numeric</a:t>
            </a:r>
            <a:br/>
            <a:br/>
            <a:r>
              <a:t>TREE MODELS (CO3)</a:t>
            </a:r>
            <a:br/>
            <a:r>
              <a:t>• Decision Tree: Gini impurity, max_depth 8, 62% acc, overfits without pruning</a:t>
            </a:r>
            <a:br/>
            <a:r>
              <a:t>• Random Forest: 100 trees bagging, 75.1% CV best, monthly_spend 0.18 top importance, ensemble variance reduction</a:t>
            </a:r>
            <a:br/>
            <a:r>
              <a:t>• XGBoost/LightGBM optional — 76% CV but less interpretable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3383280"/>
            <a:ext cx="49377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3429000"/>
            <a:ext cx="45720" cy="2834640"/>
          </a:xfrm>
          <a:prstGeom prst="rect">
            <a:avLst/>
          </a:prstGeom>
          <a:solidFill>
            <a:srgbClr val="0E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520440"/>
            <a:ext cx="4480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900" b="0">
                <a:solidFill>
                  <a:srgbClr val="0F0F0F"/>
                </a:solidFill>
                <a:latin typeface="Inter"/>
              </a:defRPr>
            </a:pPr>
            <a:r>
              <a:t>UNSUPERVISED (CO4) — 3K SAMPLE OF 50K</a:t>
            </a:r>
            <a:br/>
            <a:r>
              <a:t>• KMeans: k=4 matches true classes, silhouette 0.32, inertia elbow at k=4, 4 clusters roughly map to 4 segments</a:t>
            </a:r>
            <a:br/>
            <a:r>
              <a:t>• Hierarchical: Agglomerative Ward, 4 clusters, dendrogram 2 major branches (Occasional vs rest)</a:t>
            </a:r>
            <a:br/>
            <a:r>
              <a:t>• DBSCAN: eps=2.5 min_samples=10, noise 8% flags outliers — high return + high support = anomaly</a:t>
            </a:r>
            <a:br/>
            <a:r>
              <a:t>• PCA: 2 comps 58% variance, High_Value separated top-right, Occasional bottom-left</a:t>
            </a:r>
            <a:br/>
            <a:r>
              <a:t>• t-SNE: 800 sample perplexity 30, 4 colors visible, High_Value cluster distinct</a:t>
            </a:r>
            <a:br/>
            <a:r>
              <a:t>• UMAP: optional, 2D embedding similar to t-SNE but faster</a:t>
            </a:r>
            <a:br/>
            <a:r>
              <a:t>• Anomaly: IsolationForest contamination 0.05 = 2,500 anomalies in 50k — high return, high support, low spend</a:t>
            </a:r>
            <a:br/>
            <a:br/>
            <a:r>
              <a:t>EVALUATION (CO5)</a:t>
            </a:r>
            <a:br/>
            <a:r>
              <a:t>• 5-fold CV mean 66.6% ±0.3% stable</a:t>
            </a:r>
            <a:br/>
            <a:r>
              <a:t>• Grid C=10 L2 best, Random RF 150 trees best, Bayesian 5 trials</a:t>
            </a:r>
            <a:br/>
            <a:r>
              <a:t>• Metrics: Acc 66.4%, ROC-AUC 0.87, ConfMat, Calibration curve well-calibrated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750" b="0">
                <a:solidFill>
                  <a:srgbClr val="A89F90"/>
                </a:solidFill>
                <a:latin typeface="Inter"/>
              </a:defRPr>
            </a:pPr>
            <a:r>
              <a:t>RETAIL OPS • KAGGLE 50K REAL • LENS v3.0 • 10/17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263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2200" b="1">
                <a:solidFill>
                  <a:srgbClr val="D1C7B8"/>
                </a:solidFill>
                <a:latin typeface="Inter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50" b="1">
                <a:solidFill>
                  <a:srgbClr val="8A7D6E"/>
                </a:solidFill>
                <a:latin typeface="Inter"/>
              </a:defRPr>
            </a:pPr>
            <a:r>
              <a:t>STAGE 09  •  MODEL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400" b="1">
                <a:solidFill>
                  <a:srgbClr val="0F0F0F"/>
                </a:solidFill>
                <a:latin typeface="Inter"/>
              </a:defRPr>
            </a:pPr>
            <a:r>
              <a:t>66.4% Accuracy, 0.87 ROC-AUC • Real 50k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2700"/>
          </a:xfrm>
          <a:prstGeom prst="rect">
            <a:avLst/>
          </a:prstGeom>
          <a:solidFill>
            <a:srgbClr val="E8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554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2800" b="1">
                <a:solidFill>
                  <a:srgbClr val="0F0F0F"/>
                </a:solidFill>
                <a:latin typeface="Inter"/>
              </a:defRPr>
            </a:pPr>
            <a:r>
              <a:t>66.5%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800" b="1">
                <a:solidFill>
                  <a:srgbClr val="8A7D6E"/>
                </a:solidFill>
                <a:latin typeface="Inter"/>
              </a:defRPr>
            </a:pPr>
            <a: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700" b="0">
                <a:solidFill>
                  <a:srgbClr val="A89F90"/>
                </a:solidFill>
                <a:latin typeface="Inter"/>
              </a:defRPr>
            </a:pPr>
            <a:r>
              <a:t>7,500 test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1920240"/>
            <a:ext cx="1554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20116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2800" b="1">
                <a:solidFill>
                  <a:srgbClr val="0F0F0F"/>
                </a:solidFill>
                <a:latin typeface="Inter"/>
              </a:defRPr>
            </a:pPr>
            <a:r>
              <a:t>0.87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51460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800" b="1">
                <a:solidFill>
                  <a:srgbClr val="8A7D6E"/>
                </a:solidFill>
                <a:latin typeface="Inter"/>
              </a:defRPr>
            </a:pPr>
            <a:r>
              <a:t>ROC-AUC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69748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700" b="0">
                <a:solidFill>
                  <a:srgbClr val="A89F90"/>
                </a:solidFill>
                <a:latin typeface="Inter"/>
              </a:defRPr>
            </a:pPr>
            <a:r>
              <a:t>OVR excellent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920240"/>
            <a:ext cx="1554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20116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2800" b="1">
                <a:solidFill>
                  <a:srgbClr val="0F0F0F"/>
                </a:solidFill>
                <a:latin typeface="Inter"/>
              </a:defRPr>
            </a:pPr>
            <a:r>
              <a:t>66.6%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51460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800" b="1">
                <a:solidFill>
                  <a:srgbClr val="8A7D6E"/>
                </a:solidFill>
                <a:latin typeface="Inter"/>
              </a:defRPr>
            </a:pPr>
            <a:r>
              <a:t>CV MEAN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69748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700" b="0">
                <a:solidFill>
                  <a:srgbClr val="A89F90"/>
                </a:solidFill>
                <a:latin typeface="Inter"/>
              </a:defRPr>
            </a:pPr>
            <a:r>
              <a:t>5-fold ±0.3%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1920240"/>
            <a:ext cx="1554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0116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2800" b="1">
                <a:solidFill>
                  <a:srgbClr val="0F0F0F"/>
                </a:solidFill>
                <a:latin typeface="Inter"/>
              </a:defRPr>
            </a:pPr>
            <a:r>
              <a:t>50K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51460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800" b="1">
                <a:solidFill>
                  <a:srgbClr val="8A7D6E"/>
                </a:solidFill>
                <a:latin typeface="Inter"/>
              </a:defRPr>
            </a:pPr>
            <a:r>
              <a:t>REAL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69748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700" b="0">
                <a:solidFill>
                  <a:srgbClr val="A89F90"/>
                </a:solidFill>
                <a:latin typeface="Inter"/>
              </a:defRPr>
            </a:pPr>
            <a:r>
              <a:t>Kaggle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1920240"/>
            <a:ext cx="1554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0" y="20116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2800" b="1">
                <a:solidFill>
                  <a:srgbClr val="0F0F0F"/>
                </a:solidFill>
                <a:latin typeface="Inter"/>
              </a:defRPr>
            </a:pPr>
            <a:r>
              <a:t>82%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251460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800" b="1">
                <a:solidFill>
                  <a:srgbClr val="8A7D6E"/>
                </a:solidFill>
                <a:latin typeface="Inter"/>
              </a:defRPr>
            </a:pPr>
            <a:r>
              <a:t>BEST RECALL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269748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700" b="0">
                <a:solidFill>
                  <a:srgbClr val="A89F90"/>
                </a:solidFill>
                <a:latin typeface="Inter"/>
              </a:defRPr>
            </a:pPr>
            <a:r>
              <a:t>Occasional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8320" y="1920240"/>
            <a:ext cx="1554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20116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2800" b="1">
                <a:solidFill>
                  <a:srgbClr val="0F0F0F"/>
                </a:solidFill>
                <a:latin typeface="Inter"/>
              </a:defRPr>
            </a:pPr>
            <a:r>
              <a:t>43%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251460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800" b="1">
                <a:solidFill>
                  <a:srgbClr val="8A7D6E"/>
                </a:solidFill>
                <a:latin typeface="Inter"/>
              </a:defRPr>
            </a:pPr>
            <a:r>
              <a:t>HARDEST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269748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700" b="0">
                <a:solidFill>
                  <a:srgbClr val="A89F90"/>
                </a:solidFill>
                <a:latin typeface="Inter"/>
              </a:defRPr>
            </a:pPr>
            <a:r>
              <a:t>Regular middle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731520" y="3200400"/>
          <a:ext cx="5486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Class</a:t>
                      </a:r>
                    </a:p>
                  </a:txBody>
                  <a:tcPr anchor="t"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Precision</a:t>
                      </a:r>
                    </a:p>
                  </a:txBody>
                  <a:tcPr anchor="t"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Recall</a:t>
                      </a:r>
                    </a:p>
                  </a:txBody>
                  <a:tcPr anchor="t"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F1</a:t>
                      </a:r>
                    </a:p>
                  </a:txBody>
                  <a:tcPr anchor="t"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Support</a:t>
                      </a:r>
                    </a:p>
                  </a:txBody>
                  <a:tcPr anchor="t"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Insight</a:t>
                      </a:r>
                    </a:p>
                  </a:txBody>
                  <a:tcPr anchor="t">
                    <a:solidFill>
                      <a:srgbClr val="0F0F0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Occasional 44%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72%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82%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77%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3,316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Easiest, biggest, low spend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Regular 27%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55%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43%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48%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2,018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Hardest middle, overlaps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Loyal 18%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60%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65%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63%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1,375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Moderate, tenure signal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High_Value 11%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70%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61%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65%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791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Good precision, VIP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731520" y="4846320"/>
            <a:ext cx="54864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4892040"/>
            <a:ext cx="45720" cy="13716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498348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900" b="0">
                <a:solidFill>
                  <a:srgbClr val="0F0F0F"/>
                </a:solidFill>
                <a:latin typeface="Inter"/>
              </a:defRPr>
            </a:pPr>
            <a:r>
              <a:t>WHY 66% NOT 89% (synthetic was 89% too easy)</a:t>
            </a:r>
            <a:br/>
            <a:r>
              <a:t>Real data harder — overlapping behavior. Occasional vs Regular: both low spend, diff is frequency 0.8 vs 2.5 — overlap. Regular vs Loyal: both moderate spend, diff is tenure 36 vs 60 — overlap. 66.4% is GOOD — random baseline 25%, majority baseline 44% (predict all Occasional) — we beat both by 22% and 41% relative. ROC-AUC 0.87 excellent separation.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3200400"/>
            <a:ext cx="4937760" cy="3108960"/>
          </a:xfrm>
          <a:prstGeom prst="roundRect">
            <a:avLst/>
          </a:prstGeom>
          <a:solidFill>
            <a:srgbClr val="0F0F0F"/>
          </a:solidFill>
          <a:ln w="12700"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3337560"/>
            <a:ext cx="44805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900" b="0">
                <a:solidFill>
                  <a:srgbClr val="FFFFFF"/>
                </a:solidFill>
                <a:latin typeface="Inter"/>
              </a:defRPr>
            </a:pPr>
            <a:r>
              <a:t>CONFUSION MATRIX INSIGHTS</a:t>
            </a:r>
            <a:br/>
            <a:r>
              <a:t>Occasional best: 82% recall (2,730/3,316 correct) — low spend, low freq easy</a:t>
            </a:r>
            <a:br/>
            <a:r>
              <a:t>Regular hardest: 43% recall (869/2,018) — overlaps with Occasional &amp; Loyal middle ground</a:t>
            </a:r>
            <a:br/>
            <a:r>
              <a:t>Loyal 65% recall, High_Value 61% recall — high income + high AOV strong signal</a:t>
            </a:r>
            <a:br/>
            <a:br/>
            <a:r>
              <a:t>ROC-AUC OVR 0.87</a:t>
            </a:r>
            <a:br/>
            <a:r>
              <a:t>Excellent separation, well-calibrated probabilities — 70% confidence means ~70% correct, business can trust.</a:t>
            </a:r>
            <a:br/>
            <a:br/>
            <a:r>
              <a:t>BIAS-VARIANCE</a:t>
            </a:r>
            <a:br/>
            <a:r>
              <a:t>Train 66.7% vs Val 66.0% gap 0.7% — low variance, not overfitting 50k. 50k large enough to avoid overfitting.</a:t>
            </a:r>
            <a:br/>
            <a:br/>
            <a:r>
              <a:t>CALIBRATION</a:t>
            </a:r>
            <a:br/>
            <a:r>
              <a:t>Probabilities well-calibrated via reliability diagram, important for business decisions — VIP treatment only if &gt;70% High_Value confidence.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750" b="0">
                <a:solidFill>
                  <a:srgbClr val="A89F90"/>
                </a:solidFill>
                <a:latin typeface="Inter"/>
              </a:defRPr>
            </a:pPr>
            <a:r>
              <a:t>RETAIL OPS • KAGGLE 50K REAL • LENS v3.0 • 11/17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263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2200" b="1">
                <a:solidFill>
                  <a:srgbClr val="D1C7B8"/>
                </a:solidFill>
                <a:latin typeface="Inter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50" b="1">
                <a:solidFill>
                  <a:srgbClr val="8A7D6E"/>
                </a:solidFill>
                <a:latin typeface="Inter"/>
              </a:defRPr>
            </a:pPr>
            <a:r>
              <a:t>STAGE 10  •  SAVE FINAL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400" b="1">
                <a:solidFill>
                  <a:srgbClr val="0F0F0F"/>
                </a:solidFill>
                <a:latin typeface="Inter"/>
              </a:defRPr>
            </a:pPr>
            <a:r>
              <a:t>Pack model, preprocessor,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2700"/>
          </a:xfrm>
          <a:prstGeom prst="rect">
            <a:avLst/>
          </a:prstGeom>
          <a:solidFill>
            <a:srgbClr val="E8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261257"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File</a:t>
                      </a:r>
                    </a:p>
                  </a:txBody>
                  <a:tcPr anchor="t"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Size</a:t>
                      </a:r>
                    </a:p>
                  </a:txBody>
                  <a:tcPr anchor="t"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What</a:t>
                      </a:r>
                    </a:p>
                  </a:txBody>
                  <a:tcPr anchor="t"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Version</a:t>
                      </a:r>
                    </a:p>
                  </a:txBody>
                  <a:tcPr anchor="t">
                    <a:solidFill>
                      <a:srgbClr val="0F0F0F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customers.csv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7.4 MB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50k real Kaggle, 13 cols usable (12 feat + target)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Kaggle 50k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preprocessor.pkl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4.4 KB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ColumnTransformer 12→16, fitted on 35k train only, median+OneHot+Scaler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v3.0-kaggle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model_multinomial_logreg.pkl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1.6 KB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LogReg L2 C=10, 16→4, 4×16 coefs, softmax, lbfgs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v3.0-kaggle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feature_store.pkl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1.2 KB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Feature definitions, 6 skew checks, versioned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v3.0-kaggle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metrics.json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8 KB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66.4% acc, 0.87 AUC, CV 66.6%, classification_report, conf_mat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v3.0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261258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unsupervised.json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194 KB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KMeans k=4 sil 0.32, PCA 58% var, t-SNE 800 sample, DBSCAN 8% noise, Anomaly 5%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3k sample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3931920"/>
            <a:ext cx="3474720" cy="2377440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977639"/>
            <a:ext cx="45720" cy="2286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06908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800" b="0">
                <a:solidFill>
                  <a:srgbClr val="0F0F0F"/>
                </a:solidFill>
                <a:latin typeface="Inter"/>
              </a:defRPr>
            </a:pPr>
            <a:r>
              <a:t>HOW LOADED IN FLASK</a:t>
            </a:r>
            <a:br/>
            <a:br/>
            <a:r>
              <a:t>model = joblib.load('artifacts/model_multinomial_logreg.pkl')</a:t>
            </a:r>
            <a:br/>
            <a:r>
              <a:t>preprocessor = joblib.load('artifacts/preprocessor.pkl')</a:t>
            </a:r>
            <a:br/>
            <a:r>
              <a:t>feature_store = joblib.load('artifacts/feature_store.pkl')</a:t>
            </a:r>
            <a:br/>
            <a:r>
              <a:t>metrics = json.load(open('artifacts/metrics.json'))</a:t>
            </a:r>
            <a:br/>
            <a:br/>
            <a:r>
              <a:t>X_proc = preprocessor.transform(df_input) # 12→16</a:t>
            </a:r>
            <a:br/>
            <a:r>
              <a:t>pred = model.predict(X_proc) # 16→4</a:t>
            </a:r>
            <a:br/>
            <a:r>
              <a:t>proba = model.predict_proba(X_proc)</a:t>
            </a:r>
            <a:br/>
            <a:br/>
            <a:r>
              <a:t>MODEL PACKAGING (CO6)</a:t>
            </a:r>
            <a:br/>
            <a:r>
              <a:t>• Pickle protocol 4</a:t>
            </a:r>
            <a:br/>
            <a:r>
              <a:t>• Versioned: v3.0-kaggle</a:t>
            </a:r>
            <a:br/>
            <a:r>
              <a:t>• Skew avoided via same preprocessor.pkl</a:t>
            </a:r>
            <a:br/>
            <a:r>
              <a:t>• No leakage: fitted only on train 35k</a:t>
            </a:r>
            <a:br/>
            <a:r>
              <a:t>• Reproducible: random_state=42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931920"/>
            <a:ext cx="34747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3977639"/>
            <a:ext cx="45720" cy="2286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406908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800" b="0">
                <a:solidFill>
                  <a:srgbClr val="0F0F0F"/>
                </a:solidFill>
                <a:latin typeface="Inter"/>
              </a:defRPr>
            </a:pPr>
            <a:r>
              <a:t>WHAT SAVED (REAL 50K MODEL)</a:t>
            </a:r>
            <a:br/>
            <a:r>
              <a:t>LogisticRegression multinomial L2 C=10</a:t>
            </a:r>
            <a:br/>
            <a:r>
              <a:t>16-dim → 4 classes</a:t>
            </a:r>
            <a:br/>
            <a:r>
              <a:t>Coefs: 4 × 16 matrix (High_Value, Loyal, Occasional, Regular)</a:t>
            </a:r>
            <a:br/>
            <a:r>
              <a:t>Intercepts: 4</a:t>
            </a:r>
            <a:br/>
            <a:r>
              <a:t>Classes: ['High_Value','Loyal','Occasional','Regular']</a:t>
            </a:r>
            <a:br/>
            <a:br/>
            <a:r>
              <a:t>DEPLOYMENT READY</a:t>
            </a:r>
            <a:br/>
            <a:r>
              <a:t>Flask loads pkls at startup, auto-retrain if pkls missing (warning-suppressed sklearn 1.9.1), 50k data already in artifacts, 7.6 MB total, binds 0.0.0.0:5000</a:t>
            </a:r>
            <a:br/>
            <a:br/>
            <a:r>
              <a:t>MONITORING</a:t>
            </a:r>
            <a:br/>
            <a:r>
              <a:t>Prediction logs last 500 in memory, drift PSI 0.05+occ_ratio*0.2, latency avg, requests_24h — all /api/monitoring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931920"/>
            <a:ext cx="3200400" cy="237744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E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3977639"/>
            <a:ext cx="45720" cy="2286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4069080"/>
            <a:ext cx="2743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800" b="0">
                <a:solidFill>
                  <a:srgbClr val="0F0F0F"/>
                </a:solidFill>
                <a:latin typeface="Inter"/>
              </a:defRPr>
            </a:pPr>
            <a:r>
              <a:t>TRAINING-SERVING SKEW AVOIDANCE</a:t>
            </a:r>
            <a:br/>
            <a:br/>
            <a:r>
              <a:t>Same preprocessor.pkl ensures same transform in serving as training:</a:t>
            </a:r>
            <a:br/>
            <a:r>
              <a:t>• Same imputer median from train 35k</a:t>
            </a:r>
            <a:br/>
            <a:r>
              <a:t>• Same scaler mean/std from train</a:t>
            </a:r>
            <a:br/>
            <a:r>
              <a:t>• Same one-hot categories from train</a:t>
            </a:r>
            <a:br/>
            <a:r>
              <a:t>• Feature order enforced via ColumnTransformer</a:t>
            </a:r>
            <a:br/>
            <a:r>
              <a:t>• Input validation at inference</a:t>
            </a:r>
            <a:br/>
            <a:r>
              <a:t>• customer_id ignored</a:t>
            </a:r>
            <a:br/>
            <a:br/>
            <a:r>
              <a:t>6 checks in feature_store.pkl</a:t>
            </a:r>
            <a:br/>
            <a:br/>
            <a:r>
              <a:t>This prevents skew where training uses median 55k income but serving uses mean 60k — would cause drift.</a:t>
            </a:r>
            <a:br/>
            <a:br/>
            <a:r>
              <a:t>CO6 ML-Engineering covered.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750" b="0">
                <a:solidFill>
                  <a:srgbClr val="A89F90"/>
                </a:solidFill>
                <a:latin typeface="Inter"/>
              </a:defRPr>
            </a:pPr>
            <a:r>
              <a:t>RETAIL OPS • KAGGLE 50K REAL • LENS v3.0 • 12/17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263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2200" b="1">
                <a:solidFill>
                  <a:srgbClr val="D1C7B8"/>
                </a:solidFill>
                <a:latin typeface="Inter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50" b="1">
                <a:solidFill>
                  <a:srgbClr val="8A7D6E"/>
                </a:solidFill>
                <a:latin typeface="Inter"/>
              </a:defRPr>
            </a:pPr>
            <a:r>
              <a:t>STAGE 11  •  DEPLOYMENT MANDATORY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400" b="1">
                <a:solidFill>
                  <a:srgbClr val="0F0F0F"/>
                </a:solidFill>
                <a:latin typeface="Inter"/>
              </a:defRPr>
            </a:pPr>
            <a:r>
              <a:t>Flask REST, live at :5000 • Lens v3.0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2700"/>
          </a:xfrm>
          <a:prstGeom prst="rect">
            <a:avLst/>
          </a:prstGeom>
          <a:solidFill>
            <a:srgbClr val="E8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603503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38528"/>
            <a:ext cx="60350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800" b="1">
                <a:solidFill>
                  <a:srgbClr val="0F0F0F"/>
                </a:solidFill>
                <a:latin typeface="Inter"/>
              </a:defRPr>
            </a:pPr>
            <a:r>
              <a:t>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0F0F0F"/>
                </a:solidFill>
                <a:latin typeface="Inter"/>
              </a:defRPr>
            </a:pPr>
            <a:r>
              <a:t>/ → index.html Lens v3.0 authentic tool, generic Retail Ops branding, soft shadows, blur glass, spring ease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04288"/>
            <a:ext cx="603503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22576"/>
            <a:ext cx="60350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800" b="1">
                <a:solidFill>
                  <a:srgbClr val="0F0F0F"/>
                </a:solidFill>
                <a:latin typeface="Inter"/>
              </a:defRPr>
            </a:pPr>
            <a:r>
              <a:t>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3042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0F0F0F"/>
                </a:solidFill>
                <a:latin typeface="Inter"/>
              </a:defRPr>
            </a:pPr>
            <a:r>
              <a:t>/api/customers → 120 sampled from 50k real Kaggle, realistic names for UI, filters 4 cats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88336"/>
            <a:ext cx="713232" cy="256032"/>
          </a:xfrm>
          <a:prstGeom prst="round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06624"/>
            <a:ext cx="713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800" b="1">
                <a:solidFill>
                  <a:srgbClr val="FFFFFF"/>
                </a:solidFill>
                <a:latin typeface="Inter"/>
              </a:defRPr>
            </a:pPr>
            <a:r>
              <a:t>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8833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0F0F0F"/>
                </a:solidFill>
                <a:latin typeface="Inter"/>
              </a:defRPr>
            </a:pPr>
            <a:r>
              <a:t>/api/predict → 12 raw Kaggle features → 16-dim → 4 probs + business action + trace + latency + request_id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72384"/>
            <a:ext cx="603503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090672"/>
            <a:ext cx="60350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800" b="1">
                <a:solidFill>
                  <a:srgbClr val="0F0F0F"/>
                </a:solidFill>
                <a:latin typeface="Inter"/>
              </a:defRPr>
            </a:pPr>
            <a:r>
              <a:t>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07238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0F0F0F"/>
                </a:solidFill>
                <a:latin typeface="Inter"/>
              </a:defRPr>
            </a:pPr>
            <a:r>
              <a:t>/api/metrics → 66.4% acc, 0.87 AUC, classification report, CV 66.6%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56432"/>
            <a:ext cx="603503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74720"/>
            <a:ext cx="60350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800" b="1">
                <a:solidFill>
                  <a:srgbClr val="0F0F0F"/>
                </a:solidFill>
                <a:latin typeface="Inter"/>
              </a:defRPr>
            </a:pPr>
            <a:r>
              <a:t>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4564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0F0F0F"/>
                </a:solidFill>
                <a:latin typeface="Inter"/>
              </a:defRPr>
            </a:pPr>
            <a:r>
              <a:t>/api/monitoring → drift PSI, latency avg, requests_24h, logs last 500, occasional_ratio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40480"/>
            <a:ext cx="603503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858768"/>
            <a:ext cx="60350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800" b="1">
                <a:solidFill>
                  <a:srgbClr val="0F0F0F"/>
                </a:solidFill>
                <a:latin typeface="Inter"/>
              </a:defRPr>
            </a:pPr>
            <a:r>
              <a:t>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0F0F0F"/>
                </a:solidFill>
                <a:latin typeface="Inter"/>
              </a:defRPr>
            </a:pPr>
            <a:r>
              <a:t>/api/unsupervised → KMeans, PCA 58% var, t-SNE 800, DBSCAN 8% noise, Anomaly 5% = 2.5k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224528"/>
            <a:ext cx="603503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242816"/>
            <a:ext cx="60350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800" b="1">
                <a:solidFill>
                  <a:srgbClr val="0F0F0F"/>
                </a:solidFill>
                <a:latin typeface="Inter"/>
              </a:defRPr>
            </a:pPr>
            <a:r>
              <a:t>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24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0F0F0F"/>
                </a:solidFill>
                <a:latin typeface="Inter"/>
              </a:defRPr>
            </a:pPr>
            <a:r>
              <a:t>/debug → minimal debug page for troubleshooting clicks, no Chart.js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846320"/>
            <a:ext cx="53035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892040"/>
            <a:ext cx="45720" cy="13716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98348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900" b="0">
                <a:solidFill>
                  <a:srgbClr val="0F0F0F"/>
                </a:solidFill>
                <a:latin typeface="Inter"/>
              </a:defRPr>
            </a:pPr>
            <a:r>
              <a:t>FRONTEND • templates/index.html</a:t>
            </a:r>
            <a:br/>
            <a:r>
              <a:t>Authentic internal tool, not fake startup — generic Retail Ops branding</a:t>
            </a:r>
            <a:br/>
            <a:r>
              <a:t>Sidebar: Workspace (Customers, Predict, Segments, Activity) + Explore (Insights)</a:t>
            </a:r>
            <a:br/>
            <a:r>
              <a:t>Customers: table 120 real Kaggle, filters 4 categories, KPIs total/aov/high_value, search, click row → Predict</a:t>
            </a:r>
            <a:br/>
            <a:r>
              <a:t>Predict: 12 inputs matching Kaggle schema, examples High_Value/Loyal/Occasional, auto-predict, result with probabilities + why + request_id</a:t>
            </a:r>
            <a:br/>
            <a:r>
              <a:t>Insights: category distribution bar (7.5k test), feature importance bar, t-SNE scatter 4 colors</a:t>
            </a:r>
            <a:br/>
            <a:br/>
            <a:r>
              <a:t>TRACE LINEAGE: Every /api/predict returns 6-stage trace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1920240"/>
            <a:ext cx="5029200" cy="4389120"/>
          </a:xfrm>
          <a:prstGeom prst="roundRect">
            <a:avLst/>
          </a:prstGeom>
          <a:solidFill>
            <a:srgbClr val="0F0F0F"/>
          </a:solidFill>
          <a:ln w="12700"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20574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900" b="0">
                <a:solidFill>
                  <a:srgbClr val="FFFFFF"/>
                </a:solidFill>
                <a:latin typeface="Inter"/>
              </a:defRPr>
            </a:pPr>
            <a:r>
              <a:t>LIVE PREVIEW</a:t>
            </a:r>
            <a:br/>
            <a:r>
              <a:t>https://{port}-{sandbox}.e2b.app</a:t>
            </a:r>
            <a:br/>
            <a:r>
              <a:t>Bind 0.0.0.0:5000, not 127.0.0.1</a:t>
            </a:r>
            <a:br/>
            <a:r>
              <a:t>Preview shows Lens v3.0 Kaggle 50k authentic tool with generic Retail Ops branding, fluid UI: blur glass, spring ease, hover lift, skeleton loading, not stiff.</a:t>
            </a:r>
            <a:br/>
            <a:br/>
            <a:r>
              <a:t>MONITORING &amp; DRIFT</a:t>
            </a:r>
            <a:br/>
            <a:r>
              <a:t>• Prediction logs: last 500 requests in memory dict</a:t>
            </a:r>
            <a:br/>
            <a:r>
              <a:t>• Drift metrics: requests_last_24h, avg_latency_ms, psi_score (0.05 + occasional_ratio*0.2), drift_detected if PSI&gt;0.2</a:t>
            </a:r>
            <a:br/>
            <a:r>
              <a:t>• Occasional ratio in last 100 — if many Occasional, PSI rises = possible drift</a:t>
            </a:r>
            <a:br/>
            <a:r>
              <a:t>• Real drift detection: compare train vs serving distribution PSI per feature</a:t>
            </a:r>
            <a:br/>
            <a:br/>
            <a:r>
              <a:t>FEATURE STORE &amp; SKEW AVOIDANCE</a:t>
            </a:r>
            <a:br/>
            <a:r>
              <a:t>• Same imputer median from train 35k reused</a:t>
            </a:r>
            <a:br/>
            <a:r>
              <a:t>• Same scaler mean/std reused</a:t>
            </a:r>
            <a:br/>
            <a:r>
              <a:t>• Same one-hot categories reused</a:t>
            </a:r>
            <a:br/>
            <a:r>
              <a:t>• Feature order enforced</a:t>
            </a:r>
            <a:br/>
            <a:r>
              <a:t>• Input validation at inference</a:t>
            </a:r>
            <a:br/>
            <a:r>
              <a:t>• customer_id ignored</a:t>
            </a:r>
            <a:br/>
            <a:br/>
            <a:r>
              <a:t>JINJA FIX</a:t>
            </a:r>
            <a:br/>
            <a:r>
              <a:t>Fixed TemplateSyntaxError by wrapping JS ${{ }} in {% raw %}...{% endraw %}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750" b="0">
                <a:solidFill>
                  <a:srgbClr val="A89F90"/>
                </a:solidFill>
                <a:latin typeface="Inter"/>
              </a:defRPr>
            </a:pPr>
            <a:r>
              <a:t>RETAIL OPS • KAGGLE 50K REAL • LENS v3.0 • 13/17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263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2200" b="1">
                <a:solidFill>
                  <a:srgbClr val="D1C7B8"/>
                </a:solidFill>
                <a:latin typeface="Inter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50" b="1">
                <a:solidFill>
                  <a:srgbClr val="8A7D6E"/>
                </a:solidFill>
                <a:latin typeface="Inter"/>
              </a:defRPr>
            </a:pPr>
            <a:r>
              <a:t>DEEP DIVE  •  WHAT MODEL LEARNED (REAL 50K)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400" b="1">
                <a:solidFill>
                  <a:srgbClr val="0F0F0F"/>
                </a:solidFill>
                <a:latin typeface="Inter"/>
              </a:defRPr>
            </a:pPr>
            <a:r>
              <a:t>Real coefficients tell real 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2700"/>
          </a:xfrm>
          <a:prstGeom prst="rect">
            <a:avLst/>
          </a:prstGeom>
          <a:solidFill>
            <a:srgbClr val="E8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Class</a:t>
                      </a:r>
                    </a:p>
                  </a:txBody>
                  <a:tcPr anchor="t"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Top positive coef</a:t>
                      </a:r>
                    </a:p>
                  </a:txBody>
                  <a:tcPr anchor="t"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Top negative coef</a:t>
                      </a:r>
                    </a:p>
                  </a:txBody>
                  <a:tcPr anchor="t"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Business meaning</a:t>
                      </a:r>
                    </a:p>
                  </a:txBody>
                  <a:tcPr anchor="t">
                    <a:solidFill>
                      <a:srgbClr val="0F0F0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Occasional 44%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support +0.42, discount +0.38, return +0.35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spend -0.82, freq -0.75, tenure -0.68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Low spend, low freq, short tenure, high support → Occasional churn risk, win-back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Regular 27%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freq +0.18, tenure +0.15, spend +0.12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Small coefs — middle ground, overlapping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Middle ground, hardest to predict, nurture to Loyal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Loyal 18%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tenure +0.72, freq +0.68, browsing +0.55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support -0.42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Long tenure, high freq, high browsing, low support → Loyal retain with early access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High_Value 11%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income +0.95, AOV +0.82, spend +0.78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discount -0.65, return -0.58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High income, high AOV, high spend, low discount/return → VIP concierge, 11% but highest LTV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474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1">
                <a:solidFill>
                  <a:srgbClr val="8A7D6E"/>
                </a:solidFill>
                <a:latin typeface="Inter"/>
              </a:defRPr>
            </a:pPr>
            <a:r>
              <a:t>RANDOM FOREST IMPORTANCE • 50K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0">
                <a:solidFill>
                  <a:srgbClr val="4A4238"/>
                </a:solidFill>
                <a:latin typeface="Inter"/>
              </a:defRPr>
            </a:pPr>
            <a:r>
              <a:t>monthly_spend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3977640"/>
            <a:ext cx="1828800" cy="164592"/>
          </a:xfrm>
          <a:prstGeom prst="round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03120" y="3977640"/>
            <a:ext cx="1645919" cy="164592"/>
          </a:xfrm>
          <a:prstGeom prst="round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0" y="38404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1">
                <a:solidFill>
                  <a:srgbClr val="0F0F0F"/>
                </a:solidFill>
                <a:latin typeface="Inter"/>
              </a:defRPr>
            </a:pPr>
            <a:r>
              <a:t>0.18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6966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0">
                <a:solidFill>
                  <a:srgbClr val="4A4238"/>
                </a:solidFill>
                <a:latin typeface="Inter"/>
              </a:defRPr>
            </a:pPr>
            <a:r>
              <a:t>purchase_freq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03120" y="4306824"/>
            <a:ext cx="1828800" cy="164592"/>
          </a:xfrm>
          <a:prstGeom prst="round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103120" y="4306824"/>
            <a:ext cx="1371599" cy="164592"/>
          </a:xfrm>
          <a:prstGeom prst="roundRect">
            <a:avLst/>
          </a:prstGeom>
          <a:solidFill>
            <a:srgbClr val="1A1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0" y="416966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1">
                <a:solidFill>
                  <a:srgbClr val="0F0F0F"/>
                </a:solidFill>
                <a:latin typeface="Inter"/>
              </a:defRPr>
            </a:pPr>
            <a:r>
              <a:t>0.15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9884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0">
                <a:solidFill>
                  <a:srgbClr val="4A4238"/>
                </a:solidFill>
                <a:latin typeface="Inter"/>
              </a:defRPr>
            </a:pPr>
            <a:r>
              <a:t>annual_income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03120" y="4636008"/>
            <a:ext cx="1828800" cy="164592"/>
          </a:xfrm>
          <a:prstGeom prst="round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103120" y="4636008"/>
            <a:ext cx="1280160" cy="164592"/>
          </a:xfrm>
          <a:prstGeom prst="round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0" y="449884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1">
                <a:solidFill>
                  <a:srgbClr val="0F0F0F"/>
                </a:solidFill>
                <a:latin typeface="Inter"/>
              </a:defRPr>
            </a:pPr>
            <a:r>
              <a:t>0.14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280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0">
                <a:solidFill>
                  <a:srgbClr val="4A4238"/>
                </a:solidFill>
                <a:latin typeface="Inter"/>
              </a:defRPr>
            </a:pPr>
            <a:r>
              <a:t>months_active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03120" y="4965192"/>
            <a:ext cx="1828800" cy="164592"/>
          </a:xfrm>
          <a:prstGeom prst="round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103120" y="4965192"/>
            <a:ext cx="1097280" cy="164592"/>
          </a:xfrm>
          <a:prstGeom prst="roundRect">
            <a:avLst/>
          </a:prstGeom>
          <a:solidFill>
            <a:srgbClr val="4A4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0" y="4828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1">
                <a:solidFill>
                  <a:srgbClr val="0F0F0F"/>
                </a:solidFill>
                <a:latin typeface="Inter"/>
              </a:defRPr>
            </a:pPr>
            <a:r>
              <a:t>0.12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15721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0">
                <a:solidFill>
                  <a:srgbClr val="4A4238"/>
                </a:solidFill>
                <a:latin typeface="Inter"/>
              </a:defRPr>
            </a:pPr>
            <a:r>
              <a:t>avg_order_value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03120" y="5294376"/>
            <a:ext cx="1828800" cy="164592"/>
          </a:xfrm>
          <a:prstGeom prst="round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103120" y="5294376"/>
            <a:ext cx="1005839" cy="164592"/>
          </a:xfrm>
          <a:prstGeom prst="roundRect">
            <a:avLst/>
          </a:prstGeom>
          <a:solidFill>
            <a:srgbClr val="4A4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23360" y="515721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1">
                <a:solidFill>
                  <a:srgbClr val="0F0F0F"/>
                </a:solidFill>
                <a:latin typeface="Inter"/>
              </a:defRPr>
            </a:pPr>
            <a:r>
              <a:t>0.11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4864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0">
                <a:solidFill>
                  <a:srgbClr val="4A4238"/>
                </a:solidFill>
                <a:latin typeface="Inter"/>
              </a:defRPr>
            </a:pPr>
            <a:r>
              <a:t>browsing_time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03120" y="5623560"/>
            <a:ext cx="1828800" cy="164592"/>
          </a:xfrm>
          <a:prstGeom prst="round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103120" y="5623560"/>
            <a:ext cx="822959" cy="164592"/>
          </a:xfrm>
          <a:prstGeom prst="roundRect">
            <a:avLst/>
          </a:prstGeom>
          <a:solidFill>
            <a:srgbClr val="8A7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23360" y="54864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1">
                <a:solidFill>
                  <a:srgbClr val="0F0F0F"/>
                </a:solidFill>
                <a:latin typeface="Inter"/>
              </a:defRPr>
            </a:pPr>
            <a:r>
              <a:t>0.09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81558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0">
                <a:solidFill>
                  <a:srgbClr val="4A4238"/>
                </a:solidFill>
                <a:latin typeface="Inter"/>
              </a:defRPr>
            </a:pPr>
            <a:r>
              <a:t>discount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03120" y="5952744"/>
            <a:ext cx="1828800" cy="164592"/>
          </a:xfrm>
          <a:prstGeom prst="round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103120" y="5952744"/>
            <a:ext cx="640080" cy="164592"/>
          </a:xfrm>
          <a:prstGeom prst="roundRect">
            <a:avLst/>
          </a:prstGeom>
          <a:solidFill>
            <a:srgbClr val="8A7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23360" y="581558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1">
                <a:solidFill>
                  <a:srgbClr val="0F0F0F"/>
                </a:solidFill>
                <a:latin typeface="Inter"/>
              </a:defRPr>
            </a:pPr>
            <a:r>
              <a:t>0.07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1447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0">
                <a:solidFill>
                  <a:srgbClr val="4A4238"/>
                </a:solidFill>
                <a:latin typeface="Inter"/>
              </a:defRPr>
            </a:pPr>
            <a:r>
              <a:t>return_rate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03120" y="6281928"/>
            <a:ext cx="1828800" cy="164592"/>
          </a:xfrm>
          <a:prstGeom prst="round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103120" y="6281928"/>
            <a:ext cx="548640" cy="164592"/>
          </a:xfrm>
          <a:prstGeom prst="roundRect">
            <a:avLst/>
          </a:prstGeom>
          <a:solidFill>
            <a:srgbClr val="8A7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23360" y="614476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1">
                <a:solidFill>
                  <a:srgbClr val="0F0F0F"/>
                </a:solidFill>
                <a:latin typeface="Inter"/>
              </a:defRPr>
            </a:pPr>
            <a:r>
              <a:t>0.06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54880" y="3474720"/>
            <a:ext cx="3200400" cy="2834640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754880" y="3520439"/>
            <a:ext cx="45720" cy="27432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83480" y="3611879"/>
            <a:ext cx="2743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900" b="0">
                <a:solidFill>
                  <a:srgbClr val="0F0F0F"/>
                </a:solidFill>
                <a:latin typeface="Inter"/>
              </a:defRPr>
            </a:pPr>
            <a:r>
              <a:t>BIAS-VARIANCE (50K)</a:t>
            </a:r>
            <a:br/>
            <a:r>
              <a:t>Train 66.7% vs Val 66.0% gap 0.7% — low variance, good generalization, 50k large enough to avoid overfitting. Learning curve flat after 30k — more data not needed.</a:t>
            </a:r>
            <a:br/>
            <a:br/>
            <a:r>
              <a:t>WHY LOGISTIC REGRESSION?</a:t>
            </a:r>
            <a:br/>
            <a:r>
              <a:t>Interpretable — you can see WHY customer is High_Value (income +0.95). Linear, regularized L2 C=10, fast 42ms latency, 66.4% accuracy good for real 4-class problem. Random Forest 75.1% CV better accuracy but less interpretable — we have it in metrics for comparison. Business prefers interpretability.</a:t>
            </a:r>
            <a:br/>
            <a:br/>
            <a:r>
              <a:t>COEFFICIENTS</a:t>
            </a:r>
            <a:br/>
            <a:r>
              <a:t>4 × 16 matrix = 64 coefs + 4 intercepts. Each class has 16 weights. High_Value income +0.95 strongest positive across all classes.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0" y="3474720"/>
            <a:ext cx="320040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29600" y="3520439"/>
            <a:ext cx="45720" cy="2743200"/>
          </a:xfrm>
          <a:prstGeom prst="rect">
            <a:avLst/>
          </a:prstGeom>
          <a:solidFill>
            <a:srgbClr val="0E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58200" y="3611879"/>
            <a:ext cx="2743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900" b="0">
                <a:solidFill>
                  <a:srgbClr val="0F0F0F"/>
                </a:solidFill>
                <a:latin typeface="Inter"/>
              </a:defRPr>
            </a:pPr>
            <a:r>
              <a:t>BUSINESS ACTIONS</a:t>
            </a:r>
            <a:br/>
            <a:br/>
            <a:r>
              <a:t>Occasional 44% → Win-back campaign, discount 10% but watch return rate, support follow-up</a:t>
            </a:r>
            <a:br/>
            <a:r>
              <a:t>Regular 27% → Nurture to Loyal, tenure rewards, frequency incentives</a:t>
            </a:r>
            <a:br/>
            <a:r>
              <a:t>Loyal 18% → Early access, retention, low support 0.8 means happy</a:t>
            </a:r>
            <a:br/>
            <a:r>
              <a:t>High_Value 11% → VIP concierge, personal shopper, no discount needed (discount -0.65), high LTV</a:t>
            </a:r>
            <a:br/>
            <a:br/>
            <a:r>
              <a:t>CALIBRATION</a:t>
            </a:r>
            <a:br/>
            <a:r>
              <a:t>Well-calibrated — 70% confidence means ~70% correct. Business can trust confidence scores for VIP decisions. Only give VIP if High_Value prob &gt;70%.</a:t>
            </a:r>
            <a:br/>
            <a:br/>
            <a:r>
              <a:t>REAL vs SYNTHETIC</a:t>
            </a:r>
            <a:br/>
            <a:r>
              <a:t>Synthetic 3.5k 89% too easy — separable clusters. Real 50k 66% realistic — overlapping behavior, missing values, imbalanced. Better for learning.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750" b="0">
                <a:solidFill>
                  <a:srgbClr val="A89F90"/>
                </a:solidFill>
                <a:latin typeface="Inter"/>
              </a:defRPr>
            </a:pPr>
            <a:r>
              <a:t>RETAIL OPS • KAGGLE 50K REAL • LENS v3.0 • 14/17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263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2200" b="1">
                <a:solidFill>
                  <a:srgbClr val="D1C7B8"/>
                </a:solidFill>
                <a:latin typeface="Inter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50" b="1">
                <a:solidFill>
                  <a:srgbClr val="8A7D6E"/>
                </a:solidFill>
                <a:latin typeface="Inter"/>
              </a:defRPr>
            </a:pPr>
            <a:r>
              <a:t>LIVE DEMO  •  LENS v3.0  •  KAGGLE 50K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400" b="1">
                <a:solidFill>
                  <a:srgbClr val="0F0F0F"/>
                </a:solidFill>
                <a:latin typeface="Inter"/>
              </a:defRPr>
            </a:pPr>
            <a:r>
              <a:t>Try it live: real 50k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2700"/>
          </a:xfrm>
          <a:prstGeom prst="rect">
            <a:avLst/>
          </a:prstGeom>
          <a:solidFill>
            <a:srgbClr val="E8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029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45720" cy="82296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900" b="0">
                <a:solidFill>
                  <a:srgbClr val="0F0F0F"/>
                </a:solidFill>
                <a:latin typeface="Inter"/>
              </a:defRPr>
            </a:pPr>
            <a:r>
              <a:t>URL</a:t>
            </a:r>
            <a:br/>
            <a:r>
              <a:t>http://127.0.0.1:5000  •  Flask 0.0.0.0:5000  •  Lens v3.0 Kaggle 50k  •  Generic Retail Ops branding</a:t>
            </a:r>
            <a:br/>
            <a:br/>
            <a:r>
              <a:t>CUSTOMERS TAB</a:t>
            </a:r>
            <a:br/>
            <a:r>
              <a:t>120 sampled from 50k real Kaggle, Filters: Occasional/Regular/Loyal/High_Value, Columns: Age, Income, Months, Spend, Freq, Region, Payment, Click row → loads into Predict tab, KPIs: Total 120, Avg spend ₹320, High_Value count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50292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063239"/>
            <a:ext cx="45720" cy="155448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154679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900" b="0">
                <a:solidFill>
                  <a:srgbClr val="0F0F0F"/>
                </a:solidFill>
                <a:latin typeface="Inter"/>
              </a:defRPr>
            </a:pPr>
            <a:r>
              <a:t>PREDICT TAB</a:t>
            </a:r>
            <a:br/>
            <a:r>
              <a:t>12 inputs matching Kaggle schema: age, annual_income, months_active, avg_monthly_spend, purchase_frequency, avg_order_value, discount_usage_rate, return_rate, browsing_time_minutes, support_interactions, payment_method, region</a:t>
            </a:r>
            <a:br/>
            <a:r>
              <a:t>Examples: High_Value ex (45y 120k 72mo 650 spend 4.5 freq), Loyal ex, Occasional ex</a:t>
            </a:r>
            <a:br/>
            <a:r>
              <a:t>Auto-predict on typing, Enter to run, Result: category pill + confidence + business action + probability bars + why + request_id + 6-stage trace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46320"/>
            <a:ext cx="50292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892040"/>
            <a:ext cx="45720" cy="1371600"/>
          </a:xfrm>
          <a:prstGeom prst="rect">
            <a:avLst/>
          </a:prstGeom>
          <a:solidFill>
            <a:srgbClr val="0E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8348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900" b="0">
                <a:solidFill>
                  <a:srgbClr val="0F0F0F"/>
                </a:solidFill>
                <a:latin typeface="Inter"/>
              </a:defRPr>
            </a:pPr>
            <a:r>
              <a:t>INSIGHTS TAB</a:t>
            </a:r>
            <a:br/>
            <a:r>
              <a:t>Category distribution bar: 7.5k test — Occasional 44% biggest</a:t>
            </a:r>
            <a:br/>
            <a:r>
              <a:t>Feature importance bar: monthly_spend 0.18 top</a:t>
            </a:r>
            <a:br/>
            <a:r>
              <a:t>Customer map t-SNE scatter: 4 colors, 3k sample of 50k</a:t>
            </a:r>
            <a:br/>
            <a:r>
              <a:t>Performance: Accuracy 66.4%, ROC-AUC 0.87, table Prec/Rec/F1</a:t>
            </a:r>
            <a:br/>
            <a:br/>
            <a:r>
              <a:t>SEGMENTS TAB</a:t>
            </a:r>
            <a:br/>
            <a:r>
              <a:t>4 cards: Occasional 44% 22k, Regular 27% 13k, Loyal 18% 9k, High_Value 11% 5k VIP — each: % of base, description, avg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0F0F0F"/>
          </a:solidFill>
          <a:ln w="12700"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574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800" b="0">
                <a:solidFill>
                  <a:srgbClr val="FFFFFF"/>
                </a:solidFill>
                <a:latin typeface="Inter"/>
              </a:defRPr>
            </a:pPr>
            <a:r>
              <a:t>API EXAMPLE</a:t>
            </a:r>
            <a:br/>
            <a:br/>
            <a:r>
              <a:t>curl -X POST http://127.0.0.1:5000/api/predict \</a:t>
            </a:r>
            <a:br/>
            <a:r>
              <a:t>  -H "Content-Type: application/json" \</a:t>
            </a:r>
            <a:br/>
            <a:r>
              <a:t>  -d '{</a:t>
            </a:r>
            <a:br/>
            <a:r>
              <a:t>    "age":45,</a:t>
            </a:r>
            <a:br/>
            <a:r>
              <a:t>    "annual_income":120000,</a:t>
            </a:r>
            <a:br/>
            <a:r>
              <a:t>    "months_active":72,</a:t>
            </a:r>
            <a:br/>
            <a:r>
              <a:t>    "avg_monthly_spend":650,</a:t>
            </a:r>
            <a:br/>
            <a:r>
              <a:t>    "purchase_frequency":4.5,</a:t>
            </a:r>
            <a:br/>
            <a:r>
              <a:t>    "avg_order_value":280,</a:t>
            </a:r>
            <a:br/>
            <a:r>
              <a:t>    "discount_usage_rate":0.05,</a:t>
            </a:r>
            <a:br/>
            <a:r>
              <a:t>    "return_rate":0.02,</a:t>
            </a:r>
            <a:br/>
            <a:r>
              <a:t>    "browsing_time_minutes":95,</a:t>
            </a:r>
            <a:br/>
            <a:r>
              <a:t>    "support_interactions":0,</a:t>
            </a:r>
            <a:br/>
            <a:r>
              <a:t>    "payment_method":"Card",</a:t>
            </a:r>
            <a:br/>
            <a:r>
              <a:t>    "region":"Urban"</a:t>
            </a:r>
            <a:br/>
            <a:r>
              <a:t>  }'</a:t>
            </a:r>
            <a:br/>
            <a:br/>
            <a:r>
              <a:t>RETURNS</a:t>
            </a:r>
            <a:br/>
            <a:r>
              <a:t>{</a:t>
            </a:r>
            <a:br/>
            <a:r>
              <a:t>  "prediction": "High_Value",</a:t>
            </a:r>
            <a:br/>
            <a:r>
              <a:t>  "probabilities": {</a:t>
            </a:r>
            <a:br/>
            <a:r>
              <a:t>    "High_Value": 0.78,</a:t>
            </a:r>
            <a:br/>
            <a:r>
              <a:t>    "Loyal": 0.15,</a:t>
            </a:r>
            <a:br/>
            <a:r>
              <a:t>    "Regular": 0.05,</a:t>
            </a:r>
            <a:br/>
            <a:r>
              <a:t>    "Occasional": 0.02</a:t>
            </a:r>
            <a:br/>
            <a:r>
              <a:t>  },</a:t>
            </a:r>
            <a:br/>
            <a:r>
              <a:t>  "confidence": 0.78,</a:t>
            </a:r>
            <a:br/>
            <a:r>
              <a:t>  "business_action": "VIP concierge",</a:t>
            </a:r>
            <a:br/>
            <a:r>
              <a:t>  "latency_ms": 42,</a:t>
            </a:r>
            <a:br/>
            <a:r>
              <a:t>  "request_id": "req_abc123",</a:t>
            </a:r>
            <a:br/>
            <a:r>
              <a:t>  "trace": [6 stages]</a:t>
            </a:r>
            <a:br/>
            <a: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750" b="0">
                <a:solidFill>
                  <a:srgbClr val="A89F90"/>
                </a:solidFill>
                <a:latin typeface="Inter"/>
              </a:defRPr>
            </a:pPr>
            <a:r>
              <a:t>RETAIL OPS • KAGGLE 50K REAL • LENS v3.0 • 15/17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263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2200" b="1">
                <a:solidFill>
                  <a:srgbClr val="D1C7B8"/>
                </a:solidFill>
                <a:latin typeface="Inter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50" b="1">
                <a:solidFill>
                  <a:srgbClr val="8A7D6E"/>
                </a:solidFill>
                <a:latin typeface="Inter"/>
              </a:defRPr>
            </a:pPr>
            <a:r>
              <a:t>CO MAPPING  •  6 COS  •  REAL 50K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400" b="1">
                <a:solidFill>
                  <a:srgbClr val="0F0F0F"/>
                </a:solidFill>
                <a:latin typeface="Inter"/>
              </a:defRPr>
            </a:pPr>
            <a:r>
              <a:t>All 6 COs covered with real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2700"/>
          </a:xfrm>
          <a:prstGeom prst="rect">
            <a:avLst/>
          </a:prstGeom>
          <a:solidFill>
            <a:srgbClr val="E8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058399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645920"/>
                <a:gridCol w="7498079"/>
              </a:tblGrid>
              <a:tr h="627017"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CO</a:t>
                      </a:r>
                    </a:p>
                  </a:txBody>
                  <a:tcPr anchor="t"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What</a:t>
                      </a:r>
                    </a:p>
                  </a:txBody>
                  <a:tcPr anchor="t"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Where in project (real 50k) • Premium Proof</a:t>
                      </a:r>
                    </a:p>
                  </a:txBody>
                  <a:tcPr anchor="t">
                    <a:solidFill>
                      <a:srgbClr val="0F0F0F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CO1 Lifecycle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Data→Features→Training→Eval→Deploy→Monitor + lineage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Data: Kaggle 50k CSV 7.4M, Features: Feature Store v3.0 12→16 versioned, Training: LogReg L2 C=10 + RF 100 trees + KMeans 3k sample, Eval: CV 66.6%±0.3% Test 66.4% 7.5k ROC-AUC 0.87, Deploy: Flask :5000 6 endpoints, Monitor: PSI drift + latency avg + logs 500, Trace: 6 stages per /api/predict with request_id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CO2 Linear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Multinomial LogReg, Ridge/Lasso/ElasticNet, bias-variance, scaling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LogReg softmax 16→4 4×16 coefs, L2 C=10 best 66.7% CV vs C=0.1 64% underfit, L1 sparsity, ElasticNet, gap 0.7% low variance good generalization, StandardScaler 10 numeric mean=0 std=1 required for lbfgs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CO3 Tree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Decision Tree, RF, XGBoost, LightGBM, importance, ensemble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DT Gini max_depth 8 62% acc, RF 100 trees bagging 75.1% CV best, XGBoost 76% optional, monthly_spend 0.18 top importance, splitting Gini vs Entropy, ensemble variance reduction via bagging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CO4 Unsupervised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KMeans, Hierarchical, DBSCAN, PCA, t-SNE, UMAP, anomaly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KMeans k=4 sil 0.32 matches true 4 classes, Hierarchical Agglomerative 4 clusters 2 branches, DBSCAN eps=2.5 noise 8% outliers, PCA 2D 58% var High_Value separated, t-SNE 800 sample 4 colors, UMAP optional, Anomaly IsolationForest 5% = 2,500 anomalies in 50k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CO5 Evaluation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CV, splits, acc/prec/rec/F1/ROC-AUC, calibration, search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0F0F"/>
                          </a:solidFill>
                          <a:latin typeface="Inter"/>
                        </a:defRPr>
                      </a:pPr>
                      <a:r>
                        <a:t>5-fold CV 66.6%±0.3% stable, train/val/test 35k/7.48k/7.5k stratified 70/15/15 preserves 44/27/18/11, acc 66.4% ROC-AUC 0.87, Grid C=10 L2 best, Random RF 150 trees best, Bayesian 5 trials, ConfMat Occasional 82% rec best Regular 43% hardest, calibration well-calibrated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CO6 ML Eng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Feature store, skew avoidance, packaging, REST, drift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4A4238"/>
                          </a:solidFill>
                          <a:latin typeface="Inter"/>
                        </a:defRPr>
                      </a:pPr>
                      <a:r>
                        <a:t>Feature Store v3.0-kaggle versioned, 6 skew checks (same imputer/scaler/one-hot/order/validation/ID ignore), pickle 7.6M total protocol 4, REST Flask 6 endpoints 0.0.0.0:5000, drift PSI 0.05+occ_ratio*0.2 monitoring, request lineage 6 stages</a:t>
                      </a:r>
                    </a:p>
                  </a:txBody>
                  <a:tcPr anchor="t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750" b="0">
                <a:solidFill>
                  <a:srgbClr val="A89F90"/>
                </a:solidFill>
                <a:latin typeface="Inter"/>
              </a:defRPr>
            </a:pPr>
            <a:r>
              <a:t>RETAIL OPS • KAGGLE 50K REAL • LENS v3.0 • 16/17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263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2200" b="1">
                <a:solidFill>
                  <a:srgbClr val="D1C7B8"/>
                </a:solidFill>
                <a:latin typeface="Inter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57200" y="13716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0" b="1">
                <a:solidFill>
                  <a:srgbClr val="1A1A1A"/>
                </a:solidFill>
                <a:latin typeface="Inter"/>
              </a:defRPr>
            </a:pPr>
            <a:r>
              <a:t>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50" b="1">
                <a:solidFill>
                  <a:srgbClr val="888888"/>
                </a:solidFill>
                <a:latin typeface="Inter"/>
              </a:defRPr>
            </a:pPr>
            <a:r>
              <a:t>WRAP  •  KAGGLE REAL DATA  •  LENS v3.0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defRPr sz="5200" b="1">
                <a:solidFill>
                  <a:srgbClr val="FFFFFF"/>
                </a:solidFill>
                <a:latin typeface="Inter"/>
              </a:defRPr>
            </a:pPr>
            <a:r>
              <a:t>Real data,</a:t>
            </a:r>
            <a:br/>
            <a:r>
              <a:t>real model,</a:t>
            </a:r>
            <a:br/>
            <a:r>
              <a:t>real tool.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  <a:defRPr sz="1100" b="0">
                <a:solidFill>
                  <a:srgbClr val="BBBBBB"/>
                </a:solidFill>
                <a:latin typeface="Inter"/>
              </a:defRPr>
            </a:pPr>
            <a:r>
              <a:t>From synthetic 3,500 89% (too easy, separable clusters) to real Kaggle 50,000 66.4% (realistic, overlapping, missing values, imbalanced).</a:t>
            </a:r>
            <a:br/>
            <a:br/>
            <a:r>
              <a:t>50k real customers, 4 real categories, 12 real features, 7 cols real missing 1,979-3,934 each, 7.4 MB real CSV. Model trained on 35k, tested on 7.5k unseen, live at :5000, authentic internal tool Lens v3.0 with generic Retail Ops branding — not personal, not fake startup.</a:t>
            </a:r>
            <a:br/>
            <a:br/>
            <a:r>
              <a:t>Fixed clutter from BoxOffice v1:</a:t>
            </a:r>
            <a:br/>
            <a:r>
              <a:t>• Proper tables with grid, not overlapping textboxes</a:t>
            </a:r>
            <a:br/>
            <a:r>
              <a:t>• Rounded cards with accent left border, not flat boxes</a:t>
            </a:r>
            <a:br/>
            <a:r>
              <a:t>• KPI cards with badges, not plain numbers</a:t>
            </a:r>
            <a:br/>
            <a:r>
              <a:t>• Bar visuals for distribution &amp; importance</a:t>
            </a:r>
            <a:br/>
            <a:r>
              <a:t>• Fluid UI: blur glass, spring ease, hover lift, skeleton loading</a:t>
            </a:r>
            <a:br/>
            <a:br/>
            <a:r>
              <a:t>Kaggle source: rohit8527kmr7518 Online Retail Customer Classification, CC0, 1,388 downloads. Code: 17 files, 7.6M artifacts, Flask, sklearn 1.9.1, python-pptx.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9144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defRPr sz="7200" b="1">
                <a:solidFill>
                  <a:srgbClr val="FFFFFF"/>
                </a:solidFill>
                <a:latin typeface="Inter"/>
              </a:defRPr>
            </a:pPr>
            <a:r>
              <a:t>50K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73736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A89F90"/>
                </a:solidFill>
                <a:latin typeface="Inter"/>
              </a:defRPr>
            </a:pPr>
            <a:r>
              <a:t>REAL CUSTOMERS • KAGGLE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1031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3600" b="1">
                <a:solidFill>
                  <a:srgbClr val="FFFFFF"/>
                </a:solidFill>
                <a:latin typeface="Inter"/>
              </a:defRPr>
            </a:pPr>
            <a:r>
              <a:t>66.4%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1031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90000"/>
              </a:lnSpc>
              <a:defRPr sz="3600" b="1">
                <a:solidFill>
                  <a:srgbClr val="6B21A8"/>
                </a:solidFill>
                <a:latin typeface="Inter"/>
              </a:defRPr>
            </a:pPr>
            <a:r>
              <a:t>0.87</a:t>
            </a:r>
            <a:br/>
            <a:r>
              <a:t>ROC-AUC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3017520"/>
            <a:ext cx="4572000" cy="127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32004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  <a:defRPr sz="1100" b="0">
                <a:solidFill>
                  <a:srgbClr val="AAAAAA"/>
                </a:solidFill>
                <a:latin typeface="Inter"/>
              </a:defRPr>
            </a:pPr>
            <a:r>
              <a:t>12 → 16 features</a:t>
            </a:r>
            <a:br/>
            <a:r>
              <a:t>Median + OneHot + Scaler</a:t>
            </a:r>
            <a:br/>
            <a:r>
              <a:t>LogReg L2 C=10 • 42ms latency</a:t>
            </a:r>
            <a:br/>
            <a:r>
              <a:t>Lens v3.0 • Retail Ops • Live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4754880"/>
            <a:ext cx="1920239" cy="256032"/>
          </a:xfrm>
          <a:prstGeom prst="round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4773168"/>
            <a:ext cx="19202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800" b="1">
                <a:solidFill>
                  <a:srgbClr val="FFFFFF"/>
                </a:solidFill>
                <a:latin typeface="Inter"/>
              </a:defRPr>
            </a:pPr>
            <a:r>
              <a:t>KAGGLE 50K REAL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4754880"/>
            <a:ext cx="1261872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4773168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800" b="1">
                <a:solidFill>
                  <a:srgbClr val="0F0F0F"/>
                </a:solidFill>
                <a:latin typeface="Inter"/>
              </a:defRPr>
            </a:pPr>
            <a:r>
              <a:t>LENS v3.0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4754880"/>
            <a:ext cx="2029967" cy="256032"/>
          </a:xfrm>
          <a:prstGeom prst="round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4773168"/>
            <a:ext cx="202996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800" b="1">
                <a:solidFill>
                  <a:srgbClr val="0F0F0F"/>
                </a:solidFill>
                <a:latin typeface="Inter"/>
              </a:defRPr>
            </a:pPr>
            <a:r>
              <a:t>FLASK :5000 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750" b="0">
                <a:solidFill>
                  <a:srgbClr val="666666"/>
                </a:solidFill>
                <a:latin typeface="Inter"/>
              </a:defRPr>
            </a:pPr>
            <a:r>
              <a:t>RETAIL OPS • KAGGLE 50K REAL • LENS v3.0 • 17/17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263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2200" b="1">
                <a:solidFill>
                  <a:srgbClr val="333333"/>
                </a:solidFill>
                <a:latin typeface="Inter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