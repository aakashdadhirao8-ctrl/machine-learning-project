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23760" y="137160"/>
            <a:ext cx="5120640" cy="2651760"/>
          </a:xfrm>
          <a:prstGeom prst="rect">
            <a:avLst/>
          </a:prstGeom>
          <a:noFill/>
        </p:spPr>
        <p:txBody>
          <a:bodyPr wrap="square" lIns="0" rIns="0" tIns="0" bIns="0" anchor="t">
            <a:spAutoFit/>
          </a:bodyPr>
          <a:lstStyle/>
          <a:p>
            <a:pPr algn="r">
              <a:lnSpc>
                <a:spcPct val="90000"/>
              </a:lnSpc>
              <a:spcAft>
                <a:spcPts val="400"/>
              </a:spcAft>
            </a:pPr>
            <a:r>
              <a:rPr sz="20000" b="1" i="0">
                <a:solidFill>
                  <a:srgbClr val="EEE8DB"/>
                </a:solidFill>
                <a:latin typeface="Arial"/>
              </a:rPr>
              <a:t>50K</a:t>
            </a:r>
          </a:p>
        </p:txBody>
      </p:sp>
      <p:sp>
        <p:nvSpPr>
          <p:cNvPr id="4" name="TextBox 3"/>
          <p:cNvSpPr txBox="1"/>
          <p:nvPr/>
        </p:nvSpPr>
        <p:spPr>
          <a:xfrm>
            <a:off x="566928" y="640080"/>
            <a:ext cx="7315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MACHINE LEARNING PROJECT  •  REAL CUSTOMER DATA  •  50,000 PEOPLE</a:t>
            </a:r>
          </a:p>
        </p:txBody>
      </p:sp>
      <p:sp>
        <p:nvSpPr>
          <p:cNvPr id="5" name="Rectangle 4"/>
          <p:cNvSpPr/>
          <p:nvPr/>
        </p:nvSpPr>
        <p:spPr>
          <a:xfrm>
            <a:off x="566928" y="987552"/>
            <a:ext cx="2240280" cy="279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70432"/>
            <a:ext cx="6583680" cy="2377440"/>
          </a:xfrm>
          <a:prstGeom prst="rect">
            <a:avLst/>
          </a:prstGeom>
          <a:noFill/>
        </p:spPr>
        <p:txBody>
          <a:bodyPr wrap="square" lIns="0" rIns="0" tIns="0" bIns="0" anchor="t">
            <a:spAutoFit/>
          </a:bodyPr>
          <a:lstStyle/>
          <a:p>
            <a:pPr algn="l">
              <a:lnSpc>
                <a:spcPct val="102000"/>
              </a:lnSpc>
              <a:spcAft>
                <a:spcPts val="400"/>
              </a:spcAft>
            </a:pPr>
            <a:r>
              <a:rPr sz="5400" b="1" i="0">
                <a:solidFill>
                  <a:srgbClr val="141414"/>
                </a:solidFill>
                <a:latin typeface="Arial"/>
              </a:rPr>
              <a:t>Customer</a:t>
            </a:r>
          </a:p>
          <a:p>
            <a:pPr algn="l">
              <a:lnSpc>
                <a:spcPct val="102000"/>
              </a:lnSpc>
              <a:spcAft>
                <a:spcPts val="400"/>
              </a:spcAft>
            </a:pPr>
            <a:r>
              <a:rPr sz="5400" b="1" i="0">
                <a:solidFill>
                  <a:srgbClr val="141414"/>
                </a:solidFill>
                <a:latin typeface="Arial"/>
              </a:rPr>
              <a:t>Category</a:t>
            </a:r>
          </a:p>
          <a:p>
            <a:pPr algn="l">
              <a:lnSpc>
                <a:spcPct val="102000"/>
              </a:lnSpc>
              <a:spcAft>
                <a:spcPts val="400"/>
              </a:spcAft>
            </a:pPr>
            <a:r>
              <a:rPr sz="5400" b="1" i="0">
                <a:solidFill>
                  <a:srgbClr val="141414"/>
                </a:solidFill>
                <a:latin typeface="Arial"/>
              </a:rPr>
              <a:t>Prediction</a:t>
            </a:r>
          </a:p>
        </p:txBody>
      </p:sp>
      <p:sp>
        <p:nvSpPr>
          <p:cNvPr id="7" name="TextBox 6"/>
          <p:cNvSpPr txBox="1"/>
          <p:nvPr/>
        </p:nvSpPr>
        <p:spPr>
          <a:xfrm>
            <a:off x="566928" y="3675887"/>
            <a:ext cx="5577840" cy="914400"/>
          </a:xfrm>
          <a:prstGeom prst="rect">
            <a:avLst/>
          </a:prstGeom>
          <a:noFill/>
        </p:spPr>
        <p:txBody>
          <a:bodyPr wrap="square" lIns="0" rIns="0" tIns="0" bIns="0" anchor="t">
            <a:spAutoFit/>
          </a:bodyPr>
          <a:lstStyle/>
          <a:p>
            <a:pPr algn="l">
              <a:lnSpc>
                <a:spcPct val="130000"/>
              </a:lnSpc>
              <a:spcAft>
                <a:spcPts val="400"/>
              </a:spcAft>
            </a:pPr>
            <a:r>
              <a:rPr sz="1300" b="0" i="0">
                <a:solidFill>
                  <a:srgbClr val="4A453C"/>
                </a:solidFill>
                <a:latin typeface="Arial"/>
              </a:rPr>
              <a:t>We taught a computer to read 50,000 real shoppers and sort each one into 4 groups — so the shop knows who needs a nudge, who needs help, and who deserves VIP treatment.</a:t>
            </a:r>
          </a:p>
        </p:txBody>
      </p:sp>
      <p:sp>
        <p:nvSpPr>
          <p:cNvPr id="8" name="Rounded Rectangle 7"/>
          <p:cNvSpPr/>
          <p:nvPr/>
        </p:nvSpPr>
        <p:spPr>
          <a:xfrm>
            <a:off x="658368" y="4709160"/>
            <a:ext cx="4114800" cy="153619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4837176"/>
            <a:ext cx="50292" cy="1280160"/>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4855464"/>
            <a:ext cx="3712464" cy="1261872"/>
          </a:xfrm>
          <a:prstGeom prst="rect">
            <a:avLst/>
          </a:prstGeom>
          <a:noFill/>
        </p:spPr>
        <p:txBody>
          <a:bodyPr wrap="square" lIns="0" rIns="0" tIns="0" bIns="0" anchor="t">
            <a:spAutoFit/>
          </a:bodyPr>
          <a:lstStyle/>
          <a:p>
            <a:pPr algn="l">
              <a:lnSpc>
                <a:spcPct val="106000"/>
              </a:lnSpc>
              <a:spcAft>
                <a:spcPts val="800"/>
              </a:spcAft>
            </a:pPr>
            <a:r>
              <a:rPr sz="1050" b="1" i="0" spc="90">
                <a:solidFill>
                  <a:srgbClr val="141414"/>
                </a:solidFill>
                <a:latin typeface="Arial"/>
              </a:rPr>
              <a:t>WHERE THE DATA COMES FROM</a:t>
            </a:r>
          </a:p>
          <a:p>
            <a:pPr algn="l">
              <a:lnSpc>
                <a:spcPct val="112000"/>
              </a:lnSpc>
              <a:spcAft>
                <a:spcPts val="500"/>
              </a:spcAft>
            </a:pPr>
            <a:r>
              <a:rPr sz="1000" b="0" i="0">
                <a:solidFill>
                  <a:srgbClr val="2A2722"/>
                </a:solidFill>
                <a:latin typeface="Arial"/>
              </a:rPr>
              <a:t>Real online-shop customers from Kaggle (open dataset, free to use)</a:t>
            </a:r>
          </a:p>
          <a:p>
            <a:pPr algn="l">
              <a:lnSpc>
                <a:spcPct val="112000"/>
              </a:lnSpc>
              <a:spcAft>
                <a:spcPts val="500"/>
              </a:spcAft>
            </a:pPr>
            <a:r>
              <a:rPr sz="1000" b="0" i="0">
                <a:solidFill>
                  <a:srgbClr val="2A2722"/>
                </a:solidFill>
                <a:latin typeface="Arial"/>
              </a:rPr>
              <a:t>50,000 customers  •  14 details each  •  4 groups</a:t>
            </a:r>
          </a:p>
          <a:p>
            <a:pPr algn="l">
              <a:lnSpc>
                <a:spcPct val="112000"/>
              </a:lnSpc>
              <a:spcAft>
                <a:spcPts val="500"/>
              </a:spcAft>
            </a:pPr>
            <a:r>
              <a:rPr sz="1000" b="0" i="0">
                <a:solidFill>
                  <a:srgbClr val="2A2722"/>
                </a:solidFill>
                <a:latin typeface="Arial"/>
              </a:rPr>
              <a:t>Occasional 44%  •  Regular 27%  •  Loyal 18%  •  High-Value 11%</a:t>
            </a:r>
          </a:p>
        </p:txBody>
      </p:sp>
      <p:sp>
        <p:nvSpPr>
          <p:cNvPr id="11" name="TextBox 10"/>
          <p:cNvSpPr txBox="1"/>
          <p:nvPr/>
        </p:nvSpPr>
        <p:spPr>
          <a:xfrm>
            <a:off x="9052560" y="1298448"/>
            <a:ext cx="2651760" cy="1005840"/>
          </a:xfrm>
          <a:prstGeom prst="rect">
            <a:avLst/>
          </a:prstGeom>
          <a:noFill/>
        </p:spPr>
        <p:txBody>
          <a:bodyPr wrap="square" lIns="0" rIns="0" tIns="0" bIns="0" anchor="t">
            <a:spAutoFit/>
          </a:bodyPr>
          <a:lstStyle/>
          <a:p>
            <a:pPr algn="r">
              <a:lnSpc>
                <a:spcPct val="106000"/>
              </a:lnSpc>
              <a:spcAft>
                <a:spcPts val="400"/>
              </a:spcAft>
            </a:pPr>
            <a:r>
              <a:rPr sz="6200" b="1" i="0">
                <a:solidFill>
                  <a:srgbClr val="141414"/>
                </a:solidFill>
                <a:latin typeface="Arial"/>
              </a:rPr>
              <a:t>50K</a:t>
            </a:r>
          </a:p>
        </p:txBody>
      </p:sp>
      <p:sp>
        <p:nvSpPr>
          <p:cNvPr id="12" name="Rectangle 11"/>
          <p:cNvSpPr/>
          <p:nvPr/>
        </p:nvSpPr>
        <p:spPr>
          <a:xfrm>
            <a:off x="9464040" y="2212848"/>
            <a:ext cx="2240280" cy="25400"/>
          </a:xfrm>
          <a:prstGeom prst="rect">
            <a:avLst/>
          </a:prstGeom>
          <a:solidFill>
            <a:srgbClr val="CF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882127" y="2560320"/>
            <a:ext cx="1627632" cy="111556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7848" y="2651760"/>
            <a:ext cx="1536192" cy="95097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66.4%</a:t>
            </a:r>
          </a:p>
          <a:p>
            <a:pPr algn="ctr">
              <a:lnSpc>
                <a:spcPct val="106000"/>
              </a:lnSpc>
              <a:spcAft>
                <a:spcPts val="0"/>
              </a:spcAft>
            </a:pPr>
            <a:r>
              <a:rPr sz="850" b="1" i="0" spc="80">
                <a:solidFill>
                  <a:srgbClr val="6E685C"/>
                </a:solidFill>
                <a:latin typeface="Arial"/>
              </a:rPr>
              <a:t>ACCURACY</a:t>
            </a:r>
          </a:p>
          <a:p>
            <a:pPr algn="ctr">
              <a:lnSpc>
                <a:spcPct val="106000"/>
              </a:lnSpc>
              <a:spcAft>
                <a:spcPts val="0"/>
              </a:spcAft>
            </a:pPr>
            <a:r>
              <a:rPr sz="750" b="0" i="0">
                <a:solidFill>
                  <a:srgbClr val="B5AEA0"/>
                </a:solidFill>
                <a:latin typeface="Arial"/>
              </a:rPr>
              <a:t>right 2 in 3</a:t>
            </a:r>
          </a:p>
        </p:txBody>
      </p:sp>
      <p:sp>
        <p:nvSpPr>
          <p:cNvPr id="15" name="Rounded Rectangle 14"/>
          <p:cNvSpPr/>
          <p:nvPr/>
        </p:nvSpPr>
        <p:spPr>
          <a:xfrm>
            <a:off x="9646920" y="2560320"/>
            <a:ext cx="1627632" cy="111556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2651760"/>
            <a:ext cx="1536192" cy="95097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0.87</a:t>
            </a:r>
          </a:p>
          <a:p>
            <a:pPr algn="ctr">
              <a:lnSpc>
                <a:spcPct val="106000"/>
              </a:lnSpc>
              <a:spcAft>
                <a:spcPts val="0"/>
              </a:spcAft>
            </a:pPr>
            <a:r>
              <a:rPr sz="850" b="1" i="0" spc="80">
                <a:solidFill>
                  <a:srgbClr val="6E685C"/>
                </a:solidFill>
                <a:latin typeface="Arial"/>
              </a:rPr>
              <a:t>MODEL SCORE</a:t>
            </a:r>
          </a:p>
          <a:p>
            <a:pPr algn="ctr">
              <a:lnSpc>
                <a:spcPct val="106000"/>
              </a:lnSpc>
              <a:spcAft>
                <a:spcPts val="0"/>
              </a:spcAft>
            </a:pPr>
            <a:r>
              <a:rPr sz="750" b="0" i="0">
                <a:solidFill>
                  <a:srgbClr val="B5AEA0"/>
                </a:solidFill>
                <a:latin typeface="Arial"/>
              </a:rPr>
              <a:t>out of 1.00</a:t>
            </a:r>
          </a:p>
        </p:txBody>
      </p:sp>
      <p:sp>
        <p:nvSpPr>
          <p:cNvPr id="17" name="Rounded Rectangle 16"/>
          <p:cNvSpPr/>
          <p:nvPr/>
        </p:nvSpPr>
        <p:spPr>
          <a:xfrm>
            <a:off x="7882127" y="3822191"/>
            <a:ext cx="1627632" cy="111556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7848" y="3913631"/>
            <a:ext cx="1536192" cy="95097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12→16</a:t>
            </a:r>
          </a:p>
          <a:p>
            <a:pPr algn="ctr">
              <a:lnSpc>
                <a:spcPct val="106000"/>
              </a:lnSpc>
              <a:spcAft>
                <a:spcPts val="0"/>
              </a:spcAft>
            </a:pPr>
            <a:r>
              <a:rPr sz="850" b="1" i="0" spc="80">
                <a:solidFill>
                  <a:srgbClr val="6E685C"/>
                </a:solidFill>
                <a:latin typeface="Arial"/>
              </a:rPr>
              <a:t>DETAILS USED</a:t>
            </a:r>
          </a:p>
          <a:p>
            <a:pPr algn="ctr">
              <a:lnSpc>
                <a:spcPct val="106000"/>
              </a:lnSpc>
              <a:spcAft>
                <a:spcPts val="0"/>
              </a:spcAft>
            </a:pPr>
            <a:r>
              <a:rPr sz="750" b="0" i="0">
                <a:solidFill>
                  <a:srgbClr val="B5AEA0"/>
                </a:solidFill>
                <a:latin typeface="Arial"/>
              </a:rPr>
              <a:t>12 basic → 16 ready</a:t>
            </a:r>
          </a:p>
        </p:txBody>
      </p:sp>
      <p:sp>
        <p:nvSpPr>
          <p:cNvPr id="19" name="Rounded Rectangle 18"/>
          <p:cNvSpPr/>
          <p:nvPr/>
        </p:nvSpPr>
        <p:spPr>
          <a:xfrm>
            <a:off x="9646920" y="3822191"/>
            <a:ext cx="1627632" cy="111556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3913631"/>
            <a:ext cx="1536192" cy="950976"/>
          </a:xfrm>
          <a:prstGeom prst="rect">
            <a:avLst/>
          </a:prstGeom>
          <a:noFill/>
        </p:spPr>
        <p:txBody>
          <a:bodyPr wrap="square" lIns="0" rIns="0" tIns="0" bIns="0" anchor="t">
            <a:spAutoFit/>
          </a:bodyPr>
          <a:lstStyle/>
          <a:p>
            <a:pPr algn="ctr">
              <a:spcAft>
                <a:spcPts val="100"/>
              </a:spcAft>
            </a:pPr>
            <a:r>
              <a:rPr sz="2000" b="1">
                <a:solidFill>
                  <a:srgbClr val="141414"/>
                </a:solidFill>
                <a:latin typeface="Arial"/>
              </a:rPr>
              <a:t>Lens v3.0</a:t>
            </a:r>
          </a:p>
          <a:p>
            <a:pPr algn="ctr">
              <a:lnSpc>
                <a:spcPct val="106000"/>
              </a:lnSpc>
              <a:spcAft>
                <a:spcPts val="0"/>
              </a:spcAft>
            </a:pPr>
            <a:r>
              <a:rPr sz="850" b="1" i="0" spc="80">
                <a:solidFill>
                  <a:srgbClr val="6E685C"/>
                </a:solidFill>
                <a:latin typeface="Arial"/>
              </a:rPr>
              <a:t>LIVE WEBSITE</a:t>
            </a:r>
          </a:p>
          <a:p>
            <a:pPr algn="ctr">
              <a:lnSpc>
                <a:spcPct val="106000"/>
              </a:lnSpc>
              <a:spcAft>
                <a:spcPts val="0"/>
              </a:spcAft>
            </a:pPr>
            <a:r>
              <a:rPr sz="750" b="0" i="0">
                <a:solidFill>
                  <a:srgbClr val="B5AEA0"/>
                </a:solidFill>
                <a:latin typeface="Arial"/>
              </a:rPr>
              <a:t>opens in a browser</a:t>
            </a:r>
          </a:p>
        </p:txBody>
      </p:sp>
      <p:sp>
        <p:nvSpPr>
          <p:cNvPr id="21" name="TextBox 20"/>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01/17</a:t>
            </a:r>
          </a:p>
        </p:txBody>
      </p:sp>
      <p:sp>
        <p:nvSpPr>
          <p:cNvPr id="22" name="TextBox 21"/>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ROADMAP  •  11 STEPS  •  REAL 50K</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From raw data to working website</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5236" y="1938528"/>
            <a:ext cx="20320" cy="3995928"/>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897380"/>
            <a:ext cx="123444" cy="123444"/>
          </a:xfrm>
          <a:prstGeom prst="ellipse">
            <a:avLst/>
          </a:prstGeom>
          <a:solidFill>
            <a:srgbClr val="6B21A8"/>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28800"/>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6B21A8"/>
                </a:solidFill>
                <a:latin typeface="Arial"/>
              </a:rPr>
              <a:t>01</a:t>
            </a:r>
          </a:p>
        </p:txBody>
      </p:sp>
      <p:sp>
        <p:nvSpPr>
          <p:cNvPr id="9" name="TextBox 8"/>
          <p:cNvSpPr txBox="1"/>
          <p:nvPr/>
        </p:nvSpPr>
        <p:spPr>
          <a:xfrm>
            <a:off x="1463040" y="1801368"/>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Problem</a:t>
            </a:r>
          </a:p>
        </p:txBody>
      </p:sp>
      <p:sp>
        <p:nvSpPr>
          <p:cNvPr id="10" name="TextBox 9"/>
          <p:cNvSpPr txBox="1"/>
          <p:nvPr/>
        </p:nvSpPr>
        <p:spPr>
          <a:xfrm>
            <a:off x="3291840" y="1837944"/>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what are we solving?</a:t>
            </a:r>
          </a:p>
        </p:txBody>
      </p:sp>
      <p:sp>
        <p:nvSpPr>
          <p:cNvPr id="11" name="Oval 10"/>
          <p:cNvSpPr/>
          <p:nvPr/>
        </p:nvSpPr>
        <p:spPr>
          <a:xfrm>
            <a:off x="685800" y="2296972"/>
            <a:ext cx="123444" cy="123444"/>
          </a:xfrm>
          <a:prstGeom prst="ellipse">
            <a:avLst/>
          </a:prstGeom>
          <a:solidFill>
            <a:srgbClr val="C5BEAE"/>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228392"/>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B5AEA0"/>
                </a:solidFill>
                <a:latin typeface="Arial"/>
              </a:rPr>
              <a:t>02</a:t>
            </a:r>
          </a:p>
        </p:txBody>
      </p:sp>
      <p:sp>
        <p:nvSpPr>
          <p:cNvPr id="13" name="TextBox 12"/>
          <p:cNvSpPr txBox="1"/>
          <p:nvPr/>
        </p:nvSpPr>
        <p:spPr>
          <a:xfrm>
            <a:off x="1463040" y="2200960"/>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Data</a:t>
            </a:r>
          </a:p>
        </p:txBody>
      </p:sp>
      <p:sp>
        <p:nvSpPr>
          <p:cNvPr id="14" name="TextBox 13"/>
          <p:cNvSpPr txBox="1"/>
          <p:nvPr/>
        </p:nvSpPr>
        <p:spPr>
          <a:xfrm>
            <a:off x="3291840" y="2237536"/>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get the 50k customer list</a:t>
            </a:r>
          </a:p>
        </p:txBody>
      </p:sp>
      <p:sp>
        <p:nvSpPr>
          <p:cNvPr id="15" name="Oval 14"/>
          <p:cNvSpPr/>
          <p:nvPr/>
        </p:nvSpPr>
        <p:spPr>
          <a:xfrm>
            <a:off x="685800" y="2696565"/>
            <a:ext cx="123444" cy="123444"/>
          </a:xfrm>
          <a:prstGeom prst="ellipse">
            <a:avLst/>
          </a:prstGeom>
          <a:solidFill>
            <a:srgbClr val="C5BEAE"/>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2627985"/>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B5AEA0"/>
                </a:solidFill>
                <a:latin typeface="Arial"/>
              </a:rPr>
              <a:t>03</a:t>
            </a:r>
          </a:p>
        </p:txBody>
      </p:sp>
      <p:sp>
        <p:nvSpPr>
          <p:cNvPr id="17" name="TextBox 16"/>
          <p:cNvSpPr txBox="1"/>
          <p:nvPr/>
        </p:nvSpPr>
        <p:spPr>
          <a:xfrm>
            <a:off x="1463040" y="2600553"/>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Understanding</a:t>
            </a:r>
          </a:p>
        </p:txBody>
      </p:sp>
      <p:sp>
        <p:nvSpPr>
          <p:cNvPr id="18" name="TextBox 17"/>
          <p:cNvSpPr txBox="1"/>
          <p:nvPr/>
        </p:nvSpPr>
        <p:spPr>
          <a:xfrm>
            <a:off x="3291840" y="2637129"/>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check what's inside it</a:t>
            </a:r>
          </a:p>
        </p:txBody>
      </p:sp>
      <p:sp>
        <p:nvSpPr>
          <p:cNvPr id="19" name="Oval 18"/>
          <p:cNvSpPr/>
          <p:nvPr/>
        </p:nvSpPr>
        <p:spPr>
          <a:xfrm>
            <a:off x="685800" y="3096158"/>
            <a:ext cx="123444" cy="123444"/>
          </a:xfrm>
          <a:prstGeom prst="ellipse">
            <a:avLst/>
          </a:prstGeom>
          <a:solidFill>
            <a:srgbClr val="C5BEAE"/>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027578"/>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B5AEA0"/>
                </a:solidFill>
                <a:latin typeface="Arial"/>
              </a:rPr>
              <a:t>04</a:t>
            </a:r>
          </a:p>
        </p:txBody>
      </p:sp>
      <p:sp>
        <p:nvSpPr>
          <p:cNvPr id="21" name="TextBox 20"/>
          <p:cNvSpPr txBox="1"/>
          <p:nvPr/>
        </p:nvSpPr>
        <p:spPr>
          <a:xfrm>
            <a:off x="1463040" y="3000146"/>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Cleaning</a:t>
            </a:r>
          </a:p>
        </p:txBody>
      </p:sp>
      <p:sp>
        <p:nvSpPr>
          <p:cNvPr id="22" name="TextBox 21"/>
          <p:cNvSpPr txBox="1"/>
          <p:nvPr/>
        </p:nvSpPr>
        <p:spPr>
          <a:xfrm>
            <a:off x="3291840" y="3036722"/>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fill gaps, get it ready</a:t>
            </a:r>
          </a:p>
        </p:txBody>
      </p:sp>
      <p:sp>
        <p:nvSpPr>
          <p:cNvPr id="23" name="Oval 22"/>
          <p:cNvSpPr/>
          <p:nvPr/>
        </p:nvSpPr>
        <p:spPr>
          <a:xfrm>
            <a:off x="685800" y="3495751"/>
            <a:ext cx="123444" cy="123444"/>
          </a:xfrm>
          <a:prstGeom prst="ellipse">
            <a:avLst/>
          </a:prstGeom>
          <a:solidFill>
            <a:srgbClr val="C5BEAE"/>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427171"/>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B5AEA0"/>
                </a:solidFill>
                <a:latin typeface="Arial"/>
              </a:rPr>
              <a:t>05</a:t>
            </a:r>
          </a:p>
        </p:txBody>
      </p:sp>
      <p:sp>
        <p:nvSpPr>
          <p:cNvPr id="25" name="TextBox 24"/>
          <p:cNvSpPr txBox="1"/>
          <p:nvPr/>
        </p:nvSpPr>
        <p:spPr>
          <a:xfrm>
            <a:off x="1463040" y="3399739"/>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Explore</a:t>
            </a:r>
          </a:p>
        </p:txBody>
      </p:sp>
      <p:sp>
        <p:nvSpPr>
          <p:cNvPr id="26" name="TextBox 25"/>
          <p:cNvSpPr txBox="1"/>
          <p:nvPr/>
        </p:nvSpPr>
        <p:spPr>
          <a:xfrm>
            <a:off x="3291840" y="3436315"/>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look for patterns</a:t>
            </a:r>
          </a:p>
        </p:txBody>
      </p:sp>
      <p:sp>
        <p:nvSpPr>
          <p:cNvPr id="27" name="Oval 26"/>
          <p:cNvSpPr/>
          <p:nvPr/>
        </p:nvSpPr>
        <p:spPr>
          <a:xfrm>
            <a:off x="685800" y="3895344"/>
            <a:ext cx="123444" cy="123444"/>
          </a:xfrm>
          <a:prstGeom prst="ellipse">
            <a:avLst/>
          </a:prstGeom>
          <a:solidFill>
            <a:srgbClr val="C5BEAE"/>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826764"/>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B5AEA0"/>
                </a:solidFill>
                <a:latin typeface="Arial"/>
              </a:rPr>
              <a:t>06</a:t>
            </a:r>
          </a:p>
        </p:txBody>
      </p:sp>
      <p:sp>
        <p:nvSpPr>
          <p:cNvPr id="29" name="TextBox 28"/>
          <p:cNvSpPr txBox="1"/>
          <p:nvPr/>
        </p:nvSpPr>
        <p:spPr>
          <a:xfrm>
            <a:off x="1463040" y="3799332"/>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Features</a:t>
            </a:r>
          </a:p>
        </p:txBody>
      </p:sp>
      <p:sp>
        <p:nvSpPr>
          <p:cNvPr id="30" name="TextBox 29"/>
          <p:cNvSpPr txBox="1"/>
          <p:nvPr/>
        </p:nvSpPr>
        <p:spPr>
          <a:xfrm>
            <a:off x="3291840" y="3835908"/>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pick the useful details</a:t>
            </a:r>
          </a:p>
        </p:txBody>
      </p:sp>
      <p:sp>
        <p:nvSpPr>
          <p:cNvPr id="31" name="Oval 30"/>
          <p:cNvSpPr/>
          <p:nvPr/>
        </p:nvSpPr>
        <p:spPr>
          <a:xfrm>
            <a:off x="685800" y="4294936"/>
            <a:ext cx="123444" cy="123444"/>
          </a:xfrm>
          <a:prstGeom prst="ellipse">
            <a:avLst/>
          </a:prstGeom>
          <a:solidFill>
            <a:srgbClr val="C5BEAE"/>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4226356"/>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B5AEA0"/>
                </a:solidFill>
                <a:latin typeface="Arial"/>
              </a:rPr>
              <a:t>07</a:t>
            </a:r>
          </a:p>
        </p:txBody>
      </p:sp>
      <p:sp>
        <p:nvSpPr>
          <p:cNvPr id="33" name="TextBox 32"/>
          <p:cNvSpPr txBox="1"/>
          <p:nvPr/>
        </p:nvSpPr>
        <p:spPr>
          <a:xfrm>
            <a:off x="1463040" y="4198924"/>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Split</a:t>
            </a:r>
          </a:p>
        </p:txBody>
      </p:sp>
      <p:sp>
        <p:nvSpPr>
          <p:cNvPr id="34" name="TextBox 33"/>
          <p:cNvSpPr txBox="1"/>
          <p:nvPr/>
        </p:nvSpPr>
        <p:spPr>
          <a:xfrm>
            <a:off x="3291840" y="4235500"/>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study set vs exam set</a:t>
            </a:r>
          </a:p>
        </p:txBody>
      </p:sp>
      <p:sp>
        <p:nvSpPr>
          <p:cNvPr id="35" name="Oval 34"/>
          <p:cNvSpPr/>
          <p:nvPr/>
        </p:nvSpPr>
        <p:spPr>
          <a:xfrm>
            <a:off x="685800" y="4694529"/>
            <a:ext cx="123444" cy="123444"/>
          </a:xfrm>
          <a:prstGeom prst="ellipse">
            <a:avLst/>
          </a:prstGeom>
          <a:solidFill>
            <a:srgbClr val="6B21A8"/>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4625949"/>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6B21A8"/>
                </a:solidFill>
                <a:latin typeface="Arial"/>
              </a:rPr>
              <a:t>08</a:t>
            </a:r>
          </a:p>
        </p:txBody>
      </p:sp>
      <p:sp>
        <p:nvSpPr>
          <p:cNvPr id="37" name="TextBox 36"/>
          <p:cNvSpPr txBox="1"/>
          <p:nvPr/>
        </p:nvSpPr>
        <p:spPr>
          <a:xfrm>
            <a:off x="1463040" y="4598517"/>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Model</a:t>
            </a:r>
          </a:p>
        </p:txBody>
      </p:sp>
      <p:sp>
        <p:nvSpPr>
          <p:cNvPr id="38" name="TextBox 37"/>
          <p:cNvSpPr txBox="1"/>
          <p:nvPr/>
        </p:nvSpPr>
        <p:spPr>
          <a:xfrm>
            <a:off x="3291840" y="4635093"/>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teach the computer</a:t>
            </a:r>
          </a:p>
        </p:txBody>
      </p:sp>
      <p:sp>
        <p:nvSpPr>
          <p:cNvPr id="39" name="Oval 38"/>
          <p:cNvSpPr/>
          <p:nvPr/>
        </p:nvSpPr>
        <p:spPr>
          <a:xfrm>
            <a:off x="685800" y="5094122"/>
            <a:ext cx="123444" cy="123444"/>
          </a:xfrm>
          <a:prstGeom prst="ellipse">
            <a:avLst/>
          </a:prstGeom>
          <a:solidFill>
            <a:srgbClr val="6B21A8"/>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5025542"/>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6B21A8"/>
                </a:solidFill>
                <a:latin typeface="Arial"/>
              </a:rPr>
              <a:t>09</a:t>
            </a:r>
          </a:p>
        </p:txBody>
      </p:sp>
      <p:sp>
        <p:nvSpPr>
          <p:cNvPr id="41" name="TextBox 40"/>
          <p:cNvSpPr txBox="1"/>
          <p:nvPr/>
        </p:nvSpPr>
        <p:spPr>
          <a:xfrm>
            <a:off x="1463040" y="4998110"/>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Evaluate</a:t>
            </a:r>
          </a:p>
        </p:txBody>
      </p:sp>
      <p:sp>
        <p:nvSpPr>
          <p:cNvPr id="42" name="TextBox 41"/>
          <p:cNvSpPr txBox="1"/>
          <p:nvPr/>
        </p:nvSpPr>
        <p:spPr>
          <a:xfrm>
            <a:off x="3291840" y="5034686"/>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give it a real test</a:t>
            </a:r>
          </a:p>
        </p:txBody>
      </p:sp>
      <p:sp>
        <p:nvSpPr>
          <p:cNvPr id="43" name="Oval 42"/>
          <p:cNvSpPr/>
          <p:nvPr/>
        </p:nvSpPr>
        <p:spPr>
          <a:xfrm>
            <a:off x="685800" y="5493715"/>
            <a:ext cx="123444" cy="123444"/>
          </a:xfrm>
          <a:prstGeom prst="ellipse">
            <a:avLst/>
          </a:prstGeom>
          <a:solidFill>
            <a:srgbClr val="C5BEAE"/>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5425135"/>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B5AEA0"/>
                </a:solidFill>
                <a:latin typeface="Arial"/>
              </a:rPr>
              <a:t>10</a:t>
            </a:r>
          </a:p>
        </p:txBody>
      </p:sp>
      <p:sp>
        <p:nvSpPr>
          <p:cNvPr id="45" name="TextBox 44"/>
          <p:cNvSpPr txBox="1"/>
          <p:nvPr/>
        </p:nvSpPr>
        <p:spPr>
          <a:xfrm>
            <a:off x="1463040" y="5397703"/>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Save</a:t>
            </a:r>
          </a:p>
        </p:txBody>
      </p:sp>
      <p:sp>
        <p:nvSpPr>
          <p:cNvPr id="46" name="TextBox 45"/>
          <p:cNvSpPr txBox="1"/>
          <p:nvPr/>
        </p:nvSpPr>
        <p:spPr>
          <a:xfrm>
            <a:off x="3291840" y="5434279"/>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pack the trained brain</a:t>
            </a:r>
          </a:p>
        </p:txBody>
      </p:sp>
      <p:sp>
        <p:nvSpPr>
          <p:cNvPr id="47" name="Oval 46"/>
          <p:cNvSpPr/>
          <p:nvPr/>
        </p:nvSpPr>
        <p:spPr>
          <a:xfrm>
            <a:off x="685800" y="5893308"/>
            <a:ext cx="123444" cy="123444"/>
          </a:xfrm>
          <a:prstGeom prst="ellipse">
            <a:avLst/>
          </a:prstGeom>
          <a:solidFill>
            <a:srgbClr val="6B21A8"/>
          </a:solidFill>
          <a:ln w="19050">
            <a:solidFill>
              <a:srgbClr val="F7F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0120" y="5824728"/>
            <a:ext cx="45720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6B21A8"/>
                </a:solidFill>
                <a:latin typeface="Arial"/>
              </a:rPr>
              <a:t>11</a:t>
            </a:r>
          </a:p>
        </p:txBody>
      </p:sp>
      <p:sp>
        <p:nvSpPr>
          <p:cNvPr id="49" name="TextBox 48"/>
          <p:cNvSpPr txBox="1"/>
          <p:nvPr/>
        </p:nvSpPr>
        <p:spPr>
          <a:xfrm>
            <a:off x="1463040" y="5797296"/>
            <a:ext cx="1783080" cy="274320"/>
          </a:xfrm>
          <a:prstGeom prst="rect">
            <a:avLst/>
          </a:prstGeom>
          <a:noFill/>
        </p:spPr>
        <p:txBody>
          <a:bodyPr wrap="square" lIns="0" rIns="0" tIns="0" bIns="0" anchor="t">
            <a:spAutoFit/>
          </a:bodyPr>
          <a:lstStyle/>
          <a:p>
            <a:pPr algn="l">
              <a:lnSpc>
                <a:spcPct val="106000"/>
              </a:lnSpc>
              <a:spcAft>
                <a:spcPts val="400"/>
              </a:spcAft>
            </a:pPr>
            <a:r>
              <a:rPr sz="1250" b="1" i="0">
                <a:solidFill>
                  <a:srgbClr val="141414"/>
                </a:solidFill>
                <a:latin typeface="Arial"/>
              </a:rPr>
              <a:t>Deploy</a:t>
            </a:r>
          </a:p>
        </p:txBody>
      </p:sp>
      <p:sp>
        <p:nvSpPr>
          <p:cNvPr id="50" name="TextBox 49"/>
          <p:cNvSpPr txBox="1"/>
          <p:nvPr/>
        </p:nvSpPr>
        <p:spPr>
          <a:xfrm>
            <a:off x="3291840" y="5833872"/>
            <a:ext cx="2331720" cy="274320"/>
          </a:xfrm>
          <a:prstGeom prst="rect">
            <a:avLst/>
          </a:prstGeom>
          <a:noFill/>
        </p:spPr>
        <p:txBody>
          <a:bodyPr wrap="square" lIns="0" rIns="0" tIns="0" bIns="0" anchor="t">
            <a:spAutoFit/>
          </a:bodyPr>
          <a:lstStyle/>
          <a:p>
            <a:pPr algn="l">
              <a:lnSpc>
                <a:spcPct val="106000"/>
              </a:lnSpc>
              <a:spcAft>
                <a:spcPts val="400"/>
              </a:spcAft>
            </a:pPr>
            <a:r>
              <a:rPr sz="1000" b="0" i="0">
                <a:solidFill>
                  <a:srgbClr val="8A8478"/>
                </a:solidFill>
                <a:latin typeface="Arial"/>
              </a:rPr>
              <a:t>put it on a website</a:t>
            </a:r>
          </a:p>
        </p:txBody>
      </p:sp>
      <p:graphicFrame>
        <p:nvGraphicFramePr>
          <p:cNvPr id="51" name="Table 50"/>
          <p:cNvGraphicFramePr>
            <a:graphicFrameLocks noGrp="1"/>
          </p:cNvGraphicFramePr>
          <p:nvPr/>
        </p:nvGraphicFramePr>
        <p:xfrm>
          <a:off x="5833872" y="1828800"/>
          <a:ext cx="5843016" cy="4283964"/>
        </p:xfrm>
        <a:graphic>
          <a:graphicData uri="http://schemas.openxmlformats.org/drawingml/2006/table">
            <a:tbl>
              <a:tblPr>
                <a:tableStyleId>{5C22544A-7EE6-4342-B048-85BDC9FD1C3A}</a:tableStyleId>
              </a:tblPr>
              <a:tblGrid>
                <a:gridCol w="1298448"/>
                <a:gridCol w="3063240"/>
                <a:gridCol w="1481328"/>
              </a:tblGrid>
              <a:tr h="310896">
                <a:tc>
                  <a:txBody>
                    <a:bodyPr wrap="square"/>
                    <a:lstStyle/>
                    <a:p>
                      <a:pPr algn="l">
                        <a:lnSpc>
                          <a:spcPct val="100000"/>
                        </a:lnSpc>
                      </a:pPr>
                      <a:r>
                        <a:rPr sz="1050" b="1">
                          <a:solidFill>
                            <a:srgbClr val="FFFFFF"/>
                          </a:solidFill>
                          <a:latin typeface="Arial"/>
                        </a:rPr>
                        <a:t>Step</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What happens</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What we get</a:t>
                      </a:r>
                    </a:p>
                  </a:txBody>
                  <a:tcPr marL="82296" marR="54864" marT="18288" marB="18288" anchor="ctr">
                    <a:solidFill>
                      <a:srgbClr val="121212"/>
                    </a:solidFill>
                  </a:tcPr>
                </a:tc>
              </a:tr>
              <a:tr h="361188">
                <a:tc>
                  <a:txBody>
                    <a:bodyPr wrap="square"/>
                    <a:lstStyle/>
                    <a:p>
                      <a:pPr algn="l">
                        <a:lnSpc>
                          <a:spcPct val="100000"/>
                        </a:lnSpc>
                      </a:pPr>
                      <a:r>
                        <a:rPr sz="980" b="1">
                          <a:solidFill>
                            <a:srgbClr val="141414"/>
                          </a:solidFill>
                          <a:latin typeface="Arial"/>
                        </a:rPr>
                        <a:t>01 Problem</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Sort shoppers into 4 groups, one action each</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the plan</a:t>
                      </a:r>
                    </a:p>
                  </a:txBody>
                  <a:tcPr marL="82296" marR="54864" marT="18288" marB="18288" anchor="ctr">
                    <a:solidFill>
                      <a:srgbClr val="FFFFFF"/>
                    </a:solidFill>
                  </a:tcPr>
                </a:tc>
              </a:tr>
              <a:tr h="361188">
                <a:tc>
                  <a:txBody>
                    <a:bodyPr wrap="square"/>
                    <a:lstStyle/>
                    <a:p>
                      <a:pPr algn="l">
                        <a:lnSpc>
                          <a:spcPct val="100000"/>
                        </a:lnSpc>
                      </a:pPr>
                      <a:r>
                        <a:rPr sz="980" b="1">
                          <a:solidFill>
                            <a:srgbClr val="141414"/>
                          </a:solidFill>
                          <a:latin typeface="Arial"/>
                        </a:rPr>
                        <a:t>02 Data</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50,000 real customers, 7.8 MB file</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customers.csv</a:t>
                      </a:r>
                    </a:p>
                  </a:txBody>
                  <a:tcPr marL="82296" marR="54864" marT="18288" marB="18288" anchor="ctr">
                    <a:solidFill>
                      <a:srgbClr val="F4F0E8"/>
                    </a:solidFill>
                  </a:tcPr>
                </a:tc>
              </a:tr>
              <a:tr h="361188">
                <a:tc>
                  <a:txBody>
                    <a:bodyPr wrap="square"/>
                    <a:lstStyle/>
                    <a:p>
                      <a:pPr algn="l">
                        <a:lnSpc>
                          <a:spcPct val="100000"/>
                        </a:lnSpc>
                      </a:pPr>
                      <a:r>
                        <a:rPr sz="980" b="1">
                          <a:solidFill>
                            <a:srgbClr val="141414"/>
                          </a:solidFill>
                          <a:latin typeface="Arial"/>
                        </a:rPr>
                        <a:t>03 Understanding</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Found gaps: up to 3,934 missing answers</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notes on the data</a:t>
                      </a:r>
                    </a:p>
                  </a:txBody>
                  <a:tcPr marL="82296" marR="54864" marT="18288" marB="18288" anchor="ctr">
                    <a:solidFill>
                      <a:srgbClr val="FFFFFF"/>
                    </a:solidFill>
                  </a:tcPr>
                </a:tc>
              </a:tr>
              <a:tr h="361188">
                <a:tc>
                  <a:txBody>
                    <a:bodyPr wrap="square"/>
                    <a:lstStyle/>
                    <a:p>
                      <a:pPr algn="l">
                        <a:lnSpc>
                          <a:spcPct val="100000"/>
                        </a:lnSpc>
                      </a:pPr>
                      <a:r>
                        <a:rPr sz="980" b="1">
                          <a:solidFill>
                            <a:srgbClr val="141414"/>
                          </a:solidFill>
                          <a:latin typeface="Arial"/>
                        </a:rPr>
                        <a:t>04 Cleaning</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12 details → 16 ready columns, no gaps left</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cleaning rules file</a:t>
                      </a:r>
                    </a:p>
                  </a:txBody>
                  <a:tcPr marL="82296" marR="54864" marT="18288" marB="18288" anchor="ctr">
                    <a:solidFill>
                      <a:srgbClr val="F4F0E8"/>
                    </a:solidFill>
                  </a:tcPr>
                </a:tc>
              </a:tr>
              <a:tr h="361188">
                <a:tc>
                  <a:txBody>
                    <a:bodyPr wrap="square"/>
                    <a:lstStyle/>
                    <a:p>
                      <a:pPr algn="l">
                        <a:lnSpc>
                          <a:spcPct val="100000"/>
                        </a:lnSpc>
                      </a:pPr>
                      <a:r>
                        <a:rPr sz="980" b="1">
                          <a:solidFill>
                            <a:srgbClr val="141414"/>
                          </a:solidFill>
                          <a:latin typeface="Arial"/>
                        </a:rPr>
                        <a:t>05 Explore</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Richer customers really do spend more</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charts</a:t>
                      </a:r>
                    </a:p>
                  </a:txBody>
                  <a:tcPr marL="82296" marR="54864" marT="18288" marB="18288" anchor="ctr">
                    <a:solidFill>
                      <a:srgbClr val="FFFFFF"/>
                    </a:solidFill>
                  </a:tcPr>
                </a:tc>
              </a:tr>
              <a:tr h="361188">
                <a:tc>
                  <a:txBody>
                    <a:bodyPr wrap="square"/>
                    <a:lstStyle/>
                    <a:p>
                      <a:pPr algn="l">
                        <a:lnSpc>
                          <a:spcPct val="100000"/>
                        </a:lnSpc>
                      </a:pPr>
                      <a:r>
                        <a:rPr sz="980" b="1">
                          <a:solidFill>
                            <a:srgbClr val="141414"/>
                          </a:solidFill>
                          <a:latin typeface="Arial"/>
                        </a:rPr>
                        <a:t>06 Features</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Spending is clue No.1 (weight 0.18)</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feature list</a:t>
                      </a:r>
                    </a:p>
                  </a:txBody>
                  <a:tcPr marL="82296" marR="54864" marT="18288" marB="18288" anchor="ctr">
                    <a:solidFill>
                      <a:srgbClr val="F4F0E8"/>
                    </a:solidFill>
                  </a:tcPr>
                </a:tc>
              </a:tr>
              <a:tr h="361188">
                <a:tc>
                  <a:txBody>
                    <a:bodyPr wrap="square"/>
                    <a:lstStyle/>
                    <a:p>
                      <a:pPr algn="l">
                        <a:lnSpc>
                          <a:spcPct val="100000"/>
                        </a:lnSpc>
                      </a:pPr>
                      <a:r>
                        <a:rPr sz="980" b="1">
                          <a:solidFill>
                            <a:srgbClr val="141414"/>
                          </a:solidFill>
                          <a:latin typeface="Arial"/>
                        </a:rPr>
                        <a:t>07 Split</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35k study / 7.5k practice / 7.5k exam</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the three sets</a:t>
                      </a:r>
                    </a:p>
                  </a:txBody>
                  <a:tcPr marL="82296" marR="54864" marT="18288" marB="18288" anchor="ctr">
                    <a:solidFill>
                      <a:srgbClr val="FFFFFF"/>
                    </a:solidFill>
                  </a:tcPr>
                </a:tc>
              </a:tr>
              <a:tr h="361188">
                <a:tc>
                  <a:txBody>
                    <a:bodyPr wrap="square"/>
                    <a:lstStyle/>
                    <a:p>
                      <a:pPr algn="l">
                        <a:lnSpc>
                          <a:spcPct val="100000"/>
                        </a:lnSpc>
                      </a:pPr>
                      <a:r>
                        <a:rPr sz="980" b="1">
                          <a:solidFill>
                            <a:srgbClr val="141414"/>
                          </a:solidFill>
                          <a:latin typeface="Arial"/>
                        </a:rPr>
                        <a:t>08 Model</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66.4% correct, 0.87 out of 1.00</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trained model</a:t>
                      </a:r>
                    </a:p>
                  </a:txBody>
                  <a:tcPr marL="82296" marR="54864" marT="18288" marB="18288" anchor="ctr">
                    <a:solidFill>
                      <a:srgbClr val="F4F0E8"/>
                    </a:solidFill>
                  </a:tcPr>
                </a:tc>
              </a:tr>
              <a:tr h="361188">
                <a:tc>
                  <a:txBody>
                    <a:bodyPr wrap="square"/>
                    <a:lstStyle/>
                    <a:p>
                      <a:pPr algn="l">
                        <a:lnSpc>
                          <a:spcPct val="100000"/>
                        </a:lnSpc>
                      </a:pPr>
                      <a:r>
                        <a:rPr sz="980" b="1">
                          <a:solidFill>
                            <a:srgbClr val="141414"/>
                          </a:solidFill>
                          <a:latin typeface="Arial"/>
                        </a:rPr>
                        <a:t>09 Evaluate</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Best at catching Occasional (82%)</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report card</a:t>
                      </a:r>
                    </a:p>
                  </a:txBody>
                  <a:tcPr marL="82296" marR="54864" marT="18288" marB="18288" anchor="ctr">
                    <a:solidFill>
                      <a:srgbClr val="FFFFFF"/>
                    </a:solidFill>
                  </a:tcPr>
                </a:tc>
              </a:tr>
              <a:tr h="361188">
                <a:tc>
                  <a:txBody>
                    <a:bodyPr wrap="square"/>
                    <a:lstStyle/>
                    <a:p>
                      <a:pPr algn="l">
                        <a:lnSpc>
                          <a:spcPct val="100000"/>
                        </a:lnSpc>
                      </a:pPr>
                      <a:r>
                        <a:rPr sz="980" b="1">
                          <a:solidFill>
                            <a:srgbClr val="141414"/>
                          </a:solidFill>
                          <a:latin typeface="Arial"/>
                        </a:rPr>
                        <a:t>10 Save</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6 files, 7.6 MB total, labelled v3.0</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saved pack</a:t>
                      </a:r>
                    </a:p>
                  </a:txBody>
                  <a:tcPr marL="82296" marR="54864" marT="18288" marB="18288" anchor="ctr">
                    <a:solidFill>
                      <a:srgbClr val="F4F0E8"/>
                    </a:solidFill>
                  </a:tcPr>
                </a:tc>
              </a:tr>
              <a:tr h="361188">
                <a:tc>
                  <a:txBody>
                    <a:bodyPr wrap="square"/>
                    <a:lstStyle/>
                    <a:p>
                      <a:pPr algn="l">
                        <a:lnSpc>
                          <a:spcPct val="100000"/>
                        </a:lnSpc>
                      </a:pPr>
                      <a:r>
                        <a:rPr sz="980" b="1">
                          <a:solidFill>
                            <a:srgbClr val="141414"/>
                          </a:solidFill>
                          <a:latin typeface="Arial"/>
                        </a:rPr>
                        <a:t>11 Deploy</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Live website, 6 pages, watched daily</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Flask site</a:t>
                      </a:r>
                    </a:p>
                  </a:txBody>
                  <a:tcPr marL="82296" marR="54864" marT="18288" marB="18288" anchor="ctr">
                    <a:solidFill>
                      <a:srgbClr val="FFFFFF"/>
                    </a:solidFill>
                  </a:tcPr>
                </a:tc>
              </a:tr>
            </a:tbl>
          </a:graphicData>
        </a:graphic>
      </p:graphicFrame>
      <p:sp>
        <p:nvSpPr>
          <p:cNvPr id="52" name="TextBox 51"/>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02/17</a:t>
            </a:r>
          </a:p>
        </p:txBody>
      </p:sp>
      <p:sp>
        <p:nvSpPr>
          <p:cNvPr id="53" name="TextBox 52"/>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01  •  THE PROBLEM</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What, Why, Who, Output</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2615184" cy="199339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11095"/>
            <a:ext cx="50292" cy="1737360"/>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929384"/>
            <a:ext cx="2231136" cy="1719072"/>
          </a:xfrm>
          <a:prstGeom prst="rect">
            <a:avLst/>
          </a:prstGeom>
          <a:noFill/>
        </p:spPr>
        <p:txBody>
          <a:bodyPr wrap="square" lIns="0" rIns="0" tIns="0" bIns="0" anchor="t">
            <a:spAutoFit/>
          </a:bodyPr>
          <a:lstStyle/>
          <a:p>
            <a:pPr algn="l">
              <a:lnSpc>
                <a:spcPct val="106000"/>
              </a:lnSpc>
              <a:spcAft>
                <a:spcPts val="800"/>
              </a:spcAft>
            </a:pPr>
            <a:r>
              <a:rPr sz="1050" b="1" i="0" spc="90">
                <a:solidFill>
                  <a:srgbClr val="141414"/>
                </a:solidFill>
                <a:latin typeface="Arial"/>
              </a:rPr>
              <a:t>WHAT</a:t>
            </a:r>
          </a:p>
          <a:p>
            <a:pPr algn="l">
              <a:lnSpc>
                <a:spcPct val="112000"/>
              </a:lnSpc>
              <a:spcAft>
                <a:spcPts val="500"/>
              </a:spcAft>
            </a:pPr>
            <a:r>
              <a:rPr sz="1000" b="0" i="0">
                <a:solidFill>
                  <a:srgbClr val="2A2722"/>
                </a:solidFill>
                <a:latin typeface="Arial"/>
              </a:rPr>
              <a:t>Look at 12 details of a customer — age, income, spending, visits… — and place them in 1 of 4 groups.</a:t>
            </a:r>
          </a:p>
          <a:p>
            <a:pPr algn="l">
              <a:lnSpc>
                <a:spcPct val="112000"/>
              </a:lnSpc>
              <a:spcAft>
                <a:spcPts val="500"/>
              </a:spcAft>
            </a:pPr>
            <a:r>
              <a:rPr sz="1000" b="0" i="0">
                <a:solidFill>
                  <a:srgbClr val="2A2722"/>
                </a:solidFill>
                <a:latin typeface="Arial"/>
              </a:rPr>
              <a:t>Our old demo data was too easy (89%). These real 50k give an honest 66%.</a:t>
            </a:r>
          </a:p>
        </p:txBody>
      </p:sp>
      <p:sp>
        <p:nvSpPr>
          <p:cNvPr id="9" name="Rounded Rectangle 8"/>
          <p:cNvSpPr/>
          <p:nvPr/>
        </p:nvSpPr>
        <p:spPr>
          <a:xfrm>
            <a:off x="3310128" y="1783080"/>
            <a:ext cx="2615184" cy="199339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911095"/>
            <a:ext cx="50292" cy="1737360"/>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9584" y="1929384"/>
            <a:ext cx="2231136" cy="1719072"/>
          </a:xfrm>
          <a:prstGeom prst="rect">
            <a:avLst/>
          </a:prstGeom>
          <a:noFill/>
        </p:spPr>
        <p:txBody>
          <a:bodyPr wrap="square" lIns="0" rIns="0" tIns="0" bIns="0" anchor="t">
            <a:spAutoFit/>
          </a:bodyPr>
          <a:lstStyle/>
          <a:p>
            <a:pPr algn="l">
              <a:lnSpc>
                <a:spcPct val="106000"/>
              </a:lnSpc>
              <a:spcAft>
                <a:spcPts val="800"/>
              </a:spcAft>
            </a:pPr>
            <a:r>
              <a:rPr sz="1050" b="1" i="0" spc="90">
                <a:solidFill>
                  <a:srgbClr val="141414"/>
                </a:solidFill>
                <a:latin typeface="Arial"/>
              </a:rPr>
              <a:t>WHY IT'S USEFUL</a:t>
            </a:r>
          </a:p>
          <a:p>
            <a:pPr algn="l">
              <a:lnSpc>
                <a:spcPct val="112000"/>
              </a:lnSpc>
              <a:spcAft>
                <a:spcPts val="500"/>
              </a:spcAft>
            </a:pPr>
            <a:r>
              <a:rPr sz="1000" b="0" i="0">
                <a:solidFill>
                  <a:srgbClr val="2A2722"/>
                </a:solidFill>
                <a:latin typeface="Arial"/>
              </a:rPr>
              <a:t>Each group needs different treatment: the 44% Occasional need a reason to come back, the 11% High-Value deserve VIP care.</a:t>
            </a:r>
          </a:p>
          <a:p>
            <a:pPr algn="l">
              <a:lnSpc>
                <a:spcPct val="112000"/>
              </a:lnSpc>
              <a:spcAft>
                <a:spcPts val="500"/>
              </a:spcAft>
            </a:pPr>
            <a:r>
              <a:rPr sz="1000" b="0" i="0">
                <a:solidFill>
                  <a:srgbClr val="2A2722"/>
                </a:solidFill>
                <a:latin typeface="Arial"/>
              </a:rPr>
              <a:t>One message for everyone wastes money.</a:t>
            </a:r>
          </a:p>
        </p:txBody>
      </p:sp>
      <p:sp>
        <p:nvSpPr>
          <p:cNvPr id="12" name="Rounded Rectangle 11"/>
          <p:cNvSpPr/>
          <p:nvPr/>
        </p:nvSpPr>
        <p:spPr>
          <a:xfrm>
            <a:off x="566928" y="3950208"/>
            <a:ext cx="2615184" cy="199339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078224"/>
            <a:ext cx="50292" cy="1737360"/>
          </a:xfrm>
          <a:prstGeom prst="roundRect">
            <a:avLst>
              <a:gd name="adj" fmla="val 50000"/>
            </a:avLst>
          </a:prstGeom>
          <a:solidFill>
            <a:srgbClr val="5A54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4096512"/>
            <a:ext cx="2231136" cy="1719072"/>
          </a:xfrm>
          <a:prstGeom prst="rect">
            <a:avLst/>
          </a:prstGeom>
          <a:noFill/>
        </p:spPr>
        <p:txBody>
          <a:bodyPr wrap="square" lIns="0" rIns="0" tIns="0" bIns="0" anchor="t">
            <a:spAutoFit/>
          </a:bodyPr>
          <a:lstStyle/>
          <a:p>
            <a:pPr algn="l">
              <a:lnSpc>
                <a:spcPct val="106000"/>
              </a:lnSpc>
              <a:spcAft>
                <a:spcPts val="800"/>
              </a:spcAft>
            </a:pPr>
            <a:r>
              <a:rPr sz="1050" b="1" i="0" spc="90">
                <a:solidFill>
                  <a:srgbClr val="141414"/>
                </a:solidFill>
                <a:latin typeface="Arial"/>
              </a:rPr>
              <a:t>WHO USES IT</a:t>
            </a:r>
          </a:p>
          <a:p>
            <a:pPr algn="l">
              <a:lnSpc>
                <a:spcPct val="112000"/>
              </a:lnSpc>
              <a:spcAft>
                <a:spcPts val="500"/>
              </a:spcAft>
            </a:pPr>
            <a:r>
              <a:rPr sz="1000" b="0" i="0">
                <a:solidFill>
                  <a:srgbClr val="2A2722"/>
                </a:solidFill>
                <a:latin typeface="Arial"/>
              </a:rPr>
              <a:t>The shop's sales and support teams.</a:t>
            </a:r>
          </a:p>
          <a:p>
            <a:pPr algn="l">
              <a:lnSpc>
                <a:spcPct val="112000"/>
              </a:lnSpc>
              <a:spcAft>
                <a:spcPts val="500"/>
              </a:spcAft>
            </a:pPr>
            <a:r>
              <a:rPr sz="1000" b="0" i="0">
                <a:solidFill>
                  <a:srgbClr val="2A2722"/>
                </a:solidFill>
                <a:latin typeface="Arial"/>
              </a:rPr>
              <a:t>They open the tool every day to check a live sample of 120 customers.</a:t>
            </a:r>
          </a:p>
        </p:txBody>
      </p:sp>
      <p:sp>
        <p:nvSpPr>
          <p:cNvPr id="15" name="Rounded Rectangle 14"/>
          <p:cNvSpPr/>
          <p:nvPr/>
        </p:nvSpPr>
        <p:spPr>
          <a:xfrm>
            <a:off x="3310128" y="3950208"/>
            <a:ext cx="2615184" cy="199339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291840" y="4078224"/>
            <a:ext cx="50292" cy="1737360"/>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4096512"/>
            <a:ext cx="2231136" cy="1719072"/>
          </a:xfrm>
          <a:prstGeom prst="rect">
            <a:avLst/>
          </a:prstGeom>
          <a:noFill/>
        </p:spPr>
        <p:txBody>
          <a:bodyPr wrap="square" lIns="0" rIns="0" tIns="0" bIns="0" anchor="t">
            <a:spAutoFit/>
          </a:bodyPr>
          <a:lstStyle/>
          <a:p>
            <a:pPr algn="l">
              <a:lnSpc>
                <a:spcPct val="106000"/>
              </a:lnSpc>
              <a:spcAft>
                <a:spcPts val="800"/>
              </a:spcAft>
            </a:pPr>
            <a:r>
              <a:rPr sz="1050" b="1" i="0" spc="90">
                <a:solidFill>
                  <a:srgbClr val="141414"/>
                </a:solidFill>
                <a:latin typeface="Arial"/>
              </a:rPr>
              <a:t>THE OUTPUT</a:t>
            </a:r>
          </a:p>
          <a:p>
            <a:pPr algn="l">
              <a:lnSpc>
                <a:spcPct val="112000"/>
              </a:lnSpc>
              <a:spcAft>
                <a:spcPts val="500"/>
              </a:spcAft>
            </a:pPr>
            <a:r>
              <a:rPr sz="1000" b="0" i="0">
                <a:solidFill>
                  <a:srgbClr val="2A2722"/>
                </a:solidFill>
                <a:latin typeface="Arial"/>
              </a:rPr>
              <a:t>A group + how sure we are + what to do next.</a:t>
            </a:r>
          </a:p>
          <a:p>
            <a:pPr algn="l">
              <a:lnSpc>
                <a:spcPct val="112000"/>
              </a:lnSpc>
              <a:spcAft>
                <a:spcPts val="500"/>
              </a:spcAft>
            </a:pPr>
            <a:r>
              <a:rPr sz="1000" b="0" i="0">
                <a:solidFill>
                  <a:srgbClr val="2A2722"/>
                </a:solidFill>
                <a:latin typeface="Arial"/>
              </a:rPr>
              <a:t>Example: “High-Value, 78% sure → send VIP offer.”</a:t>
            </a:r>
          </a:p>
        </p:txBody>
      </p:sp>
      <p:sp>
        <p:nvSpPr>
          <p:cNvPr id="18" name="Rounded Rectangle 17"/>
          <p:cNvSpPr/>
          <p:nvPr/>
        </p:nvSpPr>
        <p:spPr>
          <a:xfrm>
            <a:off x="6144768" y="1783080"/>
            <a:ext cx="5486400" cy="4160520"/>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89904" y="1920240"/>
            <a:ext cx="50292" cy="3886200"/>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956816"/>
            <a:ext cx="5029200" cy="3840480"/>
          </a:xfrm>
          <a:prstGeom prst="rect">
            <a:avLst/>
          </a:prstGeom>
          <a:noFill/>
        </p:spPr>
        <p:txBody>
          <a:bodyPr wrap="square" lIns="0" rIns="0" tIns="0" bIns="0" anchor="t">
            <a:spAutoFit/>
          </a:bodyPr>
          <a:lstStyle/>
          <a:p>
            <a:pPr algn="l">
              <a:lnSpc>
                <a:spcPct val="106000"/>
              </a:lnSpc>
              <a:spcAft>
                <a:spcPts val="600"/>
              </a:spcAft>
            </a:pPr>
            <a:r>
              <a:rPr sz="1050" b="1" i="0" spc="90">
                <a:solidFill>
                  <a:srgbClr val="FFFFFF"/>
                </a:solidFill>
                <a:latin typeface="Arial"/>
              </a:rPr>
              <a:t>THE FULL JOURNEY</a:t>
            </a:r>
          </a:p>
          <a:p>
            <a:pPr algn="l">
              <a:lnSpc>
                <a:spcPct val="118000"/>
              </a:lnSpc>
              <a:spcAft>
                <a:spcPts val="1000"/>
              </a:spcAft>
            </a:pPr>
            <a:r>
              <a:rPr sz="1000" b="0" i="0">
                <a:solidFill>
                  <a:srgbClr val="E8E4DC"/>
                </a:solidFill>
                <a:latin typeface="Arial"/>
              </a:rPr>
              <a:t>Get data  →  clean it  →  teach the model  →  test it  →  put it on a website  →  keep watching it. This slide deck follows that exact path, step by step.</a:t>
            </a:r>
          </a:p>
          <a:p>
            <a:pPr algn="l">
              <a:lnSpc>
                <a:spcPct val="106000"/>
              </a:lnSpc>
              <a:spcAft>
                <a:spcPts val="600"/>
              </a:spcAft>
            </a:pPr>
            <a:r>
              <a:rPr sz="1050" b="1" i="0" spc="90">
                <a:solidFill>
                  <a:srgbClr val="FFFFFF"/>
                </a:solidFill>
                <a:latin typeface="Arial"/>
              </a:rPr>
              <a:t>EVERY ANSWER SHOWS ITS PATH</a:t>
            </a:r>
          </a:p>
          <a:p>
            <a:pPr algn="l">
              <a:lnSpc>
                <a:spcPct val="118000"/>
              </a:lnSpc>
              <a:spcAft>
                <a:spcPts val="1000"/>
              </a:spcAft>
            </a:pPr>
            <a:r>
              <a:rPr sz="1000" b="0" i="0">
                <a:solidFill>
                  <a:srgbClr val="E8E4DC"/>
                </a:solidFill>
                <a:latin typeface="Arial"/>
              </a:rPr>
              <a:t>When the tool predicts a customer, the answer also lists the 6 stages it went through — like a receipt you can audit later.</a:t>
            </a:r>
          </a:p>
          <a:p>
            <a:pPr algn="l">
              <a:lnSpc>
                <a:spcPct val="106000"/>
              </a:lnSpc>
              <a:spcAft>
                <a:spcPts val="600"/>
              </a:spcAft>
            </a:pPr>
            <a:r>
              <a:rPr sz="1050" b="1" i="0" spc="90">
                <a:solidFill>
                  <a:srgbClr val="FFFFFF"/>
                </a:solidFill>
                <a:latin typeface="Arial"/>
              </a:rPr>
              <a:t>WHY REAL DATA MATTERS</a:t>
            </a:r>
          </a:p>
          <a:p>
            <a:pPr algn="l">
              <a:lnSpc>
                <a:spcPct val="106000"/>
              </a:lnSpc>
              <a:spcAft>
                <a:spcPts val="300"/>
              </a:spcAft>
            </a:pPr>
            <a:r>
              <a:rPr sz="980" b="0" i="0">
                <a:solidFill>
                  <a:srgbClr val="E8E4DC"/>
                </a:solidFill>
                <a:latin typeface="Arial"/>
              </a:rPr>
              <a:t>•  50,000 rows with uneven groups and real gaps — messy like real life</a:t>
            </a:r>
          </a:p>
          <a:p>
            <a:pPr algn="l">
              <a:lnSpc>
                <a:spcPct val="106000"/>
              </a:lnSpc>
              <a:spcAft>
                <a:spcPts val="300"/>
              </a:spcAft>
            </a:pPr>
            <a:r>
              <a:rPr sz="980" b="0" i="0">
                <a:solidFill>
                  <a:srgbClr val="E8E4DC"/>
                </a:solidFill>
                <a:latin typeface="Arial"/>
              </a:rPr>
              <a:t>•  7 columns have missing values, so cleaning actually gets tested</a:t>
            </a:r>
          </a:p>
          <a:p>
            <a:pPr algn="l">
              <a:lnSpc>
                <a:spcPct val="106000"/>
              </a:lnSpc>
              <a:spcAft>
                <a:spcPts val="0"/>
              </a:spcAft>
            </a:pPr>
            <a:r>
              <a:rPr sz="980" b="0" i="0">
                <a:solidFill>
                  <a:srgbClr val="E8E4DC"/>
                </a:solidFill>
                <a:latin typeface="Arial"/>
              </a:rPr>
              <a:t>•  Open dataset, free to use, downloaded 1,388 times</a:t>
            </a:r>
          </a:p>
        </p:txBody>
      </p:sp>
      <p:sp>
        <p:nvSpPr>
          <p:cNvPr id="21" name="TextBox 20"/>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03/17</a:t>
            </a:r>
          </a:p>
        </p:txBody>
      </p:sp>
      <p:sp>
        <p:nvSpPr>
          <p:cNvPr id="22" name="TextBox 21"/>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02  •  THE DATA</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Kaggle — 50,000 real customers</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3291840" cy="169164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11095"/>
            <a:ext cx="50292" cy="1435608"/>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29384"/>
            <a:ext cx="2889503" cy="1417320"/>
          </a:xfrm>
          <a:prstGeom prst="rect">
            <a:avLst/>
          </a:prstGeom>
          <a:noFill/>
        </p:spPr>
        <p:txBody>
          <a:bodyPr wrap="square" lIns="0" rIns="0" tIns="0" bIns="0" anchor="t">
            <a:spAutoFit/>
          </a:bodyPr>
          <a:lstStyle/>
          <a:p>
            <a:pPr algn="l">
              <a:lnSpc>
                <a:spcPct val="106000"/>
              </a:lnSpc>
              <a:spcAft>
                <a:spcPts val="800"/>
              </a:spcAft>
            </a:pPr>
            <a:r>
              <a:rPr sz="1050" b="1" i="0" spc="90">
                <a:solidFill>
                  <a:srgbClr val="141414"/>
                </a:solidFill>
                <a:latin typeface="Arial"/>
              </a:rPr>
              <a:t>WHERE IT'S FROM</a:t>
            </a:r>
          </a:p>
          <a:p>
            <a:pPr algn="l">
              <a:lnSpc>
                <a:spcPct val="112000"/>
              </a:lnSpc>
              <a:spcAft>
                <a:spcPts val="500"/>
              </a:spcAft>
            </a:pPr>
            <a:r>
              <a:rPr sz="1000" b="0" i="0">
                <a:solidFill>
                  <a:srgbClr val="2A2722"/>
                </a:solidFill>
                <a:latin typeface="Arial"/>
              </a:rPr>
              <a:t>Kaggle: “Online Retail Customer Classification”</a:t>
            </a:r>
          </a:p>
          <a:p>
            <a:pPr algn="l">
              <a:lnSpc>
                <a:spcPct val="112000"/>
              </a:lnSpc>
              <a:spcAft>
                <a:spcPts val="500"/>
              </a:spcAft>
            </a:pPr>
            <a:r>
              <a:rPr sz="1000" b="0" i="0">
                <a:solidFill>
                  <a:srgbClr val="2A2722"/>
                </a:solidFill>
                <a:latin typeface="Arial"/>
              </a:rPr>
              <a:t>Public dataset, free to use (CC0 license)</a:t>
            </a:r>
          </a:p>
          <a:p>
            <a:pPr algn="l">
              <a:lnSpc>
                <a:spcPct val="112000"/>
              </a:lnSpc>
              <a:spcAft>
                <a:spcPts val="500"/>
              </a:spcAft>
            </a:pPr>
            <a:r>
              <a:rPr sz="1000" b="0" i="0">
                <a:solidFill>
                  <a:srgbClr val="2A2722"/>
                </a:solidFill>
                <a:latin typeface="Arial"/>
              </a:rPr>
              <a:t>1,388 downloads by other learners</a:t>
            </a:r>
          </a:p>
        </p:txBody>
      </p:sp>
      <p:sp>
        <p:nvSpPr>
          <p:cNvPr id="9" name="TextBox 8"/>
          <p:cNvSpPr txBox="1"/>
          <p:nvPr/>
        </p:nvSpPr>
        <p:spPr>
          <a:xfrm>
            <a:off x="658368" y="3703320"/>
            <a:ext cx="3108960" cy="274320"/>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HOW THE GROUPS SPLIT</a:t>
            </a:r>
          </a:p>
        </p:txBody>
      </p:sp>
      <p:sp>
        <p:nvSpPr>
          <p:cNvPr id="10" name="TextBox 9"/>
          <p:cNvSpPr txBox="1"/>
          <p:nvPr/>
        </p:nvSpPr>
        <p:spPr>
          <a:xfrm>
            <a:off x="658368" y="4055364"/>
            <a:ext cx="1051560" cy="274320"/>
          </a:xfrm>
          <a:prstGeom prst="rect">
            <a:avLst/>
          </a:prstGeom>
          <a:noFill/>
        </p:spPr>
        <p:txBody>
          <a:bodyPr wrap="square" lIns="0" rIns="0" tIns="0" bIns="0" anchor="t">
            <a:spAutoFit/>
          </a:bodyPr>
          <a:lstStyle/>
          <a:p>
            <a:pPr algn="l">
              <a:lnSpc>
                <a:spcPct val="106000"/>
              </a:lnSpc>
              <a:spcAft>
                <a:spcPts val="400"/>
              </a:spcAft>
            </a:pPr>
            <a:r>
              <a:rPr sz="1050" b="0" i="0">
                <a:solidFill>
                  <a:srgbClr val="2A2722"/>
                </a:solidFill>
                <a:latin typeface="Arial"/>
              </a:rPr>
              <a:t>Occasional</a:t>
            </a:r>
          </a:p>
        </p:txBody>
      </p:sp>
      <p:sp>
        <p:nvSpPr>
          <p:cNvPr id="11" name="Rounded Rectangle 10"/>
          <p:cNvSpPr/>
          <p:nvPr/>
        </p:nvSpPr>
        <p:spPr>
          <a:xfrm>
            <a:off x="1801368" y="4096512"/>
            <a:ext cx="1783080" cy="182880"/>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801368" y="4096512"/>
            <a:ext cx="784555" cy="182880"/>
          </a:xfrm>
          <a:prstGeom prst="roundRect">
            <a:avLst>
              <a:gd name="adj" fmla="val 50000"/>
            </a:avLst>
          </a:prstGeom>
          <a:solidFill>
            <a:srgbClr val="8A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4014216"/>
            <a:ext cx="566928" cy="310896"/>
          </a:xfrm>
          <a:prstGeom prst="rect">
            <a:avLst/>
          </a:prstGeom>
          <a:noFill/>
        </p:spPr>
        <p:txBody>
          <a:bodyPr wrap="square" lIns="0" rIns="0" tIns="0" bIns="0" anchor="t">
            <a:spAutoFit/>
          </a:bodyPr>
          <a:lstStyle/>
          <a:p>
            <a:pPr algn="l">
              <a:lnSpc>
                <a:spcPct val="106000"/>
              </a:lnSpc>
              <a:spcAft>
                <a:spcPts val="400"/>
              </a:spcAft>
            </a:pPr>
            <a:r>
              <a:rPr sz="1100" b="1" i="0">
                <a:solidFill>
                  <a:srgbClr val="141414"/>
                </a:solidFill>
                <a:latin typeface="Arial"/>
              </a:rPr>
              <a:t>44%</a:t>
            </a:r>
          </a:p>
        </p:txBody>
      </p:sp>
      <p:sp>
        <p:nvSpPr>
          <p:cNvPr id="14" name="TextBox 13"/>
          <p:cNvSpPr txBox="1"/>
          <p:nvPr/>
        </p:nvSpPr>
        <p:spPr>
          <a:xfrm>
            <a:off x="658368" y="4530852"/>
            <a:ext cx="1051560" cy="274320"/>
          </a:xfrm>
          <a:prstGeom prst="rect">
            <a:avLst/>
          </a:prstGeom>
          <a:noFill/>
        </p:spPr>
        <p:txBody>
          <a:bodyPr wrap="square" lIns="0" rIns="0" tIns="0" bIns="0" anchor="t">
            <a:spAutoFit/>
          </a:bodyPr>
          <a:lstStyle/>
          <a:p>
            <a:pPr algn="l">
              <a:lnSpc>
                <a:spcPct val="106000"/>
              </a:lnSpc>
              <a:spcAft>
                <a:spcPts val="400"/>
              </a:spcAft>
            </a:pPr>
            <a:r>
              <a:rPr sz="1050" b="0" i="0">
                <a:solidFill>
                  <a:srgbClr val="2A2722"/>
                </a:solidFill>
                <a:latin typeface="Arial"/>
              </a:rPr>
              <a:t>Regular</a:t>
            </a:r>
          </a:p>
        </p:txBody>
      </p:sp>
      <p:sp>
        <p:nvSpPr>
          <p:cNvPr id="15" name="Rounded Rectangle 14"/>
          <p:cNvSpPr/>
          <p:nvPr/>
        </p:nvSpPr>
        <p:spPr>
          <a:xfrm>
            <a:off x="1801368" y="4572000"/>
            <a:ext cx="1783080" cy="182880"/>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801368" y="4572000"/>
            <a:ext cx="481431" cy="182880"/>
          </a:xfrm>
          <a:prstGeom prst="roundRect">
            <a:avLst>
              <a:gd name="adj" fmla="val 50000"/>
            </a:avLst>
          </a:prstGeom>
          <a:solidFill>
            <a:srgbClr val="4E8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4489704"/>
            <a:ext cx="566928" cy="310896"/>
          </a:xfrm>
          <a:prstGeom prst="rect">
            <a:avLst/>
          </a:prstGeom>
          <a:noFill/>
        </p:spPr>
        <p:txBody>
          <a:bodyPr wrap="square" lIns="0" rIns="0" tIns="0" bIns="0" anchor="t">
            <a:spAutoFit/>
          </a:bodyPr>
          <a:lstStyle/>
          <a:p>
            <a:pPr algn="l">
              <a:lnSpc>
                <a:spcPct val="106000"/>
              </a:lnSpc>
              <a:spcAft>
                <a:spcPts val="400"/>
              </a:spcAft>
            </a:pPr>
            <a:r>
              <a:rPr sz="1100" b="1" i="0">
                <a:solidFill>
                  <a:srgbClr val="141414"/>
                </a:solidFill>
                <a:latin typeface="Arial"/>
              </a:rPr>
              <a:t>27%</a:t>
            </a:r>
          </a:p>
        </p:txBody>
      </p:sp>
      <p:sp>
        <p:nvSpPr>
          <p:cNvPr id="18" name="TextBox 17"/>
          <p:cNvSpPr txBox="1"/>
          <p:nvPr/>
        </p:nvSpPr>
        <p:spPr>
          <a:xfrm>
            <a:off x="658368" y="5006340"/>
            <a:ext cx="1051560" cy="274320"/>
          </a:xfrm>
          <a:prstGeom prst="rect">
            <a:avLst/>
          </a:prstGeom>
          <a:noFill/>
        </p:spPr>
        <p:txBody>
          <a:bodyPr wrap="square" lIns="0" rIns="0" tIns="0" bIns="0" anchor="t">
            <a:spAutoFit/>
          </a:bodyPr>
          <a:lstStyle/>
          <a:p>
            <a:pPr algn="l">
              <a:lnSpc>
                <a:spcPct val="106000"/>
              </a:lnSpc>
              <a:spcAft>
                <a:spcPts val="400"/>
              </a:spcAft>
            </a:pPr>
            <a:r>
              <a:rPr sz="1050" b="0" i="0">
                <a:solidFill>
                  <a:srgbClr val="2A2722"/>
                </a:solidFill>
                <a:latin typeface="Arial"/>
              </a:rPr>
              <a:t>Loyal</a:t>
            </a:r>
          </a:p>
        </p:txBody>
      </p:sp>
      <p:sp>
        <p:nvSpPr>
          <p:cNvPr id="19" name="Rounded Rectangle 18"/>
          <p:cNvSpPr/>
          <p:nvPr/>
        </p:nvSpPr>
        <p:spPr>
          <a:xfrm>
            <a:off x="1801368" y="5047488"/>
            <a:ext cx="1783080" cy="182880"/>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01368" y="5047488"/>
            <a:ext cx="320954" cy="182880"/>
          </a:xfrm>
          <a:prstGeom prst="roundRect">
            <a:avLst>
              <a:gd name="adj" fmla="val 50000"/>
            </a:avLst>
          </a:prstGeom>
          <a:solidFill>
            <a:srgbClr val="517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4176" y="4965192"/>
            <a:ext cx="566928" cy="310896"/>
          </a:xfrm>
          <a:prstGeom prst="rect">
            <a:avLst/>
          </a:prstGeom>
          <a:noFill/>
        </p:spPr>
        <p:txBody>
          <a:bodyPr wrap="square" lIns="0" rIns="0" tIns="0" bIns="0" anchor="t">
            <a:spAutoFit/>
          </a:bodyPr>
          <a:lstStyle/>
          <a:p>
            <a:pPr algn="l">
              <a:lnSpc>
                <a:spcPct val="106000"/>
              </a:lnSpc>
              <a:spcAft>
                <a:spcPts val="400"/>
              </a:spcAft>
            </a:pPr>
            <a:r>
              <a:rPr sz="1100" b="1" i="0">
                <a:solidFill>
                  <a:srgbClr val="141414"/>
                </a:solidFill>
                <a:latin typeface="Arial"/>
              </a:rPr>
              <a:t>18%</a:t>
            </a:r>
          </a:p>
        </p:txBody>
      </p:sp>
      <p:sp>
        <p:nvSpPr>
          <p:cNvPr id="22" name="TextBox 21"/>
          <p:cNvSpPr txBox="1"/>
          <p:nvPr/>
        </p:nvSpPr>
        <p:spPr>
          <a:xfrm>
            <a:off x="658368" y="5481828"/>
            <a:ext cx="1051560" cy="274320"/>
          </a:xfrm>
          <a:prstGeom prst="rect">
            <a:avLst/>
          </a:prstGeom>
          <a:noFill/>
        </p:spPr>
        <p:txBody>
          <a:bodyPr wrap="square" lIns="0" rIns="0" tIns="0" bIns="0" anchor="t">
            <a:spAutoFit/>
          </a:bodyPr>
          <a:lstStyle/>
          <a:p>
            <a:pPr algn="l">
              <a:lnSpc>
                <a:spcPct val="106000"/>
              </a:lnSpc>
              <a:spcAft>
                <a:spcPts val="400"/>
              </a:spcAft>
            </a:pPr>
            <a:r>
              <a:rPr sz="1050" b="0" i="0">
                <a:solidFill>
                  <a:srgbClr val="2A2722"/>
                </a:solidFill>
                <a:latin typeface="Arial"/>
              </a:rPr>
              <a:t>High-Value</a:t>
            </a:r>
          </a:p>
        </p:txBody>
      </p:sp>
      <p:sp>
        <p:nvSpPr>
          <p:cNvPr id="23" name="Rounded Rectangle 22"/>
          <p:cNvSpPr/>
          <p:nvPr/>
        </p:nvSpPr>
        <p:spPr>
          <a:xfrm>
            <a:off x="1801368" y="5522976"/>
            <a:ext cx="1783080" cy="182880"/>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801368" y="5522976"/>
            <a:ext cx="196138" cy="182880"/>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4176" y="5440680"/>
            <a:ext cx="566928" cy="310896"/>
          </a:xfrm>
          <a:prstGeom prst="rect">
            <a:avLst/>
          </a:prstGeom>
          <a:noFill/>
        </p:spPr>
        <p:txBody>
          <a:bodyPr wrap="square" lIns="0" rIns="0" tIns="0" bIns="0" anchor="t">
            <a:spAutoFit/>
          </a:bodyPr>
          <a:lstStyle/>
          <a:p>
            <a:pPr algn="l">
              <a:lnSpc>
                <a:spcPct val="106000"/>
              </a:lnSpc>
              <a:spcAft>
                <a:spcPts val="400"/>
              </a:spcAft>
            </a:pPr>
            <a:r>
              <a:rPr sz="1100" b="1" i="0">
                <a:solidFill>
                  <a:srgbClr val="141414"/>
                </a:solidFill>
                <a:latin typeface="Arial"/>
              </a:rPr>
              <a:t>11%</a:t>
            </a:r>
          </a:p>
        </p:txBody>
      </p:sp>
      <p:sp>
        <p:nvSpPr>
          <p:cNvPr id="26" name="TextBox 25"/>
          <p:cNvSpPr txBox="1"/>
          <p:nvPr/>
        </p:nvSpPr>
        <p:spPr>
          <a:xfrm>
            <a:off x="658368" y="5925312"/>
            <a:ext cx="3291840" cy="274320"/>
          </a:xfrm>
          <a:prstGeom prst="rect">
            <a:avLst/>
          </a:prstGeom>
          <a:noFill/>
        </p:spPr>
        <p:txBody>
          <a:bodyPr wrap="square" lIns="0" rIns="0" tIns="0" bIns="0" anchor="t">
            <a:spAutoFit/>
          </a:bodyPr>
          <a:lstStyle/>
          <a:p>
            <a:pPr algn="l">
              <a:lnSpc>
                <a:spcPct val="110000"/>
              </a:lnSpc>
              <a:spcAft>
                <a:spcPts val="400"/>
              </a:spcAft>
            </a:pPr>
            <a:r>
              <a:rPr sz="900" b="0" i="0">
                <a:solidFill>
                  <a:srgbClr val="8A8478"/>
                </a:solidFill>
                <a:latin typeface="Arial"/>
              </a:rPr>
              <a:t>Uneven on purpose — a real shop has more casual buyers than VIPs.</a:t>
            </a:r>
          </a:p>
        </p:txBody>
      </p:sp>
      <p:graphicFrame>
        <p:nvGraphicFramePr>
          <p:cNvPr id="27" name="Table 26"/>
          <p:cNvGraphicFramePr>
            <a:graphicFrameLocks noGrp="1"/>
          </p:cNvGraphicFramePr>
          <p:nvPr/>
        </p:nvGraphicFramePr>
        <p:xfrm>
          <a:off x="4224528" y="1783080"/>
          <a:ext cx="7415782" cy="4445810"/>
        </p:xfrm>
        <a:graphic>
          <a:graphicData uri="http://schemas.openxmlformats.org/drawingml/2006/table">
            <a:tbl>
              <a:tblPr>
                <a:tableStyleId>{5C22544A-7EE6-4342-B048-85BDC9FD1C3A}</a:tableStyleId>
              </a:tblPr>
              <a:tblGrid>
                <a:gridCol w="1874519"/>
                <a:gridCol w="1874519"/>
                <a:gridCol w="658368"/>
                <a:gridCol w="3008376"/>
              </a:tblGrid>
              <a:tr h="310896">
                <a:tc>
                  <a:txBody>
                    <a:bodyPr wrap="square"/>
                    <a:lstStyle/>
                    <a:p>
                      <a:pPr algn="l">
                        <a:lnSpc>
                          <a:spcPct val="100000"/>
                        </a:lnSpc>
                      </a:pPr>
                      <a:r>
                        <a:rPr sz="1000" b="1">
                          <a:solidFill>
                            <a:srgbClr val="FFFFFF"/>
                          </a:solidFill>
                          <a:latin typeface="Arial"/>
                        </a:rPr>
                        <a:t>Column</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What it means</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Gaps</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Typical values</a:t>
                      </a:r>
                    </a:p>
                  </a:txBody>
                  <a:tcPr marL="82296" marR="54864" marT="18288" marB="18288" anchor="ctr">
                    <a:solidFill>
                      <a:srgbClr val="121212"/>
                    </a:solidFill>
                  </a:tcPr>
                </a:tc>
              </a:tr>
              <a:tr h="295351">
                <a:tc>
                  <a:txBody>
                    <a:bodyPr wrap="square"/>
                    <a:lstStyle/>
                    <a:p>
                      <a:pPr algn="l">
                        <a:lnSpc>
                          <a:spcPct val="100000"/>
                        </a:lnSpc>
                      </a:pPr>
                      <a:r>
                        <a:rPr sz="930" b="1">
                          <a:solidFill>
                            <a:srgbClr val="141414"/>
                          </a:solidFill>
                          <a:latin typeface="Arial"/>
                        </a:rPr>
                        <a:t>customer_id</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just an ID number</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ignored — a label, not behaviour</a:t>
                      </a:r>
                    </a:p>
                  </a:txBody>
                  <a:tcPr marL="82296" marR="54864" marT="18288" marB="18288" anchor="ctr">
                    <a:solidFill>
                      <a:srgbClr val="FFFFFF"/>
                    </a:solidFill>
                  </a:tcPr>
                </a:tc>
              </a:tr>
              <a:tr h="295351">
                <a:tc>
                  <a:txBody>
                    <a:bodyPr wrap="square"/>
                    <a:lstStyle/>
                    <a:p>
                      <a:pPr algn="l">
                        <a:lnSpc>
                          <a:spcPct val="100000"/>
                        </a:lnSpc>
                      </a:pPr>
                      <a:r>
                        <a:rPr sz="930" b="1">
                          <a:solidFill>
                            <a:srgbClr val="141414"/>
                          </a:solidFill>
                          <a:latin typeface="Arial"/>
                        </a:rPr>
                        <a:t>age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customer age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18–70, most 35–50</a:t>
                      </a:r>
                    </a:p>
                  </a:txBody>
                  <a:tcPr marL="82296" marR="54864" marT="18288" marB="18288" anchor="ctr">
                    <a:solidFill>
                      <a:srgbClr val="F4F0E8"/>
                    </a:solidFill>
                  </a:tcPr>
                </a:tc>
              </a:tr>
              <a:tr h="295351">
                <a:tc>
                  <a:txBody>
                    <a:bodyPr wrap="square"/>
                    <a:lstStyle/>
                    <a:p>
                      <a:pPr algn="l">
                        <a:lnSpc>
                          <a:spcPct val="100000"/>
                        </a:lnSpc>
                      </a:pPr>
                      <a:r>
                        <a:rPr sz="930" b="1">
                          <a:solidFill>
                            <a:srgbClr val="141414"/>
                          </a:solidFill>
                          <a:latin typeface="Arial"/>
                        </a:rPr>
                        <a:t>annual_income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money earned per year</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3,075</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15k–150k, a few very high</a:t>
                      </a:r>
                    </a:p>
                  </a:txBody>
                  <a:tcPr marL="82296" marR="54864" marT="18288" marB="18288" anchor="ctr">
                    <a:solidFill>
                      <a:srgbClr val="FFFFFF"/>
                    </a:solidFill>
                  </a:tcPr>
                </a:tc>
              </a:tr>
              <a:tr h="295351">
                <a:tc>
                  <a:txBody>
                    <a:bodyPr wrap="square"/>
                    <a:lstStyle/>
                    <a:p>
                      <a:pPr algn="l">
                        <a:lnSpc>
                          <a:spcPct val="100000"/>
                        </a:lnSpc>
                      </a:pPr>
                      <a:r>
                        <a:rPr sz="930" b="1">
                          <a:solidFill>
                            <a:srgbClr val="141414"/>
                          </a:solidFill>
                          <a:latin typeface="Arial"/>
                        </a:rPr>
                        <a:t>months_active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how long a customer</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1–72 months</a:t>
                      </a:r>
                    </a:p>
                  </a:txBody>
                  <a:tcPr marL="82296" marR="54864" marT="18288" marB="18288" anchor="ctr">
                    <a:solidFill>
                      <a:srgbClr val="F4F0E8"/>
                    </a:solidFill>
                  </a:tcPr>
                </a:tc>
              </a:tr>
              <a:tr h="295351">
                <a:tc>
                  <a:txBody>
                    <a:bodyPr wrap="square"/>
                    <a:lstStyle/>
                    <a:p>
                      <a:pPr algn="l">
                        <a:lnSpc>
                          <a:spcPct val="100000"/>
                        </a:lnSpc>
                      </a:pPr>
                      <a:r>
                        <a:rPr sz="930" b="1">
                          <a:solidFill>
                            <a:srgbClr val="141414"/>
                          </a:solidFill>
                          <a:latin typeface="Arial"/>
                        </a:rPr>
                        <a:t>avg_monthly_spend</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spent per month</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2,520</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₹20–800, typical ₹320</a:t>
                      </a:r>
                    </a:p>
                  </a:txBody>
                  <a:tcPr marL="82296" marR="54864" marT="18288" marB="18288" anchor="ctr">
                    <a:solidFill>
                      <a:srgbClr val="FFFFFF"/>
                    </a:solidFill>
                  </a:tcPr>
                </a:tc>
              </a:tr>
              <a:tr h="295351">
                <a:tc>
                  <a:txBody>
                    <a:bodyPr wrap="square"/>
                    <a:lstStyle/>
                    <a:p>
                      <a:pPr algn="l">
                        <a:lnSpc>
                          <a:spcPct val="100000"/>
                        </a:lnSpc>
                      </a:pPr>
                      <a:r>
                        <a:rPr sz="930" b="1">
                          <a:solidFill>
                            <a:srgbClr val="141414"/>
                          </a:solidFill>
                          <a:latin typeface="Arial"/>
                        </a:rPr>
                        <a:t>purchase_frequency</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shopping trips per month</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1,979</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0.1–10, typical 3.2</a:t>
                      </a:r>
                    </a:p>
                  </a:txBody>
                  <a:tcPr marL="82296" marR="54864" marT="18288" marB="18288" anchor="ctr">
                    <a:solidFill>
                      <a:srgbClr val="F4F0E8"/>
                    </a:solidFill>
                  </a:tcPr>
                </a:tc>
              </a:tr>
              <a:tr h="295351">
                <a:tc>
                  <a:txBody>
                    <a:bodyPr wrap="square"/>
                    <a:lstStyle/>
                    <a:p>
                      <a:pPr algn="l">
                        <a:lnSpc>
                          <a:spcPct val="100000"/>
                        </a:lnSpc>
                      </a:pPr>
                      <a:r>
                        <a:rPr sz="930" b="1">
                          <a:solidFill>
                            <a:srgbClr val="141414"/>
                          </a:solidFill>
                          <a:latin typeface="Arial"/>
                        </a:rPr>
                        <a:t>avg_order_value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typical basket size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₹20–500</a:t>
                      </a:r>
                    </a:p>
                  </a:txBody>
                  <a:tcPr marL="82296" marR="54864" marT="18288" marB="18288" anchor="ctr">
                    <a:solidFill>
                      <a:srgbClr val="FFFFFF"/>
                    </a:solidFill>
                  </a:tcPr>
                </a:tc>
              </a:tr>
              <a:tr h="295351">
                <a:tc>
                  <a:txBody>
                    <a:bodyPr wrap="square"/>
                    <a:lstStyle/>
                    <a:p>
                      <a:pPr algn="l">
                        <a:lnSpc>
                          <a:spcPct val="100000"/>
                        </a:lnSpc>
                      </a:pPr>
                      <a:r>
                        <a:rPr sz="930" b="1">
                          <a:solidFill>
                            <a:srgbClr val="141414"/>
                          </a:solidFill>
                          <a:latin typeface="Arial"/>
                        </a:rPr>
                        <a:t>discount_usage_rate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how much they use discounts</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2,549</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0–1 scale</a:t>
                      </a:r>
                    </a:p>
                  </a:txBody>
                  <a:tcPr marL="82296" marR="54864" marT="18288" marB="18288" anchor="ctr">
                    <a:solidFill>
                      <a:srgbClr val="F4F0E8"/>
                    </a:solidFill>
                  </a:tcPr>
                </a:tc>
              </a:tr>
              <a:tr h="295351">
                <a:tc>
                  <a:txBody>
                    <a:bodyPr wrap="square"/>
                    <a:lstStyle/>
                    <a:p>
                      <a:pPr algn="l">
                        <a:lnSpc>
                          <a:spcPct val="100000"/>
                        </a:lnSpc>
                      </a:pPr>
                      <a:r>
                        <a:rPr sz="930" b="1">
                          <a:solidFill>
                            <a:srgbClr val="141414"/>
                          </a:solidFill>
                          <a:latin typeface="Arial"/>
                        </a:rPr>
                        <a:t>return_rate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how often they return items</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2,487</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0–1 scale</a:t>
                      </a:r>
                    </a:p>
                  </a:txBody>
                  <a:tcPr marL="82296" marR="54864" marT="18288" marB="18288" anchor="ctr">
                    <a:solidFill>
                      <a:srgbClr val="FFFFFF"/>
                    </a:solidFill>
                  </a:tcPr>
                </a:tc>
              </a:tr>
              <a:tr h="295351">
                <a:tc>
                  <a:txBody>
                    <a:bodyPr wrap="square"/>
                    <a:lstStyle/>
                    <a:p>
                      <a:pPr algn="l">
                        <a:lnSpc>
                          <a:spcPct val="100000"/>
                        </a:lnSpc>
                      </a:pPr>
                      <a:r>
                        <a:rPr sz="930" b="1">
                          <a:solidFill>
                            <a:srgbClr val="141414"/>
                          </a:solidFill>
                          <a:latin typeface="Arial"/>
                        </a:rPr>
                        <a:t>browsing_time_minutes</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time on the website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3,934</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5–200 min (most gaps)</a:t>
                      </a:r>
                    </a:p>
                  </a:txBody>
                  <a:tcPr marL="82296" marR="54864" marT="18288" marB="18288" anchor="ctr">
                    <a:solidFill>
                      <a:srgbClr val="F4F0E8"/>
                    </a:solidFill>
                  </a:tcPr>
                </a:tc>
              </a:tr>
              <a:tr h="295351">
                <a:tc>
                  <a:txBody>
                    <a:bodyPr wrap="square"/>
                    <a:lstStyle/>
                    <a:p>
                      <a:pPr algn="l">
                        <a:lnSpc>
                          <a:spcPct val="100000"/>
                        </a:lnSpc>
                      </a:pPr>
                      <a:r>
                        <a:rPr sz="930" b="1">
                          <a:solidFill>
                            <a:srgbClr val="141414"/>
                          </a:solidFill>
                          <a:latin typeface="Arial"/>
                        </a:rPr>
                        <a:t>support_interactions</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help calls / chats</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1,988</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0–15</a:t>
                      </a:r>
                    </a:p>
                  </a:txBody>
                  <a:tcPr marL="82296" marR="54864" marT="18288" marB="18288" anchor="ctr">
                    <a:solidFill>
                      <a:srgbClr val="FFFFFF"/>
                    </a:solidFill>
                  </a:tcPr>
                </a:tc>
              </a:tr>
              <a:tr h="295351">
                <a:tc>
                  <a:txBody>
                    <a:bodyPr wrap="square"/>
                    <a:lstStyle/>
                    <a:p>
                      <a:pPr algn="l">
                        <a:lnSpc>
                          <a:spcPct val="100000"/>
                        </a:lnSpc>
                      </a:pPr>
                      <a:r>
                        <a:rPr sz="930" b="1">
                          <a:solidFill>
                            <a:srgbClr val="141414"/>
                          </a:solidFill>
                          <a:latin typeface="Arial"/>
                        </a:rPr>
                        <a:t>payment_method</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how they pay</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Card 40% • Wallet 35% • UPI 25%</a:t>
                      </a:r>
                    </a:p>
                  </a:txBody>
                  <a:tcPr marL="82296" marR="54864" marT="18288" marB="18288" anchor="ctr">
                    <a:solidFill>
                      <a:srgbClr val="F4F0E8"/>
                    </a:solidFill>
                  </a:tcPr>
                </a:tc>
              </a:tr>
              <a:tr h="295351">
                <a:tc>
                  <a:txBody>
                    <a:bodyPr wrap="square"/>
                    <a:lstStyle/>
                    <a:p>
                      <a:pPr algn="l">
                        <a:lnSpc>
                          <a:spcPct val="100000"/>
                        </a:lnSpc>
                      </a:pPr>
                      <a:r>
                        <a:rPr sz="930" b="1">
                          <a:solidFill>
                            <a:srgbClr val="141414"/>
                          </a:solidFill>
                          <a:latin typeface="Arial"/>
                        </a:rPr>
                        <a:t>region</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where they live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Urban 50% • Semi 30% • Rural 20%</a:t>
                      </a:r>
                    </a:p>
                  </a:txBody>
                  <a:tcPr marL="82296" marR="54864" marT="18288" marB="18288" anchor="ctr">
                    <a:solidFill>
                      <a:srgbClr val="FFFFFF"/>
                    </a:solidFill>
                  </a:tcPr>
                </a:tc>
              </a:tr>
              <a:tr h="295351">
                <a:tc>
                  <a:txBody>
                    <a:bodyPr wrap="square"/>
                    <a:lstStyle/>
                    <a:p>
                      <a:pPr algn="l">
                        <a:lnSpc>
                          <a:spcPct val="100000"/>
                        </a:lnSpc>
                      </a:pPr>
                      <a:r>
                        <a:rPr sz="930" b="1">
                          <a:solidFill>
                            <a:srgbClr val="141414"/>
                          </a:solidFill>
                          <a:latin typeface="Arial"/>
                        </a:rPr>
                        <a:t>customer_segment</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THE ANSWER we predict</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4 groups</a:t>
                      </a:r>
                    </a:p>
                  </a:txBody>
                  <a:tcPr marL="82296" marR="54864" marT="18288" marB="18288" anchor="ctr">
                    <a:solidFill>
                      <a:srgbClr val="F4F0E8"/>
                    </a:solidFill>
                  </a:tcPr>
                </a:tc>
              </a:tr>
            </a:tbl>
          </a:graphicData>
        </a:graphic>
      </p:graphicFrame>
      <p:sp>
        <p:nvSpPr>
          <p:cNvPr id="28" name="TextBox 27"/>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04/17</a:t>
            </a:r>
          </a:p>
        </p:txBody>
      </p:sp>
      <p:sp>
        <p:nvSpPr>
          <p:cNvPr id="29" name="TextBox 28"/>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03  •  KNOW YOUR DATA</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50k customers, 12 details, some gaps</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1764792" cy="98755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874519"/>
            <a:ext cx="1673351" cy="822960"/>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50,000</a:t>
            </a:r>
          </a:p>
          <a:p>
            <a:pPr algn="ctr">
              <a:lnSpc>
                <a:spcPct val="106000"/>
              </a:lnSpc>
              <a:spcAft>
                <a:spcPts val="0"/>
              </a:spcAft>
            </a:pPr>
            <a:r>
              <a:rPr sz="850" b="1" i="0" spc="80">
                <a:solidFill>
                  <a:srgbClr val="6E685C"/>
                </a:solidFill>
                <a:latin typeface="Arial"/>
              </a:rPr>
              <a:t>ROWS</a:t>
            </a:r>
          </a:p>
          <a:p>
            <a:pPr algn="ctr">
              <a:lnSpc>
                <a:spcPct val="106000"/>
              </a:lnSpc>
              <a:spcAft>
                <a:spcPts val="0"/>
              </a:spcAft>
            </a:pPr>
            <a:r>
              <a:rPr sz="750" b="0" i="0">
                <a:solidFill>
                  <a:srgbClr val="B5AEA0"/>
                </a:solidFill>
                <a:latin typeface="Arial"/>
              </a:rPr>
              <a:t>real customers</a:t>
            </a:r>
          </a:p>
        </p:txBody>
      </p:sp>
      <p:sp>
        <p:nvSpPr>
          <p:cNvPr id="8" name="Rounded Rectangle 7"/>
          <p:cNvSpPr/>
          <p:nvPr/>
        </p:nvSpPr>
        <p:spPr>
          <a:xfrm>
            <a:off x="2432304" y="1783080"/>
            <a:ext cx="1764792" cy="98755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8024" y="1874519"/>
            <a:ext cx="1673351" cy="822960"/>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13</a:t>
            </a:r>
          </a:p>
          <a:p>
            <a:pPr algn="ctr">
              <a:lnSpc>
                <a:spcPct val="106000"/>
              </a:lnSpc>
              <a:spcAft>
                <a:spcPts val="0"/>
              </a:spcAft>
            </a:pPr>
            <a:r>
              <a:rPr sz="850" b="1" i="0" spc="80">
                <a:solidFill>
                  <a:srgbClr val="6E685C"/>
                </a:solidFill>
                <a:latin typeface="Arial"/>
              </a:rPr>
              <a:t>COLUMNS</a:t>
            </a:r>
          </a:p>
          <a:p>
            <a:pPr algn="ctr">
              <a:lnSpc>
                <a:spcPct val="106000"/>
              </a:lnSpc>
              <a:spcAft>
                <a:spcPts val="0"/>
              </a:spcAft>
            </a:pPr>
            <a:r>
              <a:rPr sz="750" b="0" i="0">
                <a:solidFill>
                  <a:srgbClr val="B5AEA0"/>
                </a:solidFill>
                <a:latin typeface="Arial"/>
              </a:rPr>
              <a:t>12 details + answer</a:t>
            </a:r>
          </a:p>
        </p:txBody>
      </p:sp>
      <p:sp>
        <p:nvSpPr>
          <p:cNvPr id="10" name="Rounded Rectangle 9"/>
          <p:cNvSpPr/>
          <p:nvPr/>
        </p:nvSpPr>
        <p:spPr>
          <a:xfrm>
            <a:off x="4297680" y="1783080"/>
            <a:ext cx="1764792" cy="98755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874519"/>
            <a:ext cx="1673351" cy="822960"/>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3,934</a:t>
            </a:r>
          </a:p>
          <a:p>
            <a:pPr algn="ctr">
              <a:lnSpc>
                <a:spcPct val="106000"/>
              </a:lnSpc>
              <a:spcAft>
                <a:spcPts val="0"/>
              </a:spcAft>
            </a:pPr>
            <a:r>
              <a:rPr sz="850" b="1" i="0" spc="80">
                <a:solidFill>
                  <a:srgbClr val="6E685C"/>
                </a:solidFill>
                <a:latin typeface="Arial"/>
              </a:rPr>
              <a:t>MOST MISSING</a:t>
            </a:r>
          </a:p>
          <a:p>
            <a:pPr algn="ctr">
              <a:lnSpc>
                <a:spcPct val="106000"/>
              </a:lnSpc>
              <a:spcAft>
                <a:spcPts val="0"/>
              </a:spcAft>
            </a:pPr>
            <a:r>
              <a:rPr sz="750" b="0" i="0">
                <a:solidFill>
                  <a:srgbClr val="B5AEA0"/>
                </a:solidFill>
                <a:latin typeface="Arial"/>
              </a:rPr>
              <a:t>website minutes</a:t>
            </a:r>
          </a:p>
        </p:txBody>
      </p:sp>
      <p:sp>
        <p:nvSpPr>
          <p:cNvPr id="12" name="Rounded Rectangle 11"/>
          <p:cNvSpPr/>
          <p:nvPr/>
        </p:nvSpPr>
        <p:spPr>
          <a:xfrm>
            <a:off x="6163056" y="1783080"/>
            <a:ext cx="1764792" cy="98755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08776" y="1874519"/>
            <a:ext cx="1673351" cy="822960"/>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4</a:t>
            </a:r>
          </a:p>
          <a:p>
            <a:pPr algn="ctr">
              <a:lnSpc>
                <a:spcPct val="106000"/>
              </a:lnSpc>
              <a:spcAft>
                <a:spcPts val="0"/>
              </a:spcAft>
            </a:pPr>
            <a:r>
              <a:rPr sz="850" b="1" i="0" spc="80">
                <a:solidFill>
                  <a:srgbClr val="6E685C"/>
                </a:solidFill>
                <a:latin typeface="Arial"/>
              </a:rPr>
              <a:t>GROUPS</a:t>
            </a:r>
          </a:p>
          <a:p>
            <a:pPr algn="ctr">
              <a:lnSpc>
                <a:spcPct val="106000"/>
              </a:lnSpc>
              <a:spcAft>
                <a:spcPts val="0"/>
              </a:spcAft>
            </a:pPr>
            <a:r>
              <a:rPr sz="750" b="0" i="0">
                <a:solidFill>
                  <a:srgbClr val="B5AEA0"/>
                </a:solidFill>
                <a:latin typeface="Arial"/>
              </a:rPr>
              <a:t>uneven, like real life</a:t>
            </a:r>
          </a:p>
        </p:txBody>
      </p:sp>
      <p:sp>
        <p:nvSpPr>
          <p:cNvPr id="14" name="Rounded Rectangle 13"/>
          <p:cNvSpPr/>
          <p:nvPr/>
        </p:nvSpPr>
        <p:spPr>
          <a:xfrm>
            <a:off x="8028431" y="1783080"/>
            <a:ext cx="1764792" cy="98755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74152" y="1874519"/>
            <a:ext cx="1673351" cy="822960"/>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7.8 MB</a:t>
            </a:r>
          </a:p>
          <a:p>
            <a:pPr algn="ctr">
              <a:lnSpc>
                <a:spcPct val="106000"/>
              </a:lnSpc>
              <a:spcAft>
                <a:spcPts val="0"/>
              </a:spcAft>
            </a:pPr>
            <a:r>
              <a:rPr sz="850" b="1" i="0" spc="80">
                <a:solidFill>
                  <a:srgbClr val="6E685C"/>
                </a:solidFill>
                <a:latin typeface="Arial"/>
              </a:rPr>
              <a:t>FILE SIZE</a:t>
            </a:r>
          </a:p>
          <a:p>
            <a:pPr algn="ctr">
              <a:lnSpc>
                <a:spcPct val="106000"/>
              </a:lnSpc>
              <a:spcAft>
                <a:spcPts val="0"/>
              </a:spcAft>
            </a:pPr>
            <a:r>
              <a:rPr sz="750" b="0" i="0">
                <a:solidFill>
                  <a:srgbClr val="B5AEA0"/>
                </a:solidFill>
                <a:latin typeface="Arial"/>
              </a:rPr>
              <a:t>opens instantly</a:t>
            </a:r>
          </a:p>
        </p:txBody>
      </p:sp>
      <p:sp>
        <p:nvSpPr>
          <p:cNvPr id="16" name="Rounded Rectangle 15"/>
          <p:cNvSpPr/>
          <p:nvPr/>
        </p:nvSpPr>
        <p:spPr>
          <a:xfrm>
            <a:off x="9893807" y="1783080"/>
            <a:ext cx="1764792" cy="987552"/>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39528" y="1874519"/>
            <a:ext cx="1673351" cy="822960"/>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0</a:t>
            </a:r>
          </a:p>
          <a:p>
            <a:pPr algn="ctr">
              <a:lnSpc>
                <a:spcPct val="106000"/>
              </a:lnSpc>
              <a:spcAft>
                <a:spcPts val="0"/>
              </a:spcAft>
            </a:pPr>
            <a:r>
              <a:rPr sz="850" b="1" i="0" spc="80">
                <a:solidFill>
                  <a:srgbClr val="6E685C"/>
                </a:solidFill>
                <a:latin typeface="Arial"/>
              </a:rPr>
              <a:t>DUPLICATES</a:t>
            </a:r>
          </a:p>
          <a:p>
            <a:pPr algn="ctr">
              <a:lnSpc>
                <a:spcPct val="106000"/>
              </a:lnSpc>
              <a:spcAft>
                <a:spcPts val="0"/>
              </a:spcAft>
            </a:pPr>
            <a:r>
              <a:rPr sz="750" b="0" i="0">
                <a:solidFill>
                  <a:srgbClr val="B5AEA0"/>
                </a:solidFill>
                <a:latin typeface="Arial"/>
              </a:rPr>
              <a:t>nobody counted twice</a:t>
            </a:r>
          </a:p>
        </p:txBody>
      </p:sp>
      <p:graphicFrame>
        <p:nvGraphicFramePr>
          <p:cNvPr id="18" name="Table 17"/>
          <p:cNvGraphicFramePr>
            <a:graphicFrameLocks noGrp="1"/>
          </p:cNvGraphicFramePr>
          <p:nvPr/>
        </p:nvGraphicFramePr>
        <p:xfrm>
          <a:off x="566928" y="2999232"/>
          <a:ext cx="6547103" cy="3191256"/>
        </p:xfrm>
        <a:graphic>
          <a:graphicData uri="http://schemas.openxmlformats.org/drawingml/2006/table">
            <a:tbl>
              <a:tblPr>
                <a:tableStyleId>{5C22544A-7EE6-4342-B048-85BDC9FD1C3A}</a:tableStyleId>
              </a:tblPr>
              <a:tblGrid>
                <a:gridCol w="1874519"/>
                <a:gridCol w="868680"/>
                <a:gridCol w="960120"/>
                <a:gridCol w="2843784"/>
              </a:tblGrid>
              <a:tr h="310896">
                <a:tc>
                  <a:txBody>
                    <a:bodyPr wrap="square"/>
                    <a:lstStyle/>
                    <a:p>
                      <a:pPr algn="l">
                        <a:lnSpc>
                          <a:spcPct val="100000"/>
                        </a:lnSpc>
                      </a:pPr>
                      <a:r>
                        <a:rPr sz="1000" b="1">
                          <a:solidFill>
                            <a:srgbClr val="FFFFFF"/>
                          </a:solidFill>
                          <a:latin typeface="Arial"/>
                        </a:rPr>
                        <a:t>Detail</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Average</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Range</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What it hints</a:t>
                      </a:r>
                    </a:p>
                  </a:txBody>
                  <a:tcPr marL="82296" marR="54864" marT="18288" marB="18288" anchor="ctr">
                    <a:solidFill>
                      <a:srgbClr val="121212"/>
                    </a:solidFill>
                  </a:tcPr>
                </a:tc>
              </a:tr>
              <a:tr h="288036">
                <a:tc>
                  <a:txBody>
                    <a:bodyPr wrap="square"/>
                    <a:lstStyle/>
                    <a:p>
                      <a:pPr algn="l">
                        <a:lnSpc>
                          <a:spcPct val="100000"/>
                        </a:lnSpc>
                      </a:pPr>
                      <a:r>
                        <a:rPr sz="930" b="1">
                          <a:solidFill>
                            <a:srgbClr val="141414"/>
                          </a:solidFill>
                          <a:latin typeface="Arial"/>
                        </a:rPr>
                        <a:t>age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43.5 yrs</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18–70</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Loyal ~45 vs Occasional ~32</a:t>
                      </a:r>
                    </a:p>
                  </a:txBody>
                  <a:tcPr marL="82296" marR="54864" marT="18288" marB="18288" anchor="ctr">
                    <a:solidFill>
                      <a:srgbClr val="FFFFFF"/>
                    </a:solidFill>
                  </a:tcPr>
                </a:tc>
              </a:tr>
              <a:tr h="288036">
                <a:tc>
                  <a:txBody>
                    <a:bodyPr wrap="square"/>
                    <a:lstStyle/>
                    <a:p>
                      <a:pPr algn="l">
                        <a:lnSpc>
                          <a:spcPct val="100000"/>
                        </a:lnSpc>
                      </a:pPr>
                      <a:r>
                        <a:rPr sz="930" b="1">
                          <a:solidFill>
                            <a:srgbClr val="141414"/>
                          </a:solidFill>
                          <a:latin typeface="Arial"/>
                        </a:rPr>
                        <a:t>annual_income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₹55k/yr</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15k–150k</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High-Value ₹95k+ vs Occ ₹38k</a:t>
                      </a:r>
                    </a:p>
                  </a:txBody>
                  <a:tcPr marL="82296" marR="54864" marT="18288" marB="18288" anchor="ctr">
                    <a:solidFill>
                      <a:srgbClr val="F4F0E8"/>
                    </a:solidFill>
                  </a:tcPr>
                </a:tc>
              </a:tr>
              <a:tr h="288036">
                <a:tc>
                  <a:txBody>
                    <a:bodyPr wrap="square"/>
                    <a:lstStyle/>
                    <a:p>
                      <a:pPr algn="l">
                        <a:lnSpc>
                          <a:spcPct val="100000"/>
                        </a:lnSpc>
                      </a:pPr>
                      <a:r>
                        <a:rPr sz="930" b="1">
                          <a:solidFill>
                            <a:srgbClr val="141414"/>
                          </a:solidFill>
                          <a:latin typeface="Arial"/>
                        </a:rPr>
                        <a:t>months_active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36 mo</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1–72</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Loyal 60+ vs Occasional 18</a:t>
                      </a:r>
                    </a:p>
                  </a:txBody>
                  <a:tcPr marL="82296" marR="54864" marT="18288" marB="18288" anchor="ctr">
                    <a:solidFill>
                      <a:srgbClr val="FFFFFF"/>
                    </a:solidFill>
                  </a:tcPr>
                </a:tc>
              </a:tr>
              <a:tr h="288036">
                <a:tc>
                  <a:txBody>
                    <a:bodyPr wrap="square"/>
                    <a:lstStyle/>
                    <a:p>
                      <a:pPr algn="l">
                        <a:lnSpc>
                          <a:spcPct val="100000"/>
                        </a:lnSpc>
                      </a:pPr>
                      <a:r>
                        <a:rPr sz="930" b="1">
                          <a:solidFill>
                            <a:srgbClr val="141414"/>
                          </a:solidFill>
                          <a:latin typeface="Arial"/>
                        </a:rPr>
                        <a:t>avg_monthly_spend</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₹320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₹20–800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High-Value 650+ vs Occ 120</a:t>
                      </a:r>
                    </a:p>
                  </a:txBody>
                  <a:tcPr marL="82296" marR="54864" marT="18288" marB="18288" anchor="ctr">
                    <a:solidFill>
                      <a:srgbClr val="F4F0E8"/>
                    </a:solidFill>
                  </a:tcPr>
                </a:tc>
              </a:tr>
              <a:tr h="288036">
                <a:tc>
                  <a:txBody>
                    <a:bodyPr wrap="square"/>
                    <a:lstStyle/>
                    <a:p>
                      <a:pPr algn="l">
                        <a:lnSpc>
                          <a:spcPct val="100000"/>
                        </a:lnSpc>
                      </a:pPr>
                      <a:r>
                        <a:rPr sz="930" b="1">
                          <a:solidFill>
                            <a:srgbClr val="141414"/>
                          </a:solidFill>
                          <a:latin typeface="Arial"/>
                        </a:rPr>
                        <a:t>purchase_frequency</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3.2/mo</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0.1–10</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Loyal 4.2 vs Occasional 0.8</a:t>
                      </a:r>
                    </a:p>
                  </a:txBody>
                  <a:tcPr marL="82296" marR="54864" marT="18288" marB="18288" anchor="ctr">
                    <a:solidFill>
                      <a:srgbClr val="FFFFFF"/>
                    </a:solidFill>
                  </a:tcPr>
                </a:tc>
              </a:tr>
              <a:tr h="288036">
                <a:tc>
                  <a:txBody>
                    <a:bodyPr wrap="square"/>
                    <a:lstStyle/>
                    <a:p>
                      <a:pPr algn="l">
                        <a:lnSpc>
                          <a:spcPct val="100000"/>
                        </a:lnSpc>
                      </a:pPr>
                      <a:r>
                        <a:rPr sz="930" b="1">
                          <a:solidFill>
                            <a:srgbClr val="141414"/>
                          </a:solidFill>
                          <a:latin typeface="Arial"/>
                        </a:rPr>
                        <a:t>avg_order_value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₹150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₹20–500</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High-Value ₹280 vs Occ ₹85</a:t>
                      </a:r>
                    </a:p>
                  </a:txBody>
                  <a:tcPr marL="82296" marR="54864" marT="18288" marB="18288" anchor="ctr">
                    <a:solidFill>
                      <a:srgbClr val="F4F0E8"/>
                    </a:solidFill>
                  </a:tcPr>
                </a:tc>
              </a:tr>
              <a:tr h="288036">
                <a:tc>
                  <a:txBody>
                    <a:bodyPr wrap="square"/>
                    <a:lstStyle/>
                    <a:p>
                      <a:pPr algn="l">
                        <a:lnSpc>
                          <a:spcPct val="100000"/>
                        </a:lnSpc>
                      </a:pPr>
                      <a:r>
                        <a:rPr sz="930" b="1">
                          <a:solidFill>
                            <a:srgbClr val="141414"/>
                          </a:solidFill>
                          <a:latin typeface="Arial"/>
                        </a:rPr>
                        <a:t>discount_usage_rate</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0.22</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0–1</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Occasional 0.32 vs High 0.08</a:t>
                      </a:r>
                    </a:p>
                  </a:txBody>
                  <a:tcPr marL="82296" marR="54864" marT="18288" marB="18288" anchor="ctr">
                    <a:solidFill>
                      <a:srgbClr val="FFFFFF"/>
                    </a:solidFill>
                  </a:tcPr>
                </a:tc>
              </a:tr>
              <a:tr h="288036">
                <a:tc>
                  <a:txBody>
                    <a:bodyPr wrap="square"/>
                    <a:lstStyle/>
                    <a:p>
                      <a:pPr algn="l">
                        <a:lnSpc>
                          <a:spcPct val="100000"/>
                        </a:lnSpc>
                      </a:pPr>
                      <a:r>
                        <a:rPr sz="930" b="1">
                          <a:solidFill>
                            <a:srgbClr val="141414"/>
                          </a:solidFill>
                          <a:latin typeface="Arial"/>
                        </a:rPr>
                        <a:t>return_rate</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0.15</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0–1</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Occasional 0.22 vs High 0.04</a:t>
                      </a:r>
                    </a:p>
                  </a:txBody>
                  <a:tcPr marL="82296" marR="54864" marT="18288" marB="18288" anchor="ctr">
                    <a:solidFill>
                      <a:srgbClr val="F4F0E8"/>
                    </a:solidFill>
                  </a:tcPr>
                </a:tc>
              </a:tr>
              <a:tr h="288036">
                <a:tc>
                  <a:txBody>
                    <a:bodyPr wrap="square"/>
                    <a:lstStyle/>
                    <a:p>
                      <a:pPr algn="l">
                        <a:lnSpc>
                          <a:spcPct val="100000"/>
                        </a:lnSpc>
                      </a:pPr>
                      <a:r>
                        <a:rPr sz="930" b="1">
                          <a:solidFill>
                            <a:srgbClr val="141414"/>
                          </a:solidFill>
                          <a:latin typeface="Arial"/>
                        </a:rPr>
                        <a:t>browsing_time_minutes</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65 min</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5–200</a:t>
                      </a:r>
                    </a:p>
                  </a:txBody>
                  <a:tcPr marL="82296" marR="54864" marT="18288" marB="18288" anchor="ctr">
                    <a:solidFill>
                      <a:srgbClr val="FFFFFF"/>
                    </a:solidFill>
                  </a:tcPr>
                </a:tc>
                <a:tc>
                  <a:txBody>
                    <a:bodyPr wrap="square"/>
                    <a:lstStyle/>
                    <a:p>
                      <a:pPr algn="l">
                        <a:lnSpc>
                          <a:spcPct val="100000"/>
                        </a:lnSpc>
                      </a:pPr>
                      <a:r>
                        <a:rPr sz="930" b="0">
                          <a:solidFill>
                            <a:srgbClr val="2A2722"/>
                          </a:solidFill>
                          <a:latin typeface="Arial"/>
                        </a:rPr>
                        <a:t>Loyal 90+ vs Occasional 30</a:t>
                      </a:r>
                    </a:p>
                  </a:txBody>
                  <a:tcPr marL="82296" marR="54864" marT="18288" marB="18288" anchor="ctr">
                    <a:solidFill>
                      <a:srgbClr val="FFFFFF"/>
                    </a:solidFill>
                  </a:tcPr>
                </a:tc>
              </a:tr>
              <a:tr h="288036">
                <a:tc>
                  <a:txBody>
                    <a:bodyPr wrap="square"/>
                    <a:lstStyle/>
                    <a:p>
                      <a:pPr algn="l">
                        <a:lnSpc>
                          <a:spcPct val="100000"/>
                        </a:lnSpc>
                      </a:pPr>
                      <a:r>
                        <a:rPr sz="930" b="1">
                          <a:solidFill>
                            <a:srgbClr val="141414"/>
                          </a:solidFill>
                          <a:latin typeface="Arial"/>
                        </a:rPr>
                        <a:t>support_interactions</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1.8</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0–15</a:t>
                      </a:r>
                    </a:p>
                  </a:txBody>
                  <a:tcPr marL="82296" marR="54864" marT="18288" marB="18288" anchor="ctr">
                    <a:solidFill>
                      <a:srgbClr val="F4F0E8"/>
                    </a:solidFill>
                  </a:tcPr>
                </a:tc>
                <a:tc>
                  <a:txBody>
                    <a:bodyPr wrap="square"/>
                    <a:lstStyle/>
                    <a:p>
                      <a:pPr algn="l">
                        <a:lnSpc>
                          <a:spcPct val="100000"/>
                        </a:lnSpc>
                      </a:pPr>
                      <a:r>
                        <a:rPr sz="930" b="0">
                          <a:solidFill>
                            <a:srgbClr val="2A2722"/>
                          </a:solidFill>
                          <a:latin typeface="Arial"/>
                        </a:rPr>
                        <a:t>Occasional 3.2 vs Loyal 0.8</a:t>
                      </a:r>
                    </a:p>
                  </a:txBody>
                  <a:tcPr marL="82296" marR="54864" marT="18288" marB="18288" anchor="ctr">
                    <a:solidFill>
                      <a:srgbClr val="F4F0E8"/>
                    </a:solidFill>
                  </a:tcPr>
                </a:tc>
              </a:tr>
            </a:tbl>
          </a:graphicData>
        </a:graphic>
      </p:graphicFrame>
      <p:sp>
        <p:nvSpPr>
          <p:cNvPr id="19" name="Rounded Rectangle 18"/>
          <p:cNvSpPr/>
          <p:nvPr/>
        </p:nvSpPr>
        <p:spPr>
          <a:xfrm>
            <a:off x="7333488" y="2999232"/>
            <a:ext cx="4297680" cy="321868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0" y="3127248"/>
            <a:ext cx="50292" cy="2962656"/>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52944" y="3145536"/>
            <a:ext cx="3913632" cy="2944368"/>
          </a:xfrm>
          <a:prstGeom prst="rect">
            <a:avLst/>
          </a:prstGeom>
          <a:noFill/>
        </p:spPr>
        <p:txBody>
          <a:bodyPr wrap="square" lIns="0" rIns="0" tIns="0" bIns="0" anchor="t">
            <a:spAutoFit/>
          </a:bodyPr>
          <a:lstStyle/>
          <a:p>
            <a:pPr algn="l">
              <a:lnSpc>
                <a:spcPct val="106000"/>
              </a:lnSpc>
              <a:spcAft>
                <a:spcPts val="500"/>
              </a:spcAft>
            </a:pPr>
            <a:r>
              <a:rPr sz="1050" b="1" i="0" spc="90">
                <a:solidFill>
                  <a:srgbClr val="141414"/>
                </a:solidFill>
                <a:latin typeface="Arial"/>
              </a:rPr>
              <a:t>THE GAPS (MISSING VALUES)</a:t>
            </a:r>
          </a:p>
          <a:p>
            <a:pPr algn="l">
              <a:lnSpc>
                <a:spcPct val="112000"/>
              </a:lnSpc>
              <a:spcAft>
                <a:spcPts val="200"/>
              </a:spcAft>
            </a:pPr>
            <a:r>
              <a:rPr sz="980" b="0" i="0">
                <a:solidFill>
                  <a:srgbClr val="2A2722"/>
                </a:solidFill>
                <a:latin typeface="Arial"/>
              </a:rPr>
              <a:t>7 columns have some answers missing:</a:t>
            </a:r>
          </a:p>
          <a:p>
            <a:pPr algn="l">
              <a:lnSpc>
                <a:spcPct val="112000"/>
              </a:lnSpc>
              <a:spcAft>
                <a:spcPts val="200"/>
              </a:spcAft>
            </a:pPr>
            <a:r>
              <a:rPr sz="980" b="0" i="0">
                <a:solidFill>
                  <a:srgbClr val="2A2722"/>
                </a:solidFill>
                <a:latin typeface="Arial"/>
              </a:rPr>
              <a:t>•  website minutes: 3,934 (7.9%)</a:t>
            </a:r>
          </a:p>
          <a:p>
            <a:pPr algn="l">
              <a:lnSpc>
                <a:spcPct val="112000"/>
              </a:lnSpc>
              <a:spcAft>
                <a:spcPts val="200"/>
              </a:spcAft>
            </a:pPr>
            <a:r>
              <a:rPr sz="980" b="0" i="0">
                <a:solidFill>
                  <a:srgbClr val="2A2722"/>
                </a:solidFill>
                <a:latin typeface="Arial"/>
              </a:rPr>
              <a:t>•  yearly income: 3,075 (6.2%)</a:t>
            </a:r>
          </a:p>
          <a:p>
            <a:pPr algn="l">
              <a:lnSpc>
                <a:spcPct val="112000"/>
              </a:lnSpc>
              <a:spcAft>
                <a:spcPts val="200"/>
              </a:spcAft>
            </a:pPr>
            <a:r>
              <a:rPr sz="980" b="0" i="0">
                <a:solidFill>
                  <a:srgbClr val="2A2722"/>
                </a:solidFill>
                <a:latin typeface="Arial"/>
              </a:rPr>
              <a:t>•  discount use: 2,549 (5.1%)</a:t>
            </a:r>
          </a:p>
          <a:p>
            <a:pPr algn="l">
              <a:lnSpc>
                <a:spcPct val="112000"/>
              </a:lnSpc>
              <a:spcAft>
                <a:spcPts val="200"/>
              </a:spcAft>
            </a:pPr>
            <a:r>
              <a:rPr sz="980" b="0" i="0">
                <a:solidFill>
                  <a:srgbClr val="2A2722"/>
                </a:solidFill>
                <a:latin typeface="Arial"/>
              </a:rPr>
              <a:t>•  monthly spend: 2,520 (5.0%)</a:t>
            </a:r>
          </a:p>
          <a:p>
            <a:pPr algn="l">
              <a:lnSpc>
                <a:spcPct val="112000"/>
              </a:lnSpc>
              <a:spcAft>
                <a:spcPts val="200"/>
              </a:spcAft>
            </a:pPr>
            <a:r>
              <a:rPr sz="980" b="0" i="0">
                <a:solidFill>
                  <a:srgbClr val="2A2722"/>
                </a:solidFill>
                <a:latin typeface="Arial"/>
              </a:rPr>
              <a:t>•  return rate: 2,487 (5.0%)</a:t>
            </a:r>
          </a:p>
          <a:p>
            <a:pPr algn="l">
              <a:lnSpc>
                <a:spcPct val="112000"/>
              </a:lnSpc>
              <a:spcAft>
                <a:spcPts val="200"/>
              </a:spcAft>
            </a:pPr>
            <a:r>
              <a:rPr sz="980" b="0" i="0">
                <a:solidFill>
                  <a:srgbClr val="2A2722"/>
                </a:solidFill>
                <a:latin typeface="Arial"/>
              </a:rPr>
              <a:t>•  support calls: 1,988 (4.0%)</a:t>
            </a:r>
          </a:p>
          <a:p>
            <a:pPr algn="l">
              <a:lnSpc>
                <a:spcPct val="112000"/>
              </a:lnSpc>
              <a:spcAft>
                <a:spcPts val="200"/>
              </a:spcAft>
            </a:pPr>
            <a:r>
              <a:rPr sz="980" b="0" i="0">
                <a:solidFill>
                  <a:srgbClr val="2A2722"/>
                </a:solidFill>
                <a:latin typeface="Arial"/>
              </a:rPr>
              <a:t>•  visit frequency: 1,979 (4.0%)</a:t>
            </a:r>
          </a:p>
          <a:p>
            <a:pPr algn="l">
              <a:lnSpc>
                <a:spcPct val="112000"/>
              </a:lnSpc>
              <a:spcAft>
                <a:spcPts val="200"/>
              </a:spcAft>
            </a:pPr>
            <a:r>
              <a:rPr sz="980" b="0" i="0">
                <a:solidFill>
                  <a:srgbClr val="8A8478"/>
                </a:solidFill>
                <a:latin typeface="Arial"/>
              </a:rPr>
              <a:t>We fill each gap with the “typical” customer value — safe even with a few extreme spenders.</a:t>
            </a:r>
          </a:p>
        </p:txBody>
      </p:sp>
      <p:sp>
        <p:nvSpPr>
          <p:cNvPr id="22" name="TextBox 21"/>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05/17</a:t>
            </a:r>
          </a:p>
        </p:txBody>
      </p:sp>
      <p:sp>
        <p:nvSpPr>
          <p:cNvPr id="23" name="TextBox 22"/>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04  •  CLEANING THE DATA</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Fill the gaps, keep the good stuff</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2395728" cy="1572768"/>
          </a:xfrm>
          <a:prstGeom prst="roundRect">
            <a:avLst>
              <a:gd name="adj" fmla="val 5500"/>
            </a:avLst>
          </a:prstGeom>
          <a:solidFill>
            <a:srgbClr val="FBECEC"/>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11095"/>
            <a:ext cx="50292" cy="1316736"/>
          </a:xfrm>
          <a:prstGeom prst="roundRect">
            <a:avLst>
              <a:gd name="adj" fmla="val 50000"/>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929384"/>
            <a:ext cx="2011679" cy="1298448"/>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BEFORE</a:t>
            </a:r>
          </a:p>
          <a:p>
            <a:pPr algn="l">
              <a:lnSpc>
                <a:spcPct val="112000"/>
              </a:lnSpc>
              <a:spcAft>
                <a:spcPts val="100"/>
              </a:spcAft>
            </a:pPr>
            <a:r>
              <a:rPr sz="980" b="0" i="0">
                <a:solidFill>
                  <a:srgbClr val="2A2722"/>
                </a:solidFill>
                <a:latin typeface="Arial"/>
              </a:rPr>
              <a:t>50,000 rows, 13 columns</a:t>
            </a:r>
          </a:p>
          <a:p>
            <a:pPr algn="l">
              <a:lnSpc>
                <a:spcPct val="112000"/>
              </a:lnSpc>
              <a:spcAft>
                <a:spcPts val="100"/>
              </a:spcAft>
            </a:pPr>
            <a:r>
              <a:rPr sz="980" b="0" i="0">
                <a:solidFill>
                  <a:srgbClr val="2A2722"/>
                </a:solidFill>
                <a:latin typeface="Arial"/>
              </a:rPr>
              <a:t>7 columns have holes</a:t>
            </a:r>
          </a:p>
          <a:p>
            <a:pPr algn="l">
              <a:lnSpc>
                <a:spcPct val="112000"/>
              </a:lnSpc>
              <a:spcAft>
                <a:spcPts val="100"/>
              </a:spcAft>
            </a:pPr>
            <a:r>
              <a:rPr sz="980" b="0" i="0">
                <a:solidFill>
                  <a:srgbClr val="2A2722"/>
                </a:solidFill>
                <a:latin typeface="Arial"/>
              </a:rPr>
              <a:t>10 numbers + 2 category lists + the answer</a:t>
            </a:r>
          </a:p>
          <a:p>
            <a:pPr algn="l">
              <a:lnSpc>
                <a:spcPct val="112000"/>
              </a:lnSpc>
              <a:spcAft>
                <a:spcPts val="100"/>
              </a:spcAft>
            </a:pPr>
            <a:r>
              <a:rPr sz="980" b="0" i="0">
                <a:solidFill>
                  <a:srgbClr val="2A2722"/>
                </a:solidFill>
                <a:latin typeface="Arial"/>
              </a:rPr>
              <a:t>7.8 MB raw file</a:t>
            </a:r>
          </a:p>
        </p:txBody>
      </p:sp>
      <p:sp>
        <p:nvSpPr>
          <p:cNvPr id="9" name="TextBox 8"/>
          <p:cNvSpPr txBox="1"/>
          <p:nvPr/>
        </p:nvSpPr>
        <p:spPr>
          <a:xfrm>
            <a:off x="3017520" y="2331720"/>
            <a:ext cx="320040" cy="365760"/>
          </a:xfrm>
          <a:prstGeom prst="rect">
            <a:avLst/>
          </a:prstGeom>
          <a:noFill/>
        </p:spPr>
        <p:txBody>
          <a:bodyPr wrap="square" lIns="0" rIns="0" tIns="0" bIns="0" anchor="t">
            <a:spAutoFit/>
          </a:bodyPr>
          <a:lstStyle/>
          <a:p>
            <a:pPr algn="ctr">
              <a:lnSpc>
                <a:spcPct val="106000"/>
              </a:lnSpc>
              <a:spcAft>
                <a:spcPts val="400"/>
              </a:spcAft>
            </a:pPr>
            <a:r>
              <a:rPr sz="1700" b="1" i="0">
                <a:solidFill>
                  <a:srgbClr val="6B21A8"/>
                </a:solidFill>
                <a:latin typeface="Arial"/>
              </a:rPr>
              <a:t>→</a:t>
            </a:r>
          </a:p>
        </p:txBody>
      </p:sp>
      <p:sp>
        <p:nvSpPr>
          <p:cNvPr id="10" name="Rounded Rectangle 9"/>
          <p:cNvSpPr/>
          <p:nvPr/>
        </p:nvSpPr>
        <p:spPr>
          <a:xfrm>
            <a:off x="3401568" y="1783080"/>
            <a:ext cx="2395728" cy="1572768"/>
          </a:xfrm>
          <a:prstGeom prst="roundRect">
            <a:avLst>
              <a:gd name="adj" fmla="val 5500"/>
            </a:avLst>
          </a:prstGeom>
          <a:solidFill>
            <a:srgbClr val="E9F6E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1911095"/>
            <a:ext cx="50292" cy="1316736"/>
          </a:xfrm>
          <a:prstGeom prst="roundRect">
            <a:avLst>
              <a:gd name="adj" fmla="val 50000"/>
            </a:avLst>
          </a:prstGeom>
          <a:solidFill>
            <a:srgbClr val="1F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21024" y="1929384"/>
            <a:ext cx="2011679" cy="1298448"/>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AFTER</a:t>
            </a:r>
          </a:p>
          <a:p>
            <a:pPr algn="l">
              <a:lnSpc>
                <a:spcPct val="112000"/>
              </a:lnSpc>
              <a:spcAft>
                <a:spcPts val="100"/>
              </a:spcAft>
            </a:pPr>
            <a:r>
              <a:rPr sz="980" b="0" i="0">
                <a:solidFill>
                  <a:srgbClr val="2A2722"/>
                </a:solidFill>
                <a:latin typeface="Arial"/>
              </a:rPr>
              <a:t>50,000 rows, 16 columns</a:t>
            </a:r>
          </a:p>
          <a:p>
            <a:pPr algn="l">
              <a:lnSpc>
                <a:spcPct val="112000"/>
              </a:lnSpc>
              <a:spcAft>
                <a:spcPts val="100"/>
              </a:spcAft>
            </a:pPr>
            <a:r>
              <a:rPr sz="980" b="0" i="0">
                <a:solidFill>
                  <a:srgbClr val="2A2722"/>
                </a:solidFill>
                <a:latin typeface="Arial"/>
              </a:rPr>
              <a:t>no holes left</a:t>
            </a:r>
          </a:p>
          <a:p>
            <a:pPr algn="l">
              <a:lnSpc>
                <a:spcPct val="112000"/>
              </a:lnSpc>
              <a:spcAft>
                <a:spcPts val="100"/>
              </a:spcAft>
            </a:pPr>
            <a:r>
              <a:rPr sz="980" b="0" i="0">
                <a:solidFill>
                  <a:srgbClr val="2A2722"/>
                </a:solidFill>
                <a:latin typeface="Arial"/>
              </a:rPr>
              <a:t>every column model-ready</a:t>
            </a:r>
          </a:p>
          <a:p>
            <a:pPr algn="l">
              <a:lnSpc>
                <a:spcPct val="112000"/>
              </a:lnSpc>
              <a:spcAft>
                <a:spcPts val="100"/>
              </a:spcAft>
            </a:pPr>
            <a:r>
              <a:rPr sz="980" b="0" i="0">
                <a:solidFill>
                  <a:srgbClr val="2A2722"/>
                </a:solidFill>
                <a:latin typeface="Arial"/>
              </a:rPr>
              <a:t>ready to learn</a:t>
            </a:r>
          </a:p>
        </p:txBody>
      </p:sp>
      <p:sp>
        <p:nvSpPr>
          <p:cNvPr id="13" name="Rounded Rectangle 12"/>
          <p:cNvSpPr/>
          <p:nvPr/>
        </p:nvSpPr>
        <p:spPr>
          <a:xfrm>
            <a:off x="566928" y="3584448"/>
            <a:ext cx="2651760" cy="269748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712463"/>
            <a:ext cx="50292" cy="2441448"/>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730752"/>
            <a:ext cx="2267712" cy="2423160"/>
          </a:xfrm>
          <a:prstGeom prst="rect">
            <a:avLst/>
          </a:prstGeom>
          <a:noFill/>
        </p:spPr>
        <p:txBody>
          <a:bodyPr wrap="square" lIns="0" rIns="0" tIns="0" bIns="0" anchor="t">
            <a:spAutoFit/>
          </a:bodyPr>
          <a:lstStyle/>
          <a:p>
            <a:pPr algn="l">
              <a:lnSpc>
                <a:spcPct val="106000"/>
              </a:lnSpc>
              <a:spcAft>
                <a:spcPts val="600"/>
              </a:spcAft>
            </a:pPr>
            <a:r>
              <a:rPr sz="1050" b="1" i="0" spc="90">
                <a:solidFill>
                  <a:srgbClr val="141414"/>
                </a:solidFill>
                <a:latin typeface="Arial"/>
              </a:rPr>
              <a:t>FILLING GAPS</a:t>
            </a:r>
          </a:p>
          <a:p>
            <a:pPr algn="l">
              <a:lnSpc>
                <a:spcPct val="112000"/>
              </a:lnSpc>
              <a:spcAft>
                <a:spcPts val="300"/>
              </a:spcAft>
            </a:pPr>
            <a:r>
              <a:rPr sz="960" b="0" i="0">
                <a:solidFill>
                  <a:srgbClr val="2A2722"/>
                </a:solidFill>
                <a:latin typeface="Arial"/>
              </a:rPr>
              <a:t>Numbers with a gap get the typical (middle) customer's value — one weird millionaire can't drag it up.</a:t>
            </a:r>
          </a:p>
          <a:p>
            <a:pPr algn="l">
              <a:lnSpc>
                <a:spcPct val="112000"/>
              </a:lnSpc>
              <a:spcAft>
                <a:spcPts val="300"/>
              </a:spcAft>
            </a:pPr>
            <a:r>
              <a:rPr sz="960" b="0" i="0">
                <a:solidFill>
                  <a:srgbClr val="2A2722"/>
                </a:solidFill>
                <a:latin typeface="Arial"/>
              </a:rPr>
              <a:t>Category gaps get the most common answer.</a:t>
            </a:r>
          </a:p>
          <a:p>
            <a:pPr algn="l">
              <a:lnSpc>
                <a:spcPct val="106000"/>
              </a:lnSpc>
              <a:spcAft>
                <a:spcPts val="400"/>
              </a:spcAft>
            </a:pPr>
            <a:r>
              <a:rPr sz="1000" b="1" i="0" spc="60">
                <a:solidFill>
                  <a:srgbClr val="141414"/>
                </a:solidFill>
                <a:latin typeface="Arial"/>
              </a:rPr>
              <a:t>SAME RULES FOR EVERYONE</a:t>
            </a:r>
          </a:p>
          <a:p>
            <a:pPr algn="l">
              <a:lnSpc>
                <a:spcPct val="112000"/>
              </a:lnSpc>
              <a:spcAft>
                <a:spcPts val="300"/>
              </a:spcAft>
            </a:pPr>
            <a:r>
              <a:rPr sz="960" b="0" i="0">
                <a:solidFill>
                  <a:srgbClr val="2A2722"/>
                </a:solidFill>
                <a:latin typeface="Arial"/>
              </a:rPr>
              <a:t>The cleaning rules are saved once and reused on the website — new customers are treated exactly like training ones.</a:t>
            </a:r>
          </a:p>
        </p:txBody>
      </p:sp>
      <p:sp>
        <p:nvSpPr>
          <p:cNvPr id="16" name="Rounded Rectangle 15"/>
          <p:cNvSpPr/>
          <p:nvPr/>
        </p:nvSpPr>
        <p:spPr>
          <a:xfrm>
            <a:off x="3401568" y="3584448"/>
            <a:ext cx="2651760" cy="269748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83280" y="3712463"/>
            <a:ext cx="50292" cy="2441448"/>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3730752"/>
            <a:ext cx="2267712" cy="2423160"/>
          </a:xfrm>
          <a:prstGeom prst="rect">
            <a:avLst/>
          </a:prstGeom>
          <a:noFill/>
        </p:spPr>
        <p:txBody>
          <a:bodyPr wrap="square" lIns="0" rIns="0" tIns="0" bIns="0" anchor="t">
            <a:spAutoFit/>
          </a:bodyPr>
          <a:lstStyle/>
          <a:p>
            <a:pPr algn="l">
              <a:lnSpc>
                <a:spcPct val="106000"/>
              </a:lnSpc>
              <a:spcAft>
                <a:spcPts val="600"/>
              </a:spcAft>
            </a:pPr>
            <a:r>
              <a:rPr sz="1050" b="1" i="0" spc="90">
                <a:solidFill>
                  <a:srgbClr val="141414"/>
                </a:solidFill>
                <a:latin typeface="Arial"/>
              </a:rPr>
              <a:t>MAKING IT COMPUTER-FRIENDLY</a:t>
            </a:r>
          </a:p>
          <a:p>
            <a:pPr algn="l">
              <a:lnSpc>
                <a:spcPct val="112000"/>
              </a:lnSpc>
              <a:spcAft>
                <a:spcPts val="300"/>
              </a:spcAft>
            </a:pPr>
            <a:r>
              <a:rPr sz="960" b="0" i="0">
                <a:solidFill>
                  <a:srgbClr val="2A2722"/>
                </a:solidFill>
                <a:latin typeface="Arial"/>
              </a:rPr>
              <a:t>Computers only do numbers, so:</a:t>
            </a:r>
          </a:p>
          <a:p>
            <a:pPr algn="l">
              <a:lnSpc>
                <a:spcPct val="112000"/>
              </a:lnSpc>
              <a:spcAft>
                <a:spcPts val="300"/>
              </a:spcAft>
            </a:pPr>
            <a:r>
              <a:rPr sz="960" b="0" i="0">
                <a:solidFill>
                  <a:srgbClr val="2A2722"/>
                </a:solidFill>
                <a:latin typeface="Arial"/>
              </a:rPr>
              <a:t>•  Card / Wallet / UPI → 3 yes-no columns</a:t>
            </a:r>
          </a:p>
          <a:p>
            <a:pPr algn="l">
              <a:lnSpc>
                <a:spcPct val="112000"/>
              </a:lnSpc>
              <a:spcAft>
                <a:spcPts val="300"/>
              </a:spcAft>
            </a:pPr>
            <a:r>
              <a:rPr sz="960" b="0" i="0">
                <a:solidFill>
                  <a:srgbClr val="2A2722"/>
                </a:solidFill>
                <a:latin typeface="Arial"/>
              </a:rPr>
              <a:t>•  Urban / Semi / Rural → 3 yes-no columns</a:t>
            </a:r>
          </a:p>
          <a:p>
            <a:pPr algn="l">
              <a:lnSpc>
                <a:spcPct val="112000"/>
              </a:lnSpc>
              <a:spcAft>
                <a:spcPts val="300"/>
              </a:spcAft>
            </a:pPr>
            <a:r>
              <a:rPr sz="960" b="0" i="0">
                <a:solidFill>
                  <a:srgbClr val="2A2722"/>
                </a:solidFill>
                <a:latin typeface="Arial"/>
              </a:rPr>
              <a:t>•  All 10 number columns brought to one common scale, so big incomes don't drown small ages.</a:t>
            </a:r>
          </a:p>
          <a:p>
            <a:pPr algn="l">
              <a:lnSpc>
                <a:spcPct val="112000"/>
              </a:lnSpc>
              <a:spcAft>
                <a:spcPts val="300"/>
              </a:spcAft>
            </a:pPr>
            <a:r>
              <a:rPr sz="960" b="0" i="0">
                <a:solidFill>
                  <a:srgbClr val="2A2722"/>
                </a:solidFill>
                <a:latin typeface="Arial"/>
              </a:rPr>
              <a:t>End result: 12 details in, 16 ready columns out.</a:t>
            </a:r>
          </a:p>
        </p:txBody>
      </p:sp>
      <p:sp>
        <p:nvSpPr>
          <p:cNvPr id="19" name="Rounded Rectangle 18"/>
          <p:cNvSpPr/>
          <p:nvPr/>
        </p:nvSpPr>
        <p:spPr>
          <a:xfrm>
            <a:off x="6327648" y="1783080"/>
            <a:ext cx="5303520" cy="4498848"/>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72784" y="1920240"/>
            <a:ext cx="50292" cy="4206240"/>
          </a:xfrm>
          <a:prstGeom prst="roundRect">
            <a:avLst>
              <a:gd name="adj" fmla="val 50000"/>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1975104"/>
            <a:ext cx="4846320" cy="4114800"/>
          </a:xfrm>
          <a:prstGeom prst="rect">
            <a:avLst/>
          </a:prstGeom>
          <a:noFill/>
        </p:spPr>
        <p:txBody>
          <a:bodyPr wrap="square" lIns="0" rIns="0" tIns="0" bIns="0" anchor="t">
            <a:spAutoFit/>
          </a:bodyPr>
          <a:lstStyle/>
          <a:p>
            <a:pPr algn="l">
              <a:lnSpc>
                <a:spcPct val="106000"/>
              </a:lnSpc>
              <a:spcAft>
                <a:spcPts val="700"/>
              </a:spcAft>
            </a:pPr>
            <a:r>
              <a:rPr sz="1050" b="1" i="0" spc="90">
                <a:solidFill>
                  <a:srgbClr val="FFFFFF"/>
                </a:solidFill>
                <a:latin typeface="Arial"/>
              </a:rPr>
              <a:t>THE BUG WE FIXED  •  REAL DEBUGGING</a:t>
            </a:r>
          </a:p>
          <a:p>
            <a:pPr algn="l">
              <a:lnSpc>
                <a:spcPct val="120000"/>
              </a:lnSpc>
              <a:spcAft>
                <a:spcPts val="600"/>
              </a:spcAft>
            </a:pPr>
            <a:r>
              <a:rPr sz="1000" b="0" i="0">
                <a:solidFill>
                  <a:srgbClr val="E8E4DC"/>
                </a:solidFill>
                <a:latin typeface="Arial"/>
              </a:rPr>
              <a:t>One day our web page refused to load — the server crashed with a template error. Cause: the website builder mistook normal web code (a colour list) for its own template commands and choked on it.</a:t>
            </a:r>
          </a:p>
          <a:p>
            <a:pPr algn="l">
              <a:lnSpc>
                <a:spcPct val="120000"/>
              </a:lnSpc>
              <a:spcAft>
                <a:spcPts val="800"/>
              </a:spcAft>
            </a:pPr>
            <a:r>
              <a:rPr sz="1000" b="0" i="0">
                <a:solidFill>
                  <a:srgbClr val="E8E4DC"/>
                </a:solidFill>
                <a:latin typeface="Arial"/>
              </a:rPr>
              <a:t>The fix: wrap that block in a “leave this alone” tag ({% raw %}) so the builder ignores it.</a:t>
            </a:r>
          </a:p>
          <a:p>
            <a:pPr algn="l">
              <a:lnSpc>
                <a:spcPct val="106000"/>
              </a:lnSpc>
              <a:spcAft>
                <a:spcPts val="600"/>
              </a:spcAft>
            </a:pPr>
            <a:r>
              <a:rPr sz="1050" b="1" i="0" spc="90">
                <a:solidFill>
                  <a:srgbClr val="FFFFFF"/>
                </a:solidFill>
                <a:latin typeface="Arial"/>
              </a:rPr>
              <a:t>HOW WE CHECKED THE FIX</a:t>
            </a:r>
          </a:p>
          <a:p>
            <a:pPr algn="l">
              <a:lnSpc>
                <a:spcPct val="106000"/>
              </a:lnSpc>
              <a:spcAft>
                <a:spcPts val="300"/>
              </a:spcAft>
            </a:pPr>
            <a:r>
              <a:rPr sz="980" b="0" i="0">
                <a:solidFill>
                  <a:srgbClr val="E8E4DC"/>
                </a:solidFill>
                <a:latin typeface="Arial"/>
              </a:rPr>
              <a:t>•  Opened the site → server answered “200 OK” (all clear)</a:t>
            </a:r>
          </a:p>
          <a:p>
            <a:pPr algn="l">
              <a:lnSpc>
                <a:spcPct val="106000"/>
              </a:lnSpc>
              <a:spcAft>
                <a:spcPts val="800"/>
              </a:spcAft>
            </a:pPr>
            <a:r>
              <a:rPr sz="980" b="0" i="0">
                <a:solidFill>
                  <a:srgbClr val="E8E4DC"/>
                </a:solidFill>
                <a:latin typeface="Arial"/>
              </a:rPr>
              <a:t>•  Asked the model API for its scores → correct numbers came back</a:t>
            </a:r>
          </a:p>
          <a:p>
            <a:pPr algn="l">
              <a:lnSpc>
                <a:spcPct val="106000"/>
              </a:lnSpc>
              <a:spcAft>
                <a:spcPts val="600"/>
              </a:spcAft>
            </a:pPr>
            <a:r>
              <a:rPr sz="1050" b="1" i="0" spc="90">
                <a:solidFill>
                  <a:srgbClr val="FFFFFF"/>
                </a:solidFill>
                <a:latin typeface="Arial"/>
              </a:rPr>
              <a:t>ODD VALUES KEPT ON PURPOSE</a:t>
            </a:r>
          </a:p>
          <a:p>
            <a:pPr algn="l">
              <a:lnSpc>
                <a:spcPct val="118000"/>
              </a:lnSpc>
              <a:spcAft>
                <a:spcPts val="0"/>
              </a:spcAft>
            </a:pPr>
            <a:r>
              <a:rPr sz="980" b="0" i="0">
                <a:solidFill>
                  <a:srgbClr val="E8E4DC"/>
                </a:solidFill>
                <a:latin typeface="Arial"/>
              </a:rPr>
              <a:t>The ₹150k earner and the ₹800/month spender are real VIPs — not typos. Removing them would erase exactly the customers we want to spot. A side-check flags ~5% unusual customers for the team to watch.</a:t>
            </a:r>
          </a:p>
        </p:txBody>
      </p:sp>
      <p:sp>
        <p:nvSpPr>
          <p:cNvPr id="22" name="TextBox 21"/>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06/17</a:t>
            </a:r>
          </a:p>
        </p:txBody>
      </p:sp>
      <p:sp>
        <p:nvSpPr>
          <p:cNvPr id="23" name="TextBox 22"/>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05  •  EXPLORING THE DATA</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What 50,000 real customers look like</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783080"/>
          <a:ext cx="11055096" cy="2606040"/>
        </p:xfrm>
        <a:graphic>
          <a:graphicData uri="http://schemas.openxmlformats.org/drawingml/2006/table">
            <a:tbl>
              <a:tblPr>
                <a:tableStyleId>{5C22544A-7EE6-4342-B048-85BDC9FD1C3A}</a:tableStyleId>
              </a:tblPr>
              <a:tblGrid>
                <a:gridCol w="1417320"/>
                <a:gridCol w="2606040"/>
                <a:gridCol w="7031736"/>
              </a:tblGrid>
              <a:tr h="329184">
                <a:tc>
                  <a:txBody>
                    <a:bodyPr wrap="square"/>
                    <a:lstStyle/>
                    <a:p>
                      <a:pPr algn="l">
                        <a:lnSpc>
                          <a:spcPct val="100000"/>
                        </a:lnSpc>
                      </a:pPr>
                      <a:r>
                        <a:rPr sz="1050" b="1">
                          <a:solidFill>
                            <a:srgbClr val="FFFFFF"/>
                          </a:solidFill>
                          <a:latin typeface="Arial"/>
                        </a:rPr>
                        <a:t>We looked at</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What it tells us</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What we found in the 50k</a:t>
                      </a:r>
                    </a:p>
                  </a:txBody>
                  <a:tcPr marL="82296" marR="54864" marT="18288" marB="18288" anchor="ctr">
                    <a:solidFill>
                      <a:srgbClr val="121212"/>
                    </a:solidFill>
                  </a:tcPr>
                </a:tc>
              </a:tr>
              <a:tr h="379476">
                <a:tc>
                  <a:txBody>
                    <a:bodyPr wrap="square"/>
                    <a:lstStyle/>
                    <a:p>
                      <a:pPr algn="l">
                        <a:lnSpc>
                          <a:spcPct val="100000"/>
                        </a:lnSpc>
                      </a:pPr>
                      <a:r>
                        <a:rPr sz="980" b="1">
                          <a:solidFill>
                            <a:srgbClr val="141414"/>
                          </a:solidFill>
                          <a:latin typeface="Arial"/>
                        </a:rPr>
                        <a:t>Histograms</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how each value spreads</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Age sits around 35–50; income and spending stretch far right — a few big spenders.</a:t>
                      </a:r>
                    </a:p>
                  </a:txBody>
                  <a:tcPr marL="82296" marR="54864" marT="18288" marB="18288" anchor="ctr">
                    <a:solidFill>
                      <a:srgbClr val="FFFFFF"/>
                    </a:solidFill>
                  </a:tcPr>
                </a:tc>
              </a:tr>
              <a:tr h="379476">
                <a:tc>
                  <a:txBody>
                    <a:bodyPr wrap="square"/>
                    <a:lstStyle/>
                    <a:p>
                      <a:pPr algn="l">
                        <a:lnSpc>
                          <a:spcPct val="100000"/>
                        </a:lnSpc>
                      </a:pPr>
                      <a:r>
                        <a:rPr sz="980" b="1">
                          <a:solidFill>
                            <a:srgbClr val="141414"/>
                          </a:solidFill>
                          <a:latin typeface="Arial"/>
                        </a:rPr>
                        <a:t>Bar charts</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sizes of each category</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Paying: Card 40%, Wallet 35%, UPI 25%. Living area: Urban 50%, Semi 30%, Rural 20%.</a:t>
                      </a:r>
                    </a:p>
                  </a:txBody>
                  <a:tcPr marL="82296" marR="54864" marT="18288" marB="18288" anchor="ctr">
                    <a:solidFill>
                      <a:srgbClr val="F4F0E8"/>
                    </a:solidFill>
                  </a:tcPr>
                </a:tc>
              </a:tr>
              <a:tr h="379476">
                <a:tc>
                  <a:txBody>
                    <a:bodyPr wrap="square"/>
                    <a:lstStyle/>
                    <a:p>
                      <a:pPr algn="l">
                        <a:lnSpc>
                          <a:spcPct val="100000"/>
                        </a:lnSpc>
                      </a:pPr>
                      <a:r>
                        <a:rPr sz="980" b="1">
                          <a:solidFill>
                            <a:srgbClr val="141414"/>
                          </a:solidFill>
                          <a:latin typeface="Arial"/>
                        </a:rPr>
                        <a:t>Group sizes</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is the answer balanced?</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Occasional 44% biggest, High-Value 11% smallest — uneven, exactly like a real shop.</a:t>
                      </a:r>
                    </a:p>
                  </a:txBody>
                  <a:tcPr marL="82296" marR="54864" marT="18288" marB="18288" anchor="ctr">
                    <a:solidFill>
                      <a:srgbClr val="FFFFFF"/>
                    </a:solidFill>
                  </a:tcPr>
                </a:tc>
              </a:tr>
              <a:tr h="379476">
                <a:tc>
                  <a:txBody>
                    <a:bodyPr wrap="square"/>
                    <a:lstStyle/>
                    <a:p>
                      <a:pPr algn="l">
                        <a:lnSpc>
                          <a:spcPct val="100000"/>
                        </a:lnSpc>
                      </a:pPr>
                      <a:r>
                        <a:rPr sz="980" b="1">
                          <a:solidFill>
                            <a:srgbClr val="141414"/>
                          </a:solidFill>
                          <a:latin typeface="Arial"/>
                        </a:rPr>
                        <a:t>Box plots</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spotting unusual customers</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Income above ₹120k is almost always High-Value; heavy returners are usually Occasional.</a:t>
                      </a:r>
                    </a:p>
                  </a:txBody>
                  <a:tcPr marL="82296" marR="54864" marT="18288" marB="18288" anchor="ctr">
                    <a:solidFill>
                      <a:srgbClr val="F4F0E8"/>
                    </a:solidFill>
                  </a:tcPr>
                </a:tc>
              </a:tr>
              <a:tr h="379476">
                <a:tc>
                  <a:txBody>
                    <a:bodyPr wrap="square"/>
                    <a:lstStyle/>
                    <a:p>
                      <a:pPr algn="l">
                        <a:lnSpc>
                          <a:spcPct val="100000"/>
                        </a:lnSpc>
                      </a:pPr>
                      <a:r>
                        <a:rPr sz="980" b="1">
                          <a:solidFill>
                            <a:srgbClr val="141414"/>
                          </a:solidFill>
                          <a:latin typeface="Arial"/>
                        </a:rPr>
                        <a:t>Scatter plots</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do two things move together?</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Richer customers spend more (0.52); longer members shop more often (0.45).</a:t>
                      </a:r>
                    </a:p>
                  </a:txBody>
                  <a:tcPr marL="82296" marR="54864" marT="18288" marB="18288" anchor="ctr">
                    <a:solidFill>
                      <a:srgbClr val="FFFFFF"/>
                    </a:solidFill>
                  </a:tcPr>
                </a:tc>
              </a:tr>
              <a:tr h="379476">
                <a:tc>
                  <a:txBody>
                    <a:bodyPr wrap="square"/>
                    <a:lstStyle/>
                    <a:p>
                      <a:pPr algn="l">
                        <a:lnSpc>
                          <a:spcPct val="100000"/>
                        </a:lnSpc>
                      </a:pPr>
                      <a:r>
                        <a:rPr sz="980" b="1">
                          <a:solidFill>
                            <a:srgbClr val="141414"/>
                          </a:solidFill>
                          <a:latin typeface="Arial"/>
                        </a:rPr>
                        <a:t>Heatmap</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all the links at one glance</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Strongest link: spend ↔ visits (0.48). All links under 0.6 — every detail adds something.</a:t>
                      </a:r>
                    </a:p>
                  </a:txBody>
                  <a:tcPr marL="82296" marR="54864" marT="18288" marB="18288" anchor="ctr">
                    <a:solidFill>
                      <a:srgbClr val="F4F0E8"/>
                    </a:solidFill>
                  </a:tcPr>
                </a:tc>
              </a:tr>
            </a:tbl>
          </a:graphicData>
        </a:graphic>
      </p:graphicFrame>
      <p:sp>
        <p:nvSpPr>
          <p:cNvPr id="7" name="Rounded Rectangle 6"/>
          <p:cNvSpPr/>
          <p:nvPr/>
        </p:nvSpPr>
        <p:spPr>
          <a:xfrm>
            <a:off x="566928" y="4590288"/>
            <a:ext cx="3584448" cy="166420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4718303"/>
            <a:ext cx="50292" cy="1408176"/>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736592"/>
            <a:ext cx="3200399" cy="1389888"/>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PATTERNS WE SAW</a:t>
            </a:r>
          </a:p>
          <a:p>
            <a:pPr algn="l">
              <a:lnSpc>
                <a:spcPct val="112000"/>
              </a:lnSpc>
              <a:spcAft>
                <a:spcPts val="100"/>
              </a:spcAft>
            </a:pPr>
            <a:r>
              <a:rPr sz="940" b="0" i="0">
                <a:solidFill>
                  <a:srgbClr val="2A2722"/>
                </a:solidFill>
                <a:latin typeface="Arial"/>
              </a:rPr>
              <a:t>•  High income + big baskets = High-Value</a:t>
            </a:r>
          </a:p>
          <a:p>
            <a:pPr algn="l">
              <a:lnSpc>
                <a:spcPct val="112000"/>
              </a:lnSpc>
              <a:spcAft>
                <a:spcPts val="100"/>
              </a:spcAft>
            </a:pPr>
            <a:r>
              <a:rPr sz="940" b="0" i="0">
                <a:solidFill>
                  <a:srgbClr val="2A2722"/>
                </a:solidFill>
                <a:latin typeface="Arial"/>
              </a:rPr>
              <a:t>•  Long membership + frequent visits = Loyal</a:t>
            </a:r>
          </a:p>
          <a:p>
            <a:pPr algn="l">
              <a:lnSpc>
                <a:spcPct val="112000"/>
              </a:lnSpc>
              <a:spcAft>
                <a:spcPts val="100"/>
              </a:spcAft>
            </a:pPr>
            <a:r>
              <a:rPr sz="940" b="0" i="0">
                <a:solidFill>
                  <a:srgbClr val="2A2722"/>
                </a:solidFill>
                <a:latin typeface="Arial"/>
              </a:rPr>
              <a:t>•  Many returns + many support calls = Occasional at risk</a:t>
            </a:r>
          </a:p>
          <a:p>
            <a:pPr algn="l">
              <a:lnSpc>
                <a:spcPct val="112000"/>
              </a:lnSpc>
              <a:spcAft>
                <a:spcPts val="100"/>
              </a:spcAft>
            </a:pPr>
            <a:r>
              <a:rPr sz="940" b="0" i="0">
                <a:solidFill>
                  <a:srgbClr val="2A2722"/>
                </a:solidFill>
                <a:latin typeface="Arial"/>
              </a:rPr>
              <a:t>•  Long website visits: Loyal 90+ min vs Occasional 30</a:t>
            </a:r>
          </a:p>
        </p:txBody>
      </p:sp>
      <p:sp>
        <p:nvSpPr>
          <p:cNvPr id="10" name="Rounded Rectangle 9"/>
          <p:cNvSpPr/>
          <p:nvPr/>
        </p:nvSpPr>
        <p:spPr>
          <a:xfrm>
            <a:off x="4315968" y="4590288"/>
            <a:ext cx="3584448" cy="166420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4718303"/>
            <a:ext cx="50292" cy="1408176"/>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4736592"/>
            <a:ext cx="3200399" cy="1389888"/>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HOW DETAILS CONNECT</a:t>
            </a:r>
          </a:p>
          <a:p>
            <a:pPr algn="l">
              <a:lnSpc>
                <a:spcPct val="112000"/>
              </a:lnSpc>
              <a:spcAft>
                <a:spcPts val="100"/>
              </a:spcAft>
            </a:pPr>
            <a:r>
              <a:rPr sz="940" b="0" i="0">
                <a:solidFill>
                  <a:srgbClr val="2A2722"/>
                </a:solidFill>
                <a:latin typeface="Arial"/>
              </a:rPr>
              <a:t>•  spending ↔ visit frequency: 0.48</a:t>
            </a:r>
          </a:p>
          <a:p>
            <a:pPr algn="l">
              <a:lnSpc>
                <a:spcPct val="112000"/>
              </a:lnSpc>
              <a:spcAft>
                <a:spcPts val="100"/>
              </a:spcAft>
            </a:pPr>
            <a:r>
              <a:rPr sz="940" b="0" i="0">
                <a:solidFill>
                  <a:srgbClr val="2A2722"/>
                </a:solidFill>
                <a:latin typeface="Arial"/>
              </a:rPr>
              <a:t>•  income ↔ basket size: 0.44</a:t>
            </a:r>
          </a:p>
          <a:p>
            <a:pPr algn="l">
              <a:lnSpc>
                <a:spcPct val="112000"/>
              </a:lnSpc>
              <a:spcAft>
                <a:spcPts val="100"/>
              </a:spcAft>
            </a:pPr>
            <a:r>
              <a:rPr sz="940" b="0" i="0">
                <a:solidFill>
                  <a:srgbClr val="2A2722"/>
                </a:solidFill>
                <a:latin typeface="Arial"/>
              </a:rPr>
              <a:t>•  membership ↔ frequency: 0.45</a:t>
            </a:r>
          </a:p>
          <a:p>
            <a:pPr algn="l">
              <a:lnSpc>
                <a:spcPct val="112000"/>
              </a:lnSpc>
              <a:spcAft>
                <a:spcPts val="100"/>
              </a:spcAft>
            </a:pPr>
            <a:r>
              <a:rPr sz="940" b="0" i="0">
                <a:solidFill>
                  <a:srgbClr val="8A8478"/>
                </a:solidFill>
                <a:latin typeface="Arial"/>
              </a:rPr>
              <a:t>All under 0.6 — no two details repeat each other.</a:t>
            </a:r>
          </a:p>
        </p:txBody>
      </p:sp>
      <p:sp>
        <p:nvSpPr>
          <p:cNvPr id="13" name="Rounded Rectangle 12"/>
          <p:cNvSpPr/>
          <p:nvPr/>
        </p:nvSpPr>
        <p:spPr>
          <a:xfrm>
            <a:off x="8065008" y="4590288"/>
            <a:ext cx="3566160" cy="166420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4718303"/>
            <a:ext cx="50292" cy="1408176"/>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4" y="4736592"/>
            <a:ext cx="3182112" cy="1389888"/>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WHAT WE DO ABOUT IT</a:t>
            </a:r>
          </a:p>
          <a:p>
            <a:pPr algn="l">
              <a:lnSpc>
                <a:spcPct val="112000"/>
              </a:lnSpc>
              <a:spcAft>
                <a:spcPts val="100"/>
              </a:spcAft>
            </a:pPr>
            <a:r>
              <a:rPr sz="940" b="0" i="0">
                <a:solidFill>
                  <a:srgbClr val="2A2722"/>
                </a:solidFill>
                <a:latin typeface="Arial"/>
              </a:rPr>
              <a:t>•  Occasional 44% → win-back offers</a:t>
            </a:r>
          </a:p>
          <a:p>
            <a:pPr algn="l">
              <a:lnSpc>
                <a:spcPct val="112000"/>
              </a:lnSpc>
              <a:spcAft>
                <a:spcPts val="100"/>
              </a:spcAft>
            </a:pPr>
            <a:r>
              <a:rPr sz="940" b="0" i="0">
                <a:solidFill>
                  <a:srgbClr val="2A2722"/>
                </a:solidFill>
                <a:latin typeface="Arial"/>
              </a:rPr>
              <a:t>•  Regular 27% → gently push toward Loyal</a:t>
            </a:r>
          </a:p>
          <a:p>
            <a:pPr algn="l">
              <a:lnSpc>
                <a:spcPct val="112000"/>
              </a:lnSpc>
              <a:spcAft>
                <a:spcPts val="100"/>
              </a:spcAft>
            </a:pPr>
            <a:r>
              <a:rPr sz="940" b="0" i="0">
                <a:solidFill>
                  <a:srgbClr val="2A2722"/>
                </a:solidFill>
                <a:latin typeface="Arial"/>
              </a:rPr>
              <a:t>•  Loyal 18% → early access, keep them happy</a:t>
            </a:r>
          </a:p>
          <a:p>
            <a:pPr algn="l">
              <a:lnSpc>
                <a:spcPct val="112000"/>
              </a:lnSpc>
              <a:spcAft>
                <a:spcPts val="100"/>
              </a:spcAft>
            </a:pPr>
            <a:r>
              <a:rPr sz="940" b="0" i="0">
                <a:solidFill>
                  <a:srgbClr val="2A2722"/>
                </a:solidFill>
                <a:latin typeface="Arial"/>
              </a:rPr>
              <a:t>•  High-Value 11% → VIP treatment</a:t>
            </a:r>
          </a:p>
        </p:txBody>
      </p:sp>
      <p:sp>
        <p:nvSpPr>
          <p:cNvPr id="16" name="TextBox 15"/>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07/17</a:t>
            </a:r>
          </a:p>
        </p:txBody>
      </p:sp>
      <p:sp>
        <p:nvSpPr>
          <p:cNvPr id="17" name="TextBox 16"/>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06  •  WHICH DETAILS MATTER</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Every detail tells us something</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5074920" cy="449884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11095"/>
            <a:ext cx="50292" cy="4242816"/>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9384"/>
            <a:ext cx="4654296" cy="4224528"/>
          </a:xfrm>
          <a:prstGeom prst="rect">
            <a:avLst/>
          </a:prstGeom>
          <a:noFill/>
        </p:spPr>
        <p:txBody>
          <a:bodyPr wrap="square" lIns="0" rIns="0" tIns="0" bIns="0" anchor="t">
            <a:spAutoFit/>
          </a:bodyPr>
          <a:lstStyle/>
          <a:p>
            <a:pPr algn="l">
              <a:lnSpc>
                <a:spcPct val="106000"/>
              </a:lnSpc>
              <a:spcAft>
                <a:spcPts val="800"/>
              </a:spcAft>
            </a:pPr>
            <a:r>
              <a:rPr sz="1050" b="1" i="0" spc="90">
                <a:solidFill>
                  <a:srgbClr val="141414"/>
                </a:solidFill>
                <a:latin typeface="Arial"/>
              </a:rPr>
              <a:t>WHAT EACH DETAIL REVEALS</a:t>
            </a:r>
          </a:p>
          <a:p>
            <a:pPr algn="l">
              <a:lnSpc>
                <a:spcPct val="112000"/>
              </a:lnSpc>
              <a:spcAft>
                <a:spcPts val="500"/>
              </a:spcAft>
            </a:pPr>
            <a:r>
              <a:rPr sz="1030" b="0" i="0">
                <a:solidFill>
                  <a:srgbClr val="2A2722"/>
                </a:solidFill>
                <a:latin typeface="Arial"/>
              </a:rPr>
              <a:t>•  Age: Loyal ~45 vs Occasional ~32 — staying power grows with age</a:t>
            </a:r>
          </a:p>
          <a:p>
            <a:pPr algn="l">
              <a:lnSpc>
                <a:spcPct val="112000"/>
              </a:lnSpc>
              <a:spcAft>
                <a:spcPts val="500"/>
              </a:spcAft>
            </a:pPr>
            <a:r>
              <a:rPr sz="1030" b="0" i="0">
                <a:solidFill>
                  <a:srgbClr val="2A2722"/>
                </a:solidFill>
                <a:latin typeface="Arial"/>
              </a:rPr>
              <a:t>•  Income: High-Value ₹95k+ vs Occasional ₹38k — clearest VIP clue</a:t>
            </a:r>
          </a:p>
          <a:p>
            <a:pPr algn="l">
              <a:lnSpc>
                <a:spcPct val="112000"/>
              </a:lnSpc>
              <a:spcAft>
                <a:spcPts val="500"/>
              </a:spcAft>
            </a:pPr>
            <a:r>
              <a:rPr sz="1030" b="0" i="0">
                <a:solidFill>
                  <a:srgbClr val="2A2722"/>
                </a:solidFill>
                <a:latin typeface="Arial"/>
              </a:rPr>
              <a:t>•  Months as customer: Loyal 60+ vs Occasional 18 — loyalty takes time</a:t>
            </a:r>
          </a:p>
          <a:p>
            <a:pPr algn="l">
              <a:lnSpc>
                <a:spcPct val="112000"/>
              </a:lnSpc>
              <a:spcAft>
                <a:spcPts val="500"/>
              </a:spcAft>
            </a:pPr>
            <a:r>
              <a:rPr sz="1030" b="0" i="0">
                <a:solidFill>
                  <a:srgbClr val="2A2722"/>
                </a:solidFill>
                <a:latin typeface="Arial"/>
              </a:rPr>
              <a:t>•  Monthly spend: High-Value ₹650+ vs Occasional ₹120</a:t>
            </a:r>
          </a:p>
          <a:p>
            <a:pPr algn="l">
              <a:lnSpc>
                <a:spcPct val="112000"/>
              </a:lnSpc>
              <a:spcAft>
                <a:spcPts val="500"/>
              </a:spcAft>
            </a:pPr>
            <a:r>
              <a:rPr sz="1030" b="0" i="0">
                <a:solidFill>
                  <a:srgbClr val="2A2722"/>
                </a:solidFill>
                <a:latin typeface="Arial"/>
              </a:rPr>
              <a:t>•  Visits per month: Loyal 4.2 vs Occasional 0.8</a:t>
            </a:r>
          </a:p>
          <a:p>
            <a:pPr algn="l">
              <a:lnSpc>
                <a:spcPct val="112000"/>
              </a:lnSpc>
              <a:spcAft>
                <a:spcPts val="500"/>
              </a:spcAft>
            </a:pPr>
            <a:r>
              <a:rPr sz="1030" b="0" i="0">
                <a:solidFill>
                  <a:srgbClr val="2A2722"/>
                </a:solidFill>
                <a:latin typeface="Arial"/>
              </a:rPr>
              <a:t>•  Basket size: High-Value ₹280 vs Occasional ₹85</a:t>
            </a:r>
          </a:p>
          <a:p>
            <a:pPr algn="l">
              <a:lnSpc>
                <a:spcPct val="112000"/>
              </a:lnSpc>
              <a:spcAft>
                <a:spcPts val="500"/>
              </a:spcAft>
            </a:pPr>
            <a:r>
              <a:rPr sz="1030" b="0" i="0">
                <a:solidFill>
                  <a:srgbClr val="2A2722"/>
                </a:solidFill>
                <a:latin typeface="Arial"/>
              </a:rPr>
              <a:t>•  Discount use: Occasional 0.32 vs High-Value 0.08 — VIPs don't wait for sales</a:t>
            </a:r>
          </a:p>
          <a:p>
            <a:pPr algn="l">
              <a:lnSpc>
                <a:spcPct val="112000"/>
              </a:lnSpc>
              <a:spcAft>
                <a:spcPts val="500"/>
              </a:spcAft>
            </a:pPr>
            <a:r>
              <a:rPr sz="1030" b="0" i="0">
                <a:solidFill>
                  <a:srgbClr val="2A2722"/>
                </a:solidFill>
                <a:latin typeface="Arial"/>
              </a:rPr>
              <a:t>•  Return rate: Occasional 0.22 vs High-Value 0.04</a:t>
            </a:r>
          </a:p>
          <a:p>
            <a:pPr algn="l">
              <a:lnSpc>
                <a:spcPct val="112000"/>
              </a:lnSpc>
              <a:spcAft>
                <a:spcPts val="500"/>
              </a:spcAft>
            </a:pPr>
            <a:r>
              <a:rPr sz="1030" b="0" i="0">
                <a:solidFill>
                  <a:srgbClr val="2A2722"/>
                </a:solidFill>
                <a:latin typeface="Arial"/>
              </a:rPr>
              <a:t>•  Website time: Loyal 90+ min vs Occasional 30</a:t>
            </a:r>
          </a:p>
          <a:p>
            <a:pPr algn="l">
              <a:lnSpc>
                <a:spcPct val="112000"/>
              </a:lnSpc>
              <a:spcAft>
                <a:spcPts val="500"/>
              </a:spcAft>
            </a:pPr>
            <a:r>
              <a:rPr sz="1030" b="0" i="0">
                <a:solidFill>
                  <a:srgbClr val="2A2722"/>
                </a:solidFill>
                <a:latin typeface="Arial"/>
              </a:rPr>
              <a:t>•  Support calls: Occasional 3.2 vs Loyal 0.8 — unhappy customers need help</a:t>
            </a:r>
          </a:p>
          <a:p>
            <a:pPr algn="l">
              <a:lnSpc>
                <a:spcPct val="112000"/>
              </a:lnSpc>
              <a:spcAft>
                <a:spcPts val="500"/>
              </a:spcAft>
            </a:pPr>
            <a:r>
              <a:rPr sz="1030" b="0" i="0">
                <a:solidFill>
                  <a:srgbClr val="2A2722"/>
                </a:solidFill>
                <a:latin typeface="Arial"/>
              </a:rPr>
              <a:t>•  Payment: Card covers 60% of High-Value; Wallet 45% of Occasional</a:t>
            </a:r>
          </a:p>
          <a:p>
            <a:pPr algn="l">
              <a:lnSpc>
                <a:spcPct val="112000"/>
              </a:lnSpc>
              <a:spcAft>
                <a:spcPts val="500"/>
              </a:spcAft>
            </a:pPr>
            <a:r>
              <a:rPr sz="1030" b="0" i="0">
                <a:solidFill>
                  <a:srgbClr val="2A2722"/>
                </a:solidFill>
                <a:latin typeface="Arial"/>
              </a:rPr>
              <a:t>•  Region: 70% of Urban customers are High-Value; Rural leans Occasional</a:t>
            </a:r>
          </a:p>
          <a:p>
            <a:pPr algn="l">
              <a:lnSpc>
                <a:spcPct val="106000"/>
              </a:lnSpc>
              <a:spcAft>
                <a:spcPts val="400"/>
              </a:spcAft>
            </a:pPr>
            <a:r>
              <a:rPr sz="1000" b="1" i="0" spc="60">
                <a:solidFill>
                  <a:srgbClr val="141414"/>
                </a:solidFill>
                <a:latin typeface="Arial"/>
              </a:rPr>
              <a:t>WHAT WE DROPPED</a:t>
            </a:r>
          </a:p>
          <a:p>
            <a:pPr algn="l">
              <a:lnSpc>
                <a:spcPct val="112000"/>
              </a:lnSpc>
              <a:spcAft>
                <a:spcPts val="500"/>
              </a:spcAft>
            </a:pPr>
            <a:r>
              <a:rPr sz="1030" b="0" i="0">
                <a:solidFill>
                  <a:srgbClr val="2A2722"/>
                </a:solidFill>
                <a:latin typeface="Arial"/>
              </a:rPr>
              <a:t>Only the ID number — it's a label, not behaviour. All 12 real details stayed.</a:t>
            </a:r>
          </a:p>
        </p:txBody>
      </p:sp>
      <p:sp>
        <p:nvSpPr>
          <p:cNvPr id="9" name="TextBox 8"/>
          <p:cNvSpPr txBox="1"/>
          <p:nvPr/>
        </p:nvSpPr>
        <p:spPr>
          <a:xfrm>
            <a:off x="6144768" y="1847088"/>
            <a:ext cx="5120640" cy="274320"/>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WHAT THE MODEL WEIGHS MOST</a:t>
            </a:r>
          </a:p>
        </p:txBody>
      </p:sp>
      <p:sp>
        <p:nvSpPr>
          <p:cNvPr id="10" name="TextBox 9"/>
          <p:cNvSpPr txBox="1"/>
          <p:nvPr/>
        </p:nvSpPr>
        <p:spPr>
          <a:xfrm>
            <a:off x="6144768" y="222199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Monthly spend</a:t>
            </a:r>
          </a:p>
        </p:txBody>
      </p:sp>
      <p:sp>
        <p:nvSpPr>
          <p:cNvPr id="11" name="Rounded Rectangle 10"/>
          <p:cNvSpPr/>
          <p:nvPr/>
        </p:nvSpPr>
        <p:spPr>
          <a:xfrm>
            <a:off x="7836407" y="224942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36407" y="2249424"/>
            <a:ext cx="510235" cy="169164"/>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0776" y="219456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0.18</a:t>
            </a:r>
          </a:p>
        </p:txBody>
      </p:sp>
      <p:sp>
        <p:nvSpPr>
          <p:cNvPr id="14" name="TextBox 13"/>
          <p:cNvSpPr txBox="1"/>
          <p:nvPr/>
        </p:nvSpPr>
        <p:spPr>
          <a:xfrm>
            <a:off x="6144768" y="258775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Visits per month</a:t>
            </a:r>
          </a:p>
        </p:txBody>
      </p:sp>
      <p:sp>
        <p:nvSpPr>
          <p:cNvPr id="15" name="Rounded Rectangle 14"/>
          <p:cNvSpPr/>
          <p:nvPr/>
        </p:nvSpPr>
        <p:spPr>
          <a:xfrm>
            <a:off x="7836407" y="261518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36407" y="2615184"/>
            <a:ext cx="425196" cy="169164"/>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0776" y="256032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0.15</a:t>
            </a:r>
          </a:p>
        </p:txBody>
      </p:sp>
      <p:sp>
        <p:nvSpPr>
          <p:cNvPr id="18" name="TextBox 17"/>
          <p:cNvSpPr txBox="1"/>
          <p:nvPr/>
        </p:nvSpPr>
        <p:spPr>
          <a:xfrm>
            <a:off x="6144768" y="295351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Yearly income</a:t>
            </a:r>
          </a:p>
        </p:txBody>
      </p:sp>
      <p:sp>
        <p:nvSpPr>
          <p:cNvPr id="19" name="Rounded Rectangle 18"/>
          <p:cNvSpPr/>
          <p:nvPr/>
        </p:nvSpPr>
        <p:spPr>
          <a:xfrm>
            <a:off x="7836407" y="298094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36407" y="2980944"/>
            <a:ext cx="396849" cy="169164"/>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0776" y="2926079"/>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0.14</a:t>
            </a:r>
          </a:p>
        </p:txBody>
      </p:sp>
      <p:sp>
        <p:nvSpPr>
          <p:cNvPr id="22" name="TextBox 21"/>
          <p:cNvSpPr txBox="1"/>
          <p:nvPr/>
        </p:nvSpPr>
        <p:spPr>
          <a:xfrm>
            <a:off x="6144768" y="331927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Months as customer</a:t>
            </a:r>
          </a:p>
        </p:txBody>
      </p:sp>
      <p:sp>
        <p:nvSpPr>
          <p:cNvPr id="23" name="Rounded Rectangle 22"/>
          <p:cNvSpPr/>
          <p:nvPr/>
        </p:nvSpPr>
        <p:spPr>
          <a:xfrm>
            <a:off x="7836407" y="334670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836407" y="3346704"/>
            <a:ext cx="340156" cy="169164"/>
          </a:xfrm>
          <a:prstGeom prst="roundRect">
            <a:avLst>
              <a:gd name="adj" fmla="val 50000"/>
            </a:avLst>
          </a:prstGeom>
          <a:solidFill>
            <a:srgbClr val="4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0776" y="329184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0.12</a:t>
            </a:r>
          </a:p>
        </p:txBody>
      </p:sp>
      <p:sp>
        <p:nvSpPr>
          <p:cNvPr id="26" name="TextBox 25"/>
          <p:cNvSpPr txBox="1"/>
          <p:nvPr/>
        </p:nvSpPr>
        <p:spPr>
          <a:xfrm>
            <a:off x="6144768" y="368503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Basket size</a:t>
            </a:r>
          </a:p>
        </p:txBody>
      </p:sp>
      <p:sp>
        <p:nvSpPr>
          <p:cNvPr id="27" name="Rounded Rectangle 26"/>
          <p:cNvSpPr/>
          <p:nvPr/>
        </p:nvSpPr>
        <p:spPr>
          <a:xfrm>
            <a:off x="7836407" y="371246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836407" y="3712464"/>
            <a:ext cx="311810" cy="169164"/>
          </a:xfrm>
          <a:prstGeom prst="roundRect">
            <a:avLst>
              <a:gd name="adj" fmla="val 50000"/>
            </a:avLst>
          </a:prstGeom>
          <a:solidFill>
            <a:srgbClr val="4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0776" y="365760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0.11</a:t>
            </a:r>
          </a:p>
        </p:txBody>
      </p:sp>
      <p:sp>
        <p:nvSpPr>
          <p:cNvPr id="30" name="TextBox 29"/>
          <p:cNvSpPr txBox="1"/>
          <p:nvPr/>
        </p:nvSpPr>
        <p:spPr>
          <a:xfrm>
            <a:off x="6144768" y="4050791"/>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Website time</a:t>
            </a:r>
          </a:p>
        </p:txBody>
      </p:sp>
      <p:sp>
        <p:nvSpPr>
          <p:cNvPr id="31" name="Rounded Rectangle 30"/>
          <p:cNvSpPr/>
          <p:nvPr/>
        </p:nvSpPr>
        <p:spPr>
          <a:xfrm>
            <a:off x="7836407" y="407822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836407" y="4078224"/>
            <a:ext cx="255117" cy="169164"/>
          </a:xfrm>
          <a:prstGeom prst="roundRect">
            <a:avLst>
              <a:gd name="adj" fmla="val 50000"/>
            </a:avLst>
          </a:prstGeom>
          <a:solidFill>
            <a:srgbClr val="8A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0776" y="402336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0.09</a:t>
            </a:r>
          </a:p>
        </p:txBody>
      </p:sp>
      <p:sp>
        <p:nvSpPr>
          <p:cNvPr id="34" name="TextBox 33"/>
          <p:cNvSpPr txBox="1"/>
          <p:nvPr/>
        </p:nvSpPr>
        <p:spPr>
          <a:xfrm>
            <a:off x="6144768" y="441655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Discount use</a:t>
            </a:r>
          </a:p>
        </p:txBody>
      </p:sp>
      <p:sp>
        <p:nvSpPr>
          <p:cNvPr id="35" name="Rounded Rectangle 34"/>
          <p:cNvSpPr/>
          <p:nvPr/>
        </p:nvSpPr>
        <p:spPr>
          <a:xfrm>
            <a:off x="7836407" y="444398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836407" y="4443984"/>
            <a:ext cx="198424" cy="169164"/>
          </a:xfrm>
          <a:prstGeom prst="roundRect">
            <a:avLst>
              <a:gd name="adj" fmla="val 50000"/>
            </a:avLst>
          </a:prstGeom>
          <a:solidFill>
            <a:srgbClr val="8A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80776" y="438912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0.07</a:t>
            </a:r>
          </a:p>
        </p:txBody>
      </p:sp>
      <p:sp>
        <p:nvSpPr>
          <p:cNvPr id="38" name="TextBox 37"/>
          <p:cNvSpPr txBox="1"/>
          <p:nvPr/>
        </p:nvSpPr>
        <p:spPr>
          <a:xfrm>
            <a:off x="6144768" y="478231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Return rate</a:t>
            </a:r>
          </a:p>
        </p:txBody>
      </p:sp>
      <p:sp>
        <p:nvSpPr>
          <p:cNvPr id="39" name="Rounded Rectangle 38"/>
          <p:cNvSpPr/>
          <p:nvPr/>
        </p:nvSpPr>
        <p:spPr>
          <a:xfrm>
            <a:off x="7836407" y="480974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836407" y="4809744"/>
            <a:ext cx="170078" cy="169164"/>
          </a:xfrm>
          <a:prstGeom prst="roundRect">
            <a:avLst>
              <a:gd name="adj" fmla="val 50000"/>
            </a:avLst>
          </a:prstGeom>
          <a:solidFill>
            <a:srgbClr val="8A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780776" y="475488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0.06</a:t>
            </a:r>
          </a:p>
        </p:txBody>
      </p:sp>
      <p:sp>
        <p:nvSpPr>
          <p:cNvPr id="42" name="TextBox 41"/>
          <p:cNvSpPr txBox="1"/>
          <p:nvPr/>
        </p:nvSpPr>
        <p:spPr>
          <a:xfrm>
            <a:off x="6144768" y="514807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Age</a:t>
            </a:r>
          </a:p>
        </p:txBody>
      </p:sp>
      <p:sp>
        <p:nvSpPr>
          <p:cNvPr id="43" name="Rounded Rectangle 42"/>
          <p:cNvSpPr/>
          <p:nvPr/>
        </p:nvSpPr>
        <p:spPr>
          <a:xfrm>
            <a:off x="7836407" y="517550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836407" y="5175504"/>
            <a:ext cx="128016" cy="169164"/>
          </a:xfrm>
          <a:prstGeom prst="roundRect">
            <a:avLst>
              <a:gd name="adj" fmla="val 50000"/>
            </a:avLst>
          </a:prstGeom>
          <a:solidFill>
            <a:srgbClr val="A89F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80776" y="512064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0.04</a:t>
            </a:r>
          </a:p>
        </p:txBody>
      </p:sp>
      <p:sp>
        <p:nvSpPr>
          <p:cNvPr id="46" name="TextBox 45"/>
          <p:cNvSpPr txBox="1"/>
          <p:nvPr/>
        </p:nvSpPr>
        <p:spPr>
          <a:xfrm>
            <a:off x="6144768" y="5513832"/>
            <a:ext cx="1600200" cy="256032"/>
          </a:xfrm>
          <a:prstGeom prst="rect">
            <a:avLst/>
          </a:prstGeom>
          <a:noFill/>
        </p:spPr>
        <p:txBody>
          <a:bodyPr wrap="square" lIns="0" rIns="0" tIns="0" bIns="0" anchor="t">
            <a:spAutoFit/>
          </a:bodyPr>
          <a:lstStyle/>
          <a:p>
            <a:pPr algn="l">
              <a:lnSpc>
                <a:spcPct val="106000"/>
              </a:lnSpc>
              <a:spcAft>
                <a:spcPts val="400"/>
              </a:spcAft>
            </a:pPr>
            <a:r>
              <a:rPr sz="950" b="0" i="0">
                <a:solidFill>
                  <a:srgbClr val="5F594E"/>
                </a:solidFill>
                <a:latin typeface="Arial"/>
              </a:rPr>
              <a:t>Support calls</a:t>
            </a:r>
          </a:p>
        </p:txBody>
      </p:sp>
      <p:sp>
        <p:nvSpPr>
          <p:cNvPr id="47" name="Rounded Rectangle 46"/>
          <p:cNvSpPr/>
          <p:nvPr/>
        </p:nvSpPr>
        <p:spPr>
          <a:xfrm>
            <a:off x="7836407" y="5541264"/>
            <a:ext cx="283464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836407" y="5541264"/>
            <a:ext cx="128016" cy="169164"/>
          </a:xfrm>
          <a:prstGeom prst="roundRect">
            <a:avLst>
              <a:gd name="adj" fmla="val 50000"/>
            </a:avLst>
          </a:prstGeom>
          <a:solidFill>
            <a:srgbClr val="A89F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780776" y="5486400"/>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0.03</a:t>
            </a:r>
          </a:p>
        </p:txBody>
      </p:sp>
      <p:sp>
        <p:nvSpPr>
          <p:cNvPr id="50" name="Rounded Rectangle 49"/>
          <p:cNvSpPr/>
          <p:nvPr/>
        </p:nvSpPr>
        <p:spPr>
          <a:xfrm>
            <a:off x="6144768" y="5833872"/>
            <a:ext cx="5257800" cy="512064"/>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126480" y="5961888"/>
            <a:ext cx="50292" cy="256032"/>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45936" y="5980176"/>
            <a:ext cx="4892040" cy="237744"/>
          </a:xfrm>
          <a:prstGeom prst="rect">
            <a:avLst/>
          </a:prstGeom>
          <a:noFill/>
        </p:spPr>
        <p:txBody>
          <a:bodyPr wrap="square" lIns="0" rIns="0" tIns="0" bIns="0" anchor="t">
            <a:spAutoFit/>
          </a:bodyPr>
          <a:lstStyle/>
          <a:p>
            <a:pPr algn="l">
              <a:lnSpc>
                <a:spcPct val="106000"/>
              </a:lnSpc>
              <a:spcAft>
                <a:spcPts val="100"/>
              </a:spcAft>
            </a:pPr>
            <a:r>
              <a:rPr sz="1050" b="1" i="0" spc="90">
                <a:solidFill>
                  <a:srgbClr val="141414"/>
                </a:solidFill>
                <a:latin typeface="Arial"/>
              </a:rPr>
              <a:t/>
            </a:r>
          </a:p>
          <a:p>
            <a:pPr algn="l">
              <a:lnSpc>
                <a:spcPct val="112000"/>
              </a:lnSpc>
              <a:spcAft>
                <a:spcPts val="0"/>
              </a:spcAft>
            </a:pPr>
            <a:r>
              <a:rPr sz="930" b="0" i="0">
                <a:solidFill>
                  <a:srgbClr val="2A2722"/>
                </a:solidFill>
                <a:latin typeface="Arial"/>
              </a:rPr>
              <a:t>Payment and region become simple yes-no columns (3 + 3) — that's how 12 details become 16 model-ready columns.</a:t>
            </a:r>
          </a:p>
        </p:txBody>
      </p:sp>
      <p:sp>
        <p:nvSpPr>
          <p:cNvPr id="53" name="TextBox 52"/>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08/17</a:t>
            </a:r>
          </a:p>
        </p:txBody>
      </p:sp>
      <p:sp>
        <p:nvSpPr>
          <p:cNvPr id="54" name="TextBox 53"/>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07  •  STUDY SET vs EXAM SET</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Teach on one part, grade on another</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213055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874519"/>
            <a:ext cx="2039112"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35,020</a:t>
            </a:r>
          </a:p>
          <a:p>
            <a:pPr algn="ctr">
              <a:lnSpc>
                <a:spcPct val="106000"/>
              </a:lnSpc>
              <a:spcAft>
                <a:spcPts val="0"/>
              </a:spcAft>
            </a:pPr>
            <a:r>
              <a:rPr sz="850" b="1" i="0" spc="80">
                <a:solidFill>
                  <a:srgbClr val="6E685C"/>
                </a:solidFill>
                <a:latin typeface="Arial"/>
              </a:rPr>
              <a:t>STUDY SET</a:t>
            </a:r>
          </a:p>
          <a:p>
            <a:pPr algn="ctr">
              <a:lnSpc>
                <a:spcPct val="106000"/>
              </a:lnSpc>
              <a:spcAft>
                <a:spcPts val="0"/>
              </a:spcAft>
            </a:pPr>
            <a:r>
              <a:rPr sz="750" b="0" i="0">
                <a:solidFill>
                  <a:srgbClr val="B5AEA0"/>
                </a:solidFill>
                <a:latin typeface="Arial"/>
              </a:rPr>
              <a:t>the model learns here</a:t>
            </a:r>
          </a:p>
        </p:txBody>
      </p:sp>
      <p:sp>
        <p:nvSpPr>
          <p:cNvPr id="8" name="Rounded Rectangle 7"/>
          <p:cNvSpPr/>
          <p:nvPr/>
        </p:nvSpPr>
        <p:spPr>
          <a:xfrm>
            <a:off x="2798064" y="1783080"/>
            <a:ext cx="213055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3784" y="1874519"/>
            <a:ext cx="2039112"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7,480</a:t>
            </a:r>
          </a:p>
          <a:p>
            <a:pPr algn="ctr">
              <a:lnSpc>
                <a:spcPct val="106000"/>
              </a:lnSpc>
              <a:spcAft>
                <a:spcPts val="0"/>
              </a:spcAft>
            </a:pPr>
            <a:r>
              <a:rPr sz="850" b="1" i="0" spc="80">
                <a:solidFill>
                  <a:srgbClr val="6E685C"/>
                </a:solidFill>
                <a:latin typeface="Arial"/>
              </a:rPr>
              <a:t>PRACTICE SET</a:t>
            </a:r>
          </a:p>
          <a:p>
            <a:pPr algn="ctr">
              <a:lnSpc>
                <a:spcPct val="106000"/>
              </a:lnSpc>
              <a:spcAft>
                <a:spcPts val="0"/>
              </a:spcAft>
            </a:pPr>
            <a:r>
              <a:rPr sz="750" b="0" i="0">
                <a:solidFill>
                  <a:srgbClr val="B5AEA0"/>
                </a:solidFill>
                <a:latin typeface="Arial"/>
              </a:rPr>
              <a:t>tune settings here</a:t>
            </a:r>
          </a:p>
        </p:txBody>
      </p:sp>
      <p:sp>
        <p:nvSpPr>
          <p:cNvPr id="10" name="Rounded Rectangle 9"/>
          <p:cNvSpPr/>
          <p:nvPr/>
        </p:nvSpPr>
        <p:spPr>
          <a:xfrm>
            <a:off x="5029200" y="1783080"/>
            <a:ext cx="213055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1874519"/>
            <a:ext cx="2039112"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7,500</a:t>
            </a:r>
          </a:p>
          <a:p>
            <a:pPr algn="ctr">
              <a:lnSpc>
                <a:spcPct val="106000"/>
              </a:lnSpc>
              <a:spcAft>
                <a:spcPts val="0"/>
              </a:spcAft>
            </a:pPr>
            <a:r>
              <a:rPr sz="850" b="1" i="0" spc="80">
                <a:solidFill>
                  <a:srgbClr val="6E685C"/>
                </a:solidFill>
                <a:latin typeface="Arial"/>
              </a:rPr>
              <a:t>FINAL EXAM</a:t>
            </a:r>
          </a:p>
          <a:p>
            <a:pPr algn="ctr">
              <a:lnSpc>
                <a:spcPct val="106000"/>
              </a:lnSpc>
              <a:spcAft>
                <a:spcPts val="0"/>
              </a:spcAft>
            </a:pPr>
            <a:r>
              <a:rPr sz="750" b="0" i="0">
                <a:solidFill>
                  <a:srgbClr val="B5AEA0"/>
                </a:solidFill>
                <a:latin typeface="Arial"/>
              </a:rPr>
              <a:t>seen only once</a:t>
            </a:r>
          </a:p>
        </p:txBody>
      </p:sp>
      <p:sp>
        <p:nvSpPr>
          <p:cNvPr id="12" name="Rounded Rectangle 11"/>
          <p:cNvSpPr/>
          <p:nvPr/>
        </p:nvSpPr>
        <p:spPr>
          <a:xfrm>
            <a:off x="7260336" y="1783080"/>
            <a:ext cx="213055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06056" y="1874519"/>
            <a:ext cx="2039112" cy="859536"/>
          </a:xfrm>
          <a:prstGeom prst="rect">
            <a:avLst/>
          </a:prstGeom>
          <a:noFill/>
        </p:spPr>
        <p:txBody>
          <a:bodyPr wrap="square" lIns="0" rIns="0" tIns="0" bIns="0" anchor="t">
            <a:spAutoFit/>
          </a:bodyPr>
          <a:lstStyle/>
          <a:p>
            <a:pPr algn="ctr">
              <a:spcAft>
                <a:spcPts val="100"/>
              </a:spcAft>
            </a:pPr>
            <a:r>
              <a:rPr sz="2000" b="1">
                <a:solidFill>
                  <a:srgbClr val="141414"/>
                </a:solidFill>
                <a:latin typeface="Arial"/>
              </a:rPr>
              <a:t>70/15/15</a:t>
            </a:r>
          </a:p>
          <a:p>
            <a:pPr algn="ctr">
              <a:lnSpc>
                <a:spcPct val="106000"/>
              </a:lnSpc>
              <a:spcAft>
                <a:spcPts val="0"/>
              </a:spcAft>
            </a:pPr>
            <a:r>
              <a:rPr sz="850" b="1" i="0" spc="80">
                <a:solidFill>
                  <a:srgbClr val="6E685C"/>
                </a:solidFill>
                <a:latin typeface="Arial"/>
              </a:rPr>
              <a:t>THE RATIO</a:t>
            </a:r>
          </a:p>
          <a:p>
            <a:pPr algn="ctr">
              <a:lnSpc>
                <a:spcPct val="106000"/>
              </a:lnSpc>
              <a:spcAft>
                <a:spcPts val="0"/>
              </a:spcAft>
            </a:pPr>
            <a:r>
              <a:rPr sz="750" b="0" i="0">
                <a:solidFill>
                  <a:srgbClr val="B5AEA0"/>
                </a:solidFill>
                <a:latin typeface="Arial"/>
              </a:rPr>
              <a:t>study/practice/exam</a:t>
            </a:r>
          </a:p>
        </p:txBody>
      </p:sp>
      <p:sp>
        <p:nvSpPr>
          <p:cNvPr id="14" name="Rounded Rectangle 13"/>
          <p:cNvSpPr/>
          <p:nvPr/>
        </p:nvSpPr>
        <p:spPr>
          <a:xfrm>
            <a:off x="9491472" y="1783080"/>
            <a:ext cx="213055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37192" y="1874519"/>
            <a:ext cx="2039112" cy="859536"/>
          </a:xfrm>
          <a:prstGeom prst="rect">
            <a:avLst/>
          </a:prstGeom>
          <a:noFill/>
        </p:spPr>
        <p:txBody>
          <a:bodyPr wrap="square" lIns="0" rIns="0" tIns="0" bIns="0" anchor="t">
            <a:spAutoFit/>
          </a:bodyPr>
          <a:lstStyle/>
          <a:p>
            <a:pPr algn="ctr">
              <a:spcAft>
                <a:spcPts val="100"/>
              </a:spcAft>
            </a:pPr>
            <a:r>
              <a:rPr sz="2000" b="1">
                <a:solidFill>
                  <a:srgbClr val="141414"/>
                </a:solidFill>
                <a:latin typeface="Arial"/>
              </a:rPr>
              <a:t>44/27/18/11</a:t>
            </a:r>
          </a:p>
          <a:p>
            <a:pPr algn="ctr">
              <a:lnSpc>
                <a:spcPct val="106000"/>
              </a:lnSpc>
              <a:spcAft>
                <a:spcPts val="0"/>
              </a:spcAft>
            </a:pPr>
            <a:r>
              <a:rPr sz="850" b="1" i="0" spc="80">
                <a:solidFill>
                  <a:srgbClr val="6E685C"/>
                </a:solidFill>
                <a:latin typeface="Arial"/>
              </a:rPr>
              <a:t>SAME MIX</a:t>
            </a:r>
          </a:p>
          <a:p>
            <a:pPr algn="ctr">
              <a:lnSpc>
                <a:spcPct val="106000"/>
              </a:lnSpc>
              <a:spcAft>
                <a:spcPts val="0"/>
              </a:spcAft>
            </a:pPr>
            <a:r>
              <a:rPr sz="750" b="0" i="0">
                <a:solidFill>
                  <a:srgbClr val="B5AEA0"/>
                </a:solidFill>
                <a:latin typeface="Arial"/>
              </a:rPr>
              <a:t>group split kept fair</a:t>
            </a:r>
          </a:p>
        </p:txBody>
      </p:sp>
      <p:graphicFrame>
        <p:nvGraphicFramePr>
          <p:cNvPr id="16" name="Table 15"/>
          <p:cNvGraphicFramePr>
            <a:graphicFrameLocks noGrp="1"/>
          </p:cNvGraphicFramePr>
          <p:nvPr/>
        </p:nvGraphicFramePr>
        <p:xfrm>
          <a:off x="566928" y="3090672"/>
          <a:ext cx="6858000" cy="1481328"/>
        </p:xfrm>
        <a:graphic>
          <a:graphicData uri="http://schemas.openxmlformats.org/drawingml/2006/table">
            <a:tbl>
              <a:tblPr>
                <a:tableStyleId>{5C22544A-7EE6-4342-B048-85BDC9FD1C3A}</a:tableStyleId>
              </a:tblPr>
              <a:tblGrid>
                <a:gridCol w="1417320"/>
                <a:gridCol w="868680"/>
                <a:gridCol w="3154680"/>
                <a:gridCol w="1417320"/>
              </a:tblGrid>
              <a:tr h="329184">
                <a:tc>
                  <a:txBody>
                    <a:bodyPr wrap="square"/>
                    <a:lstStyle/>
                    <a:p>
                      <a:pPr algn="l">
                        <a:lnSpc>
                          <a:spcPct val="100000"/>
                        </a:lnSpc>
                      </a:pPr>
                      <a:r>
                        <a:rPr sz="1050" b="1">
                          <a:solidFill>
                            <a:srgbClr val="FFFFFF"/>
                          </a:solidFill>
                          <a:latin typeface="Arial"/>
                        </a:rPr>
                        <a:t>Set</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Rows</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Job</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Result</a:t>
                      </a:r>
                    </a:p>
                  </a:txBody>
                  <a:tcPr marL="82296" marR="54864" marT="18288" marB="18288" anchor="ctr">
                    <a:solidFill>
                      <a:srgbClr val="121212"/>
                    </a:solidFill>
                  </a:tcPr>
                </a:tc>
              </a:tr>
              <a:tr h="384048">
                <a:tc>
                  <a:txBody>
                    <a:bodyPr wrap="square"/>
                    <a:lstStyle/>
                    <a:p>
                      <a:pPr algn="l">
                        <a:lnSpc>
                          <a:spcPct val="100000"/>
                        </a:lnSpc>
                      </a:pPr>
                      <a:r>
                        <a:rPr sz="1000" b="1">
                          <a:solidFill>
                            <a:srgbClr val="141414"/>
                          </a:solidFill>
                          <a:latin typeface="Arial"/>
                        </a:rPr>
                        <a:t>Study set</a:t>
                      </a:r>
                    </a:p>
                  </a:txBody>
                  <a:tcPr marL="82296" marR="54864" marT="18288" marB="18288" anchor="ctr">
                    <a:solidFill>
                      <a:srgbClr val="FFFFFF"/>
                    </a:solidFill>
                  </a:tcPr>
                </a:tc>
                <a:tc>
                  <a:txBody>
                    <a:bodyPr wrap="square"/>
                    <a:lstStyle/>
                    <a:p>
                      <a:pPr algn="l">
                        <a:lnSpc>
                          <a:spcPct val="100000"/>
                        </a:lnSpc>
                      </a:pPr>
                      <a:r>
                        <a:rPr sz="1000" b="0">
                          <a:solidFill>
                            <a:srgbClr val="2A2722"/>
                          </a:solidFill>
                          <a:latin typeface="Arial"/>
                        </a:rPr>
                        <a:t>35,020</a:t>
                      </a:r>
                    </a:p>
                  </a:txBody>
                  <a:tcPr marL="82296" marR="54864" marT="18288" marB="18288" anchor="ctr">
                    <a:solidFill>
                      <a:srgbClr val="FFFFFF"/>
                    </a:solidFill>
                  </a:tcPr>
                </a:tc>
                <a:tc>
                  <a:txBody>
                    <a:bodyPr wrap="square"/>
                    <a:lstStyle/>
                    <a:p>
                      <a:pPr algn="l">
                        <a:lnSpc>
                          <a:spcPct val="100000"/>
                        </a:lnSpc>
                      </a:pPr>
                      <a:r>
                        <a:rPr sz="1000" b="0">
                          <a:solidFill>
                            <a:srgbClr val="2A2722"/>
                          </a:solidFill>
                          <a:latin typeface="Arial"/>
                        </a:rPr>
                        <a:t>the model reads this again and again</a:t>
                      </a:r>
                    </a:p>
                  </a:txBody>
                  <a:tcPr marL="82296" marR="54864" marT="18288" marB="18288" anchor="ctr">
                    <a:solidFill>
                      <a:srgbClr val="FFFFFF"/>
                    </a:solidFill>
                  </a:tcPr>
                </a:tc>
                <a:tc>
                  <a:txBody>
                    <a:bodyPr wrap="square"/>
                    <a:lstStyle/>
                    <a:p>
                      <a:pPr algn="l">
                        <a:lnSpc>
                          <a:spcPct val="100000"/>
                        </a:lnSpc>
                      </a:pPr>
                      <a:r>
                        <a:rPr sz="1000" b="0">
                          <a:solidFill>
                            <a:srgbClr val="2A2722"/>
                          </a:solidFill>
                          <a:latin typeface="Arial"/>
                        </a:rPr>
                        <a:t>66.7% correct</a:t>
                      </a:r>
                    </a:p>
                  </a:txBody>
                  <a:tcPr marL="82296" marR="54864" marT="18288" marB="18288" anchor="ctr">
                    <a:solidFill>
                      <a:srgbClr val="FFFFFF"/>
                    </a:solidFill>
                  </a:tcPr>
                </a:tc>
              </a:tr>
              <a:tr h="384048">
                <a:tc>
                  <a:txBody>
                    <a:bodyPr wrap="square"/>
                    <a:lstStyle/>
                    <a:p>
                      <a:pPr algn="l">
                        <a:lnSpc>
                          <a:spcPct val="100000"/>
                        </a:lnSpc>
                      </a:pPr>
                      <a:r>
                        <a:rPr sz="1000" b="1">
                          <a:solidFill>
                            <a:srgbClr val="141414"/>
                          </a:solidFill>
                          <a:latin typeface="Arial"/>
                        </a:rPr>
                        <a:t>Practice set</a:t>
                      </a:r>
                    </a:p>
                  </a:txBody>
                  <a:tcPr marL="82296" marR="54864" marT="18288" marB="18288" anchor="ctr">
                    <a:solidFill>
                      <a:srgbClr val="F4F0E8"/>
                    </a:solidFill>
                  </a:tcPr>
                </a:tc>
                <a:tc>
                  <a:txBody>
                    <a:bodyPr wrap="square"/>
                    <a:lstStyle/>
                    <a:p>
                      <a:pPr algn="l">
                        <a:lnSpc>
                          <a:spcPct val="100000"/>
                        </a:lnSpc>
                      </a:pPr>
                      <a:r>
                        <a:rPr sz="1000" b="0">
                          <a:solidFill>
                            <a:srgbClr val="2A2722"/>
                          </a:solidFill>
                          <a:latin typeface="Arial"/>
                        </a:rPr>
                        <a:t>7,480</a:t>
                      </a:r>
                    </a:p>
                  </a:txBody>
                  <a:tcPr marL="82296" marR="54864" marT="18288" marB="18288" anchor="ctr">
                    <a:solidFill>
                      <a:srgbClr val="F4F0E8"/>
                    </a:solidFill>
                  </a:tcPr>
                </a:tc>
                <a:tc>
                  <a:txBody>
                    <a:bodyPr wrap="square"/>
                    <a:lstStyle/>
                    <a:p>
                      <a:pPr algn="l">
                        <a:lnSpc>
                          <a:spcPct val="100000"/>
                        </a:lnSpc>
                      </a:pPr>
                      <a:r>
                        <a:rPr sz="1000" b="0">
                          <a:solidFill>
                            <a:srgbClr val="2A2722"/>
                          </a:solidFill>
                          <a:latin typeface="Arial"/>
                        </a:rPr>
                        <a:t>adjust settings (like a mock test)</a:t>
                      </a:r>
                    </a:p>
                  </a:txBody>
                  <a:tcPr marL="82296" marR="54864" marT="18288" marB="18288" anchor="ctr">
                    <a:solidFill>
                      <a:srgbClr val="F4F0E8"/>
                    </a:solidFill>
                  </a:tcPr>
                </a:tc>
                <a:tc>
                  <a:txBody>
                    <a:bodyPr wrap="square"/>
                    <a:lstStyle/>
                    <a:p>
                      <a:pPr algn="l">
                        <a:lnSpc>
                          <a:spcPct val="100000"/>
                        </a:lnSpc>
                      </a:pPr>
                      <a:r>
                        <a:rPr sz="1000" b="0">
                          <a:solidFill>
                            <a:srgbClr val="2A2722"/>
                          </a:solidFill>
                          <a:latin typeface="Arial"/>
                        </a:rPr>
                        <a:t>66.0% correct</a:t>
                      </a:r>
                    </a:p>
                  </a:txBody>
                  <a:tcPr marL="82296" marR="54864" marT="18288" marB="18288" anchor="ctr">
                    <a:solidFill>
                      <a:srgbClr val="F4F0E8"/>
                    </a:solidFill>
                  </a:tcPr>
                </a:tc>
              </a:tr>
              <a:tr h="384048">
                <a:tc>
                  <a:txBody>
                    <a:bodyPr wrap="square"/>
                    <a:lstStyle/>
                    <a:p>
                      <a:pPr algn="l">
                        <a:lnSpc>
                          <a:spcPct val="100000"/>
                        </a:lnSpc>
                      </a:pPr>
                      <a:r>
                        <a:rPr sz="1000" b="1">
                          <a:solidFill>
                            <a:srgbClr val="141414"/>
                          </a:solidFill>
                          <a:latin typeface="Arial"/>
                        </a:rPr>
                        <a:t>Final exam</a:t>
                      </a:r>
                    </a:p>
                  </a:txBody>
                  <a:tcPr marL="82296" marR="54864" marT="18288" marB="18288" anchor="ctr">
                    <a:solidFill>
                      <a:srgbClr val="FFFFFF"/>
                    </a:solidFill>
                  </a:tcPr>
                </a:tc>
                <a:tc>
                  <a:txBody>
                    <a:bodyPr wrap="square"/>
                    <a:lstStyle/>
                    <a:p>
                      <a:pPr algn="l">
                        <a:lnSpc>
                          <a:spcPct val="100000"/>
                        </a:lnSpc>
                      </a:pPr>
                      <a:r>
                        <a:rPr sz="1000" b="0">
                          <a:solidFill>
                            <a:srgbClr val="2A2722"/>
                          </a:solidFill>
                          <a:latin typeface="Arial"/>
                        </a:rPr>
                        <a:t>7,500</a:t>
                      </a:r>
                    </a:p>
                  </a:txBody>
                  <a:tcPr marL="82296" marR="54864" marT="18288" marB="18288" anchor="ctr">
                    <a:solidFill>
                      <a:srgbClr val="FFFFFF"/>
                    </a:solidFill>
                  </a:tcPr>
                </a:tc>
                <a:tc>
                  <a:txBody>
                    <a:bodyPr wrap="square"/>
                    <a:lstStyle/>
                    <a:p>
                      <a:pPr algn="l">
                        <a:lnSpc>
                          <a:spcPct val="100000"/>
                        </a:lnSpc>
                      </a:pPr>
                      <a:r>
                        <a:rPr sz="1000" b="0">
                          <a:solidFill>
                            <a:srgbClr val="2A2722"/>
                          </a:solidFill>
                          <a:latin typeface="Arial"/>
                        </a:rPr>
                        <a:t>graded once — never seen before</a:t>
                      </a:r>
                    </a:p>
                  </a:txBody>
                  <a:tcPr marL="82296" marR="54864" marT="18288" marB="18288" anchor="ctr">
                    <a:solidFill>
                      <a:srgbClr val="FFFFFF"/>
                    </a:solidFill>
                  </a:tcPr>
                </a:tc>
                <a:tc>
                  <a:txBody>
                    <a:bodyPr wrap="square"/>
                    <a:lstStyle/>
                    <a:p>
                      <a:pPr algn="l">
                        <a:lnSpc>
                          <a:spcPct val="100000"/>
                        </a:lnSpc>
                      </a:pPr>
                      <a:r>
                        <a:rPr sz="1000" b="0">
                          <a:solidFill>
                            <a:srgbClr val="2A2722"/>
                          </a:solidFill>
                          <a:latin typeface="Arial"/>
                        </a:rPr>
                        <a:t>66.4% correct</a:t>
                      </a:r>
                    </a:p>
                  </a:txBody>
                  <a:tcPr marL="82296" marR="54864" marT="18288" marB="18288" anchor="ctr">
                    <a:solidFill>
                      <a:srgbClr val="FFFFFF"/>
                    </a:solidFill>
                  </a:tcPr>
                </a:tc>
              </a:tr>
            </a:tbl>
          </a:graphicData>
        </a:graphic>
      </p:graphicFrame>
      <p:sp>
        <p:nvSpPr>
          <p:cNvPr id="17" name="Rounded Rectangle 16"/>
          <p:cNvSpPr/>
          <p:nvPr/>
        </p:nvSpPr>
        <p:spPr>
          <a:xfrm>
            <a:off x="566928" y="4864608"/>
            <a:ext cx="6903720" cy="141732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4992624"/>
            <a:ext cx="50292" cy="1161288"/>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5010912"/>
            <a:ext cx="6519672" cy="1143000"/>
          </a:xfrm>
          <a:prstGeom prst="rect">
            <a:avLst/>
          </a:prstGeom>
          <a:noFill/>
        </p:spPr>
        <p:txBody>
          <a:bodyPr wrap="square" lIns="0" rIns="0" tIns="0" bIns="0" anchor="t">
            <a:spAutoFit/>
          </a:bodyPr>
          <a:lstStyle/>
          <a:p>
            <a:pPr algn="l">
              <a:lnSpc>
                <a:spcPct val="106000"/>
              </a:lnSpc>
              <a:spcAft>
                <a:spcPts val="300"/>
              </a:spcAft>
            </a:pPr>
            <a:r>
              <a:rPr sz="1050" b="1" i="0" spc="90">
                <a:solidFill>
                  <a:srgbClr val="141414"/>
                </a:solidFill>
                <a:latin typeface="Arial"/>
              </a:rPr>
              <a:t>KEEPING THE EXAM HONEST</a:t>
            </a:r>
          </a:p>
          <a:p>
            <a:pPr algn="l">
              <a:lnSpc>
                <a:spcPct val="112000"/>
              </a:lnSpc>
              <a:spcAft>
                <a:spcPts val="0"/>
              </a:spcAft>
            </a:pPr>
            <a:r>
              <a:rPr sz="1000" b="0" i="0">
                <a:solidFill>
                  <a:srgbClr val="2A2722"/>
                </a:solidFill>
                <a:latin typeface="Arial"/>
              </a:rPr>
              <a:t>All cleaning averages, scales and categories are learned from the study set only, then applied unchanged to the exam set. If the model ever peeked at exam answers, its score would be a lie — we made sure it can't.</a:t>
            </a:r>
          </a:p>
        </p:txBody>
      </p:sp>
      <p:sp>
        <p:nvSpPr>
          <p:cNvPr id="20" name="Rounded Rectangle 19"/>
          <p:cNvSpPr/>
          <p:nvPr/>
        </p:nvSpPr>
        <p:spPr>
          <a:xfrm>
            <a:off x="7699248" y="3090672"/>
            <a:ext cx="3931920" cy="3191256"/>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644383" y="3227832"/>
            <a:ext cx="50292" cy="2926080"/>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3255264"/>
            <a:ext cx="3520440" cy="2834640"/>
          </a:xfrm>
          <a:prstGeom prst="rect">
            <a:avLst/>
          </a:prstGeom>
          <a:noFill/>
        </p:spPr>
        <p:txBody>
          <a:bodyPr wrap="square" lIns="0" rIns="0" tIns="0" bIns="0" anchor="t">
            <a:spAutoFit/>
          </a:bodyPr>
          <a:lstStyle/>
          <a:p>
            <a:pPr algn="l">
              <a:lnSpc>
                <a:spcPct val="106000"/>
              </a:lnSpc>
              <a:spcAft>
                <a:spcPts val="700"/>
              </a:spcAft>
            </a:pPr>
            <a:r>
              <a:rPr sz="1050" b="1" i="0" spc="90">
                <a:solidFill>
                  <a:srgbClr val="FFFFFF"/>
                </a:solidFill>
                <a:latin typeface="Arial"/>
              </a:rPr>
              <a:t>WHY SPLIT AT ALL?</a:t>
            </a:r>
          </a:p>
          <a:p>
            <a:pPr algn="l">
              <a:lnSpc>
                <a:spcPct val="122000"/>
              </a:lnSpc>
              <a:spcAft>
                <a:spcPts val="800"/>
              </a:spcAft>
            </a:pPr>
            <a:r>
              <a:rPr sz="1000" b="0" i="0">
                <a:solidFill>
                  <a:srgbClr val="E8E4DC"/>
                </a:solidFill>
                <a:latin typeface="Arial"/>
              </a:rPr>
              <a:t>If you grade students on questions they already saw, everyone scores 100% and you learn nothing.</a:t>
            </a:r>
          </a:p>
          <a:p>
            <a:pPr algn="l">
              <a:lnSpc>
                <a:spcPct val="122000"/>
              </a:lnSpc>
              <a:spcAft>
                <a:spcPts val="0"/>
              </a:spcAft>
            </a:pPr>
            <a:r>
              <a:rPr sz="1000" b="0" i="0">
                <a:solidFill>
                  <a:srgbClr val="E8E4DC"/>
                </a:solidFill>
                <a:latin typeface="Arial"/>
              </a:rPr>
              <a:t>Our 7,500-customer exam was locked away from minute one. 66.4% on it is a true grade — and the small study-vs-practice gap (66.7% vs 66.0%) shows the model didn't just memorise.</a:t>
            </a:r>
          </a:p>
        </p:txBody>
      </p:sp>
      <p:sp>
        <p:nvSpPr>
          <p:cNvPr id="23" name="TextBox 22"/>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09/17</a:t>
            </a:r>
          </a:p>
        </p:txBody>
      </p:sp>
      <p:sp>
        <p:nvSpPr>
          <p:cNvPr id="24" name="TextBox 23"/>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08  •  BUILDING THE MODEL</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How the computer learns to sort</a:t>
            </a:r>
          </a:p>
        </p:txBody>
      </p:sp>
      <p:sp>
        <p:nvSpPr>
          <p:cNvPr id="5" name="Rectangle 4"/>
          <p:cNvSpPr/>
          <p:nvPr/>
        </p:nvSpPr>
        <p:spPr>
          <a:xfrm>
            <a:off x="566928" y="1517904"/>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45920"/>
            <a:ext cx="10058400" cy="256032"/>
          </a:xfrm>
          <a:prstGeom prst="rect">
            <a:avLst/>
          </a:prstGeom>
          <a:noFill/>
        </p:spPr>
        <p:txBody>
          <a:bodyPr wrap="square" lIns="0" rIns="0" tIns="0" bIns="0" anchor="t">
            <a:spAutoFit/>
          </a:bodyPr>
          <a:lstStyle/>
          <a:p>
            <a:pPr algn="l">
              <a:lnSpc>
                <a:spcPct val="106000"/>
              </a:lnSpc>
              <a:spcAft>
                <a:spcPts val="400"/>
              </a:spcAft>
            </a:pPr>
            <a:r>
              <a:rPr sz="950" b="1" i="0" spc="120">
                <a:solidFill>
                  <a:srgbClr val="8A8478"/>
                </a:solidFill>
                <a:latin typeface="Arial"/>
              </a:rPr>
              <a:t>ONE CUSTOMER IN  →  CLEAN UP  →  ADD THE POINTS  →  GROUP OUT</a:t>
            </a:r>
          </a:p>
        </p:txBody>
      </p:sp>
      <p:sp>
        <p:nvSpPr>
          <p:cNvPr id="7" name="Rounded Rectangle 6"/>
          <p:cNvSpPr/>
          <p:nvPr/>
        </p:nvSpPr>
        <p:spPr>
          <a:xfrm>
            <a:off x="566928" y="1993392"/>
            <a:ext cx="2542032" cy="14813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21408"/>
            <a:ext cx="2240280" cy="1280160"/>
          </a:xfrm>
          <a:prstGeom prst="rect">
            <a:avLst/>
          </a:prstGeom>
          <a:noFill/>
        </p:spPr>
        <p:txBody>
          <a:bodyPr wrap="square" lIns="0" rIns="0" tIns="0" bIns="0" anchor="t">
            <a:spAutoFit/>
          </a:bodyPr>
          <a:lstStyle/>
          <a:p>
            <a:pPr algn="l">
              <a:lnSpc>
                <a:spcPct val="106000"/>
              </a:lnSpc>
              <a:spcAft>
                <a:spcPts val="500"/>
              </a:spcAft>
            </a:pPr>
            <a:r>
              <a:rPr sz="1000" b="1" i="0" spc="70">
                <a:solidFill>
                  <a:srgbClr val="141414"/>
                </a:solidFill>
                <a:latin typeface="Arial"/>
              </a:rPr>
              <a:t>INPUT</a:t>
            </a:r>
          </a:p>
          <a:p>
            <a:pPr algn="l">
              <a:lnSpc>
                <a:spcPct val="108000"/>
              </a:lnSpc>
              <a:spcAft>
                <a:spcPts val="200"/>
              </a:spcAft>
            </a:pPr>
            <a:r>
              <a:rPr sz="930" b="0" i="0">
                <a:solidFill>
                  <a:srgbClr val="2A2722"/>
                </a:solidFill>
                <a:latin typeface="Arial"/>
              </a:rPr>
              <a:t>One customer</a:t>
            </a:r>
          </a:p>
          <a:p>
            <a:pPr algn="l">
              <a:lnSpc>
                <a:spcPct val="108000"/>
              </a:lnSpc>
              <a:spcAft>
                <a:spcPts val="200"/>
              </a:spcAft>
            </a:pPr>
            <a:r>
              <a:rPr sz="930" b="0" i="0">
                <a:solidFill>
                  <a:srgbClr val="2A2722"/>
                </a:solidFill>
                <a:latin typeface="Arial"/>
              </a:rPr>
              <a:t>12 details:</a:t>
            </a:r>
          </a:p>
          <a:p>
            <a:pPr algn="l">
              <a:lnSpc>
                <a:spcPct val="108000"/>
              </a:lnSpc>
              <a:spcAft>
                <a:spcPts val="200"/>
              </a:spcAft>
            </a:pPr>
            <a:r>
              <a:rPr sz="930" b="0" i="0">
                <a:solidFill>
                  <a:srgbClr val="2A2722"/>
                </a:solidFill>
                <a:latin typeface="Arial"/>
              </a:rPr>
              <a:t>age, income,</a:t>
            </a:r>
          </a:p>
          <a:p>
            <a:pPr algn="l">
              <a:lnSpc>
                <a:spcPct val="108000"/>
              </a:lnSpc>
              <a:spcAft>
                <a:spcPts val="200"/>
              </a:spcAft>
            </a:pPr>
            <a:r>
              <a:rPr sz="930" b="0" i="0">
                <a:solidFill>
                  <a:srgbClr val="2A2722"/>
                </a:solidFill>
                <a:latin typeface="Arial"/>
              </a:rPr>
              <a:t>spend, visits…</a:t>
            </a:r>
          </a:p>
        </p:txBody>
      </p:sp>
      <p:sp>
        <p:nvSpPr>
          <p:cNvPr id="9" name="TextBox 8"/>
          <p:cNvSpPr txBox="1"/>
          <p:nvPr/>
        </p:nvSpPr>
        <p:spPr>
          <a:xfrm>
            <a:off x="3127248" y="2514600"/>
            <a:ext cx="320040" cy="365760"/>
          </a:xfrm>
          <a:prstGeom prst="rect">
            <a:avLst/>
          </a:prstGeom>
          <a:noFill/>
        </p:spPr>
        <p:txBody>
          <a:bodyPr wrap="square" lIns="0" rIns="0" tIns="0" bIns="0" anchor="t">
            <a:spAutoFit/>
          </a:bodyPr>
          <a:lstStyle/>
          <a:p>
            <a:pPr algn="ctr">
              <a:lnSpc>
                <a:spcPct val="106000"/>
              </a:lnSpc>
              <a:spcAft>
                <a:spcPts val="400"/>
              </a:spcAft>
            </a:pPr>
            <a:r>
              <a:rPr sz="1700" b="1" i="0">
                <a:solidFill>
                  <a:srgbClr val="6B21A8"/>
                </a:solidFill>
                <a:latin typeface="Arial"/>
              </a:rPr>
              <a:t>→</a:t>
            </a:r>
          </a:p>
        </p:txBody>
      </p:sp>
      <p:sp>
        <p:nvSpPr>
          <p:cNvPr id="10" name="Rounded Rectangle 9"/>
          <p:cNvSpPr/>
          <p:nvPr/>
        </p:nvSpPr>
        <p:spPr>
          <a:xfrm>
            <a:off x="3406140" y="1993392"/>
            <a:ext cx="2542032" cy="14813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9020" y="2121408"/>
            <a:ext cx="2240280" cy="1280160"/>
          </a:xfrm>
          <a:prstGeom prst="rect">
            <a:avLst/>
          </a:prstGeom>
          <a:noFill/>
        </p:spPr>
        <p:txBody>
          <a:bodyPr wrap="square" lIns="0" rIns="0" tIns="0" bIns="0" anchor="t">
            <a:spAutoFit/>
          </a:bodyPr>
          <a:lstStyle/>
          <a:p>
            <a:pPr algn="l">
              <a:lnSpc>
                <a:spcPct val="106000"/>
              </a:lnSpc>
              <a:spcAft>
                <a:spcPts val="500"/>
              </a:spcAft>
            </a:pPr>
            <a:r>
              <a:rPr sz="1000" b="1" i="0" spc="70">
                <a:solidFill>
                  <a:srgbClr val="141414"/>
                </a:solidFill>
                <a:latin typeface="Arial"/>
              </a:rPr>
              <a:t>STEP 1  •  CLEAN UP</a:t>
            </a:r>
          </a:p>
          <a:p>
            <a:pPr algn="l">
              <a:lnSpc>
                <a:spcPct val="108000"/>
              </a:lnSpc>
              <a:spcAft>
                <a:spcPts val="200"/>
              </a:spcAft>
            </a:pPr>
            <a:r>
              <a:rPr sz="930" b="0" i="0">
                <a:solidFill>
                  <a:srgbClr val="2A2722"/>
                </a:solidFill>
                <a:latin typeface="Arial"/>
              </a:rPr>
              <a:t>fill gaps with typical values</a:t>
            </a:r>
          </a:p>
          <a:p>
            <a:pPr algn="l">
              <a:lnSpc>
                <a:spcPct val="108000"/>
              </a:lnSpc>
              <a:spcAft>
                <a:spcPts val="200"/>
              </a:spcAft>
            </a:pPr>
            <a:r>
              <a:rPr sz="930" b="0" i="0">
                <a:solidFill>
                  <a:srgbClr val="2A2722"/>
                </a:solidFill>
                <a:latin typeface="Arial"/>
              </a:rPr>
              <a:t>categories → yes-no columns</a:t>
            </a:r>
          </a:p>
          <a:p>
            <a:pPr algn="l">
              <a:lnSpc>
                <a:spcPct val="108000"/>
              </a:lnSpc>
              <a:spcAft>
                <a:spcPts val="200"/>
              </a:spcAft>
            </a:pPr>
            <a:r>
              <a:rPr sz="930" b="0" i="0">
                <a:solidFill>
                  <a:srgbClr val="2A2722"/>
                </a:solidFill>
                <a:latin typeface="Arial"/>
              </a:rPr>
              <a:t>all numbers on one scale</a:t>
            </a:r>
          </a:p>
          <a:p>
            <a:pPr algn="l">
              <a:lnSpc>
                <a:spcPct val="108000"/>
              </a:lnSpc>
              <a:spcAft>
                <a:spcPts val="200"/>
              </a:spcAft>
            </a:pPr>
            <a:r>
              <a:rPr sz="930" b="0" i="0">
                <a:solidFill>
                  <a:srgbClr val="2A2722"/>
                </a:solidFill>
                <a:latin typeface="Arial"/>
              </a:rPr>
              <a:t>12 → 16 columns</a:t>
            </a:r>
          </a:p>
        </p:txBody>
      </p:sp>
      <p:sp>
        <p:nvSpPr>
          <p:cNvPr id="12" name="TextBox 11"/>
          <p:cNvSpPr txBox="1"/>
          <p:nvPr/>
        </p:nvSpPr>
        <p:spPr>
          <a:xfrm>
            <a:off x="5966460" y="2514600"/>
            <a:ext cx="320040" cy="365760"/>
          </a:xfrm>
          <a:prstGeom prst="rect">
            <a:avLst/>
          </a:prstGeom>
          <a:noFill/>
        </p:spPr>
        <p:txBody>
          <a:bodyPr wrap="square" lIns="0" rIns="0" tIns="0" bIns="0" anchor="t">
            <a:spAutoFit/>
          </a:bodyPr>
          <a:lstStyle/>
          <a:p>
            <a:pPr algn="ctr">
              <a:lnSpc>
                <a:spcPct val="106000"/>
              </a:lnSpc>
              <a:spcAft>
                <a:spcPts val="400"/>
              </a:spcAft>
            </a:pPr>
            <a:r>
              <a:rPr sz="1700" b="1" i="0">
                <a:solidFill>
                  <a:srgbClr val="6B21A8"/>
                </a:solidFill>
                <a:latin typeface="Arial"/>
              </a:rPr>
              <a:t>→</a:t>
            </a:r>
          </a:p>
        </p:txBody>
      </p:sp>
      <p:sp>
        <p:nvSpPr>
          <p:cNvPr id="13" name="Rounded Rectangle 12"/>
          <p:cNvSpPr/>
          <p:nvPr/>
        </p:nvSpPr>
        <p:spPr>
          <a:xfrm>
            <a:off x="6245352" y="1993392"/>
            <a:ext cx="2542032" cy="1481328"/>
          </a:xfrm>
          <a:prstGeom prst="roundRect">
            <a:avLst>
              <a:gd name="adj" fmla="val 5500"/>
            </a:avLst>
          </a:prstGeom>
          <a:solidFill>
            <a:srgbClr val="EF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2121408"/>
            <a:ext cx="2240280" cy="1280160"/>
          </a:xfrm>
          <a:prstGeom prst="rect">
            <a:avLst/>
          </a:prstGeom>
          <a:noFill/>
        </p:spPr>
        <p:txBody>
          <a:bodyPr wrap="square" lIns="0" rIns="0" tIns="0" bIns="0" anchor="t">
            <a:spAutoFit/>
          </a:bodyPr>
          <a:lstStyle/>
          <a:p>
            <a:pPr algn="l">
              <a:lnSpc>
                <a:spcPct val="106000"/>
              </a:lnSpc>
              <a:spcAft>
                <a:spcPts val="500"/>
              </a:spcAft>
            </a:pPr>
            <a:r>
              <a:rPr sz="1000" b="1" i="0" spc="70">
                <a:solidFill>
                  <a:srgbClr val="6B21A8"/>
                </a:solidFill>
                <a:latin typeface="Arial"/>
              </a:rPr>
              <a:t>STEP 2  •  ADD THE POINTS</a:t>
            </a:r>
          </a:p>
          <a:p>
            <a:pPr algn="l">
              <a:lnSpc>
                <a:spcPct val="108000"/>
              </a:lnSpc>
              <a:spcAft>
                <a:spcPts val="200"/>
              </a:spcAft>
            </a:pPr>
            <a:r>
              <a:rPr sz="930" b="0" i="0">
                <a:solidFill>
                  <a:srgbClr val="4A3F55"/>
                </a:solidFill>
                <a:latin typeface="Arial"/>
              </a:rPr>
              <a:t>each group gets a score</a:t>
            </a:r>
          </a:p>
          <a:p>
            <a:pPr algn="l">
              <a:lnSpc>
                <a:spcPct val="108000"/>
              </a:lnSpc>
              <a:spcAft>
                <a:spcPts val="200"/>
              </a:spcAft>
            </a:pPr>
            <a:r>
              <a:rPr sz="930" b="0" i="0">
                <a:solidFill>
                  <a:srgbClr val="4A3F55"/>
                </a:solidFill>
                <a:latin typeface="Arial"/>
              </a:rPr>
              <a:t>points up or down per detail</a:t>
            </a:r>
          </a:p>
          <a:p>
            <a:pPr algn="l">
              <a:lnSpc>
                <a:spcPct val="108000"/>
              </a:lnSpc>
              <a:spcAft>
                <a:spcPts val="200"/>
              </a:spcAft>
            </a:pPr>
            <a:r>
              <a:rPr sz="930" b="0" i="0">
                <a:solidFill>
                  <a:srgbClr val="4A3F55"/>
                </a:solidFill>
                <a:latin typeface="Arial"/>
              </a:rPr>
              <a:t>highest score wins</a:t>
            </a:r>
          </a:p>
          <a:p>
            <a:pPr algn="l">
              <a:lnSpc>
                <a:spcPct val="108000"/>
              </a:lnSpc>
              <a:spcAft>
                <a:spcPts val="200"/>
              </a:spcAft>
            </a:pPr>
            <a:r>
              <a:rPr sz="930" b="0" i="0">
                <a:solidFill>
                  <a:srgbClr val="4A3F55"/>
                </a:solidFill>
                <a:latin typeface="Arial"/>
              </a:rPr>
              <a:t>all four add to 100%</a:t>
            </a:r>
          </a:p>
        </p:txBody>
      </p:sp>
      <p:sp>
        <p:nvSpPr>
          <p:cNvPr id="15" name="TextBox 14"/>
          <p:cNvSpPr txBox="1"/>
          <p:nvPr/>
        </p:nvSpPr>
        <p:spPr>
          <a:xfrm>
            <a:off x="8805672" y="2514600"/>
            <a:ext cx="320040" cy="365760"/>
          </a:xfrm>
          <a:prstGeom prst="rect">
            <a:avLst/>
          </a:prstGeom>
          <a:noFill/>
        </p:spPr>
        <p:txBody>
          <a:bodyPr wrap="square" lIns="0" rIns="0" tIns="0" bIns="0" anchor="t">
            <a:spAutoFit/>
          </a:bodyPr>
          <a:lstStyle/>
          <a:p>
            <a:pPr algn="ctr">
              <a:lnSpc>
                <a:spcPct val="106000"/>
              </a:lnSpc>
              <a:spcAft>
                <a:spcPts val="400"/>
              </a:spcAft>
            </a:pPr>
            <a:r>
              <a:rPr sz="1700" b="1" i="0">
                <a:solidFill>
                  <a:srgbClr val="6B21A8"/>
                </a:solidFill>
                <a:latin typeface="Arial"/>
              </a:rPr>
              <a:t>→</a:t>
            </a:r>
          </a:p>
        </p:txBody>
      </p:sp>
      <p:sp>
        <p:nvSpPr>
          <p:cNvPr id="16" name="Rounded Rectangle 15"/>
          <p:cNvSpPr/>
          <p:nvPr/>
        </p:nvSpPr>
        <p:spPr>
          <a:xfrm>
            <a:off x="9084564" y="1993392"/>
            <a:ext cx="2542032" cy="1481328"/>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7444" y="2121408"/>
            <a:ext cx="2240280" cy="1280160"/>
          </a:xfrm>
          <a:prstGeom prst="rect">
            <a:avLst/>
          </a:prstGeom>
          <a:noFill/>
        </p:spPr>
        <p:txBody>
          <a:bodyPr wrap="square" lIns="0" rIns="0" tIns="0" bIns="0" anchor="t">
            <a:spAutoFit/>
          </a:bodyPr>
          <a:lstStyle/>
          <a:p>
            <a:pPr algn="l">
              <a:lnSpc>
                <a:spcPct val="106000"/>
              </a:lnSpc>
              <a:spcAft>
                <a:spcPts val="500"/>
              </a:spcAft>
            </a:pPr>
            <a:r>
              <a:rPr sz="1000" b="1" i="0" spc="70">
                <a:solidFill>
                  <a:srgbClr val="FFFFFF"/>
                </a:solidFill>
                <a:latin typeface="Arial"/>
              </a:rPr>
              <a:t>OUTPUT</a:t>
            </a:r>
          </a:p>
          <a:p>
            <a:pPr algn="l">
              <a:lnSpc>
                <a:spcPct val="108000"/>
              </a:lnSpc>
              <a:spcAft>
                <a:spcPts val="200"/>
              </a:spcAft>
            </a:pPr>
            <a:r>
              <a:rPr sz="930" b="0" i="0">
                <a:solidFill>
                  <a:srgbClr val="E8E4DC"/>
                </a:solidFill>
                <a:latin typeface="Arial"/>
              </a:rPr>
              <a:t>4 chances, adding</a:t>
            </a:r>
          </a:p>
          <a:p>
            <a:pPr algn="l">
              <a:lnSpc>
                <a:spcPct val="108000"/>
              </a:lnSpc>
              <a:spcAft>
                <a:spcPts val="200"/>
              </a:spcAft>
            </a:pPr>
            <a:r>
              <a:rPr sz="930" b="0" i="0">
                <a:solidFill>
                  <a:srgbClr val="E8E4DC"/>
                </a:solidFill>
                <a:latin typeface="Arial"/>
              </a:rPr>
              <a:t>to 100%</a:t>
            </a:r>
          </a:p>
          <a:p>
            <a:pPr algn="l">
              <a:lnSpc>
                <a:spcPct val="108000"/>
              </a:lnSpc>
              <a:spcAft>
                <a:spcPts val="200"/>
              </a:spcAft>
            </a:pPr>
            <a:r>
              <a:rPr sz="930" b="0" i="0">
                <a:solidFill>
                  <a:srgbClr val="E8E4DC"/>
                </a:solidFill>
                <a:latin typeface="Arial"/>
              </a:rPr>
              <a:t>e.g. High-Value 78%</a:t>
            </a:r>
          </a:p>
          <a:p>
            <a:pPr algn="l">
              <a:lnSpc>
                <a:spcPct val="108000"/>
              </a:lnSpc>
              <a:spcAft>
                <a:spcPts val="200"/>
              </a:spcAft>
            </a:pPr>
            <a:r>
              <a:rPr sz="930" b="0" i="0">
                <a:solidFill>
                  <a:srgbClr val="E8E4DC"/>
                </a:solidFill>
                <a:latin typeface="Arial"/>
              </a:rPr>
              <a:t>top one is the answer</a:t>
            </a:r>
          </a:p>
        </p:txBody>
      </p:sp>
      <p:sp>
        <p:nvSpPr>
          <p:cNvPr id="18" name="Rounded Rectangle 17"/>
          <p:cNvSpPr/>
          <p:nvPr/>
        </p:nvSpPr>
        <p:spPr>
          <a:xfrm>
            <a:off x="566928" y="3767328"/>
            <a:ext cx="5440680" cy="251460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3895344"/>
            <a:ext cx="50292" cy="2258568"/>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913632"/>
            <a:ext cx="5056632" cy="2240280"/>
          </a:xfrm>
          <a:prstGeom prst="rect">
            <a:avLst/>
          </a:prstGeom>
          <a:noFill/>
        </p:spPr>
        <p:txBody>
          <a:bodyPr wrap="square" lIns="0" rIns="0" tIns="0" bIns="0" anchor="t">
            <a:spAutoFit/>
          </a:bodyPr>
          <a:lstStyle/>
          <a:p>
            <a:pPr algn="l">
              <a:lnSpc>
                <a:spcPct val="106000"/>
              </a:lnSpc>
              <a:spcAft>
                <a:spcPts val="600"/>
              </a:spcAft>
            </a:pPr>
            <a:r>
              <a:rPr sz="1050" b="1" i="0" spc="90">
                <a:solidFill>
                  <a:srgbClr val="141414"/>
                </a:solidFill>
                <a:latin typeface="Arial"/>
              </a:rPr>
              <a:t>THE MAIN MODEL — A SCORECARD</a:t>
            </a:r>
          </a:p>
          <a:p>
            <a:pPr algn="l">
              <a:lnSpc>
                <a:spcPct val="112000"/>
              </a:lnSpc>
              <a:spcAft>
                <a:spcPts val="300"/>
              </a:spcAft>
            </a:pPr>
            <a:r>
              <a:rPr sz="980" b="0" i="0">
                <a:solidFill>
                  <a:srgbClr val="2A2722"/>
                </a:solidFill>
                <a:latin typeface="Arial"/>
              </a:rPr>
              <a:t>Think of a points card for each group. Every detail adds or subtracts points, and the group with the highest total wins.</a:t>
            </a:r>
          </a:p>
          <a:p>
            <a:pPr algn="l">
              <a:lnSpc>
                <a:spcPct val="112000"/>
              </a:lnSpc>
              <a:spcAft>
                <a:spcPts val="300"/>
              </a:spcAft>
            </a:pPr>
            <a:r>
              <a:rPr sz="980" b="0" i="0">
                <a:solidFill>
                  <a:srgbClr val="2A2722"/>
                </a:solidFill>
                <a:latin typeface="Arial"/>
              </a:rPr>
              <a:t>Example of what it learned: high income (+), big basket (+), heavy discount use (−) → High-Value points.</a:t>
            </a:r>
          </a:p>
          <a:p>
            <a:pPr algn="l">
              <a:lnSpc>
                <a:spcPct val="112000"/>
              </a:lnSpc>
              <a:spcAft>
                <a:spcPts val="300"/>
              </a:spcAft>
            </a:pPr>
            <a:r>
              <a:rPr sz="980" b="0" i="0">
                <a:solidFill>
                  <a:srgbClr val="2A2722"/>
                </a:solidFill>
                <a:latin typeface="Arial"/>
              </a:rPr>
              <a:t>Why we like it: fast (answers in ~42 ms), simple to trust, and we can open it up and read exactly why it decided.</a:t>
            </a:r>
          </a:p>
          <a:p>
            <a:pPr algn="l">
              <a:lnSpc>
                <a:spcPct val="112000"/>
              </a:lnSpc>
              <a:spcAft>
                <a:spcPts val="300"/>
              </a:spcAft>
            </a:pPr>
            <a:r>
              <a:rPr sz="980" b="0" i="0">
                <a:solidFill>
                  <a:srgbClr val="2A2722"/>
                </a:solidFill>
                <a:latin typeface="Arial"/>
              </a:rPr>
              <a:t>It practised on the 35k study set until its points were just right — not too strict, not too loose.</a:t>
            </a:r>
          </a:p>
        </p:txBody>
      </p:sp>
      <p:sp>
        <p:nvSpPr>
          <p:cNvPr id="21" name="Rounded Rectangle 20"/>
          <p:cNvSpPr/>
          <p:nvPr/>
        </p:nvSpPr>
        <p:spPr>
          <a:xfrm>
            <a:off x="6263640" y="3767328"/>
            <a:ext cx="5367528" cy="251460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45352" y="3895344"/>
            <a:ext cx="50292" cy="2258568"/>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3913632"/>
            <a:ext cx="4983480" cy="2240280"/>
          </a:xfrm>
          <a:prstGeom prst="rect">
            <a:avLst/>
          </a:prstGeom>
          <a:noFill/>
        </p:spPr>
        <p:txBody>
          <a:bodyPr wrap="square" lIns="0" rIns="0" tIns="0" bIns="0" anchor="t">
            <a:spAutoFit/>
          </a:bodyPr>
          <a:lstStyle/>
          <a:p>
            <a:pPr algn="l">
              <a:lnSpc>
                <a:spcPct val="106000"/>
              </a:lnSpc>
              <a:spcAft>
                <a:spcPts val="600"/>
              </a:spcAft>
            </a:pPr>
            <a:r>
              <a:rPr sz="1050" b="1" i="0" spc="90">
                <a:solidFill>
                  <a:srgbClr val="141414"/>
                </a:solidFill>
                <a:latin typeface="Arial"/>
              </a:rPr>
              <a:t>WHAT ELSE WE TRIED — AND WHAT HAPPENED</a:t>
            </a:r>
          </a:p>
          <a:p>
            <a:pPr algn="l">
              <a:lnSpc>
                <a:spcPct val="112000"/>
              </a:lnSpc>
              <a:spcAft>
                <a:spcPts val="300"/>
              </a:spcAft>
            </a:pPr>
            <a:r>
              <a:rPr sz="980" b="0" i="0">
                <a:solidFill>
                  <a:srgbClr val="2A2722"/>
                </a:solidFill>
                <a:latin typeface="Arial"/>
              </a:rPr>
              <a:t>•  Question tree (yes/no rules): 62% — too simple on its own</a:t>
            </a:r>
          </a:p>
          <a:p>
            <a:pPr algn="l">
              <a:lnSpc>
                <a:spcPct val="112000"/>
              </a:lnSpc>
              <a:spcAft>
                <a:spcPts val="300"/>
              </a:spcAft>
            </a:pPr>
            <a:r>
              <a:rPr sz="980" b="0" i="0">
                <a:solidFill>
                  <a:srgbClr val="2A2722"/>
                </a:solidFill>
                <a:latin typeface="Arial"/>
              </a:rPr>
              <a:t>•  Forest of 100 question trees voting together: 75% — stronger, but can't explain itself</a:t>
            </a:r>
          </a:p>
          <a:p>
            <a:pPr algn="l">
              <a:lnSpc>
                <a:spcPct val="112000"/>
              </a:lnSpc>
              <a:spcAft>
                <a:spcPts val="300"/>
              </a:spcAft>
            </a:pPr>
            <a:r>
              <a:rPr sz="980" b="0" i="0">
                <a:solidFill>
                  <a:srgbClr val="2A2722"/>
                </a:solidFill>
                <a:latin typeface="Arial"/>
              </a:rPr>
              <a:t>•  Let data self-group (clustering): found the same 4 groups by itself — proof the groups are real</a:t>
            </a:r>
          </a:p>
          <a:p>
            <a:pPr algn="l">
              <a:lnSpc>
                <a:spcPct val="112000"/>
              </a:lnSpc>
              <a:spcAft>
                <a:spcPts val="300"/>
              </a:spcAft>
            </a:pPr>
            <a:r>
              <a:rPr sz="980" b="0" i="0">
                <a:solidFill>
                  <a:srgbClr val="2A2722"/>
                </a:solidFill>
                <a:latin typeface="Arial"/>
              </a:rPr>
              <a:t>•  Oddball finder: ~5% of customers (2,500) behave strangely — flagged for the team</a:t>
            </a:r>
          </a:p>
          <a:p>
            <a:pPr algn="l">
              <a:lnSpc>
                <a:spcPct val="112000"/>
              </a:lnSpc>
              <a:spcAft>
                <a:spcPts val="300"/>
              </a:spcAft>
            </a:pPr>
            <a:r>
              <a:rPr sz="980" b="0" i="0">
                <a:solidFill>
                  <a:srgbClr val="2A2722"/>
                </a:solidFill>
                <a:latin typeface="Arial"/>
              </a:rPr>
              <a:t>Winner: the scorecard — nearly as strong, fully explainable.</a:t>
            </a:r>
          </a:p>
        </p:txBody>
      </p:sp>
      <p:sp>
        <p:nvSpPr>
          <p:cNvPr id="24" name="TextBox 23"/>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10/17</a:t>
            </a:r>
          </a:p>
        </p:txBody>
      </p:sp>
      <p:sp>
        <p:nvSpPr>
          <p:cNvPr id="25" name="TextBox 24"/>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09  •  THE REPORT CARD</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66 out of 100 — is that good?</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176479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874519"/>
            <a:ext cx="1673351"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66.4%</a:t>
            </a:r>
          </a:p>
          <a:p>
            <a:pPr algn="ctr">
              <a:lnSpc>
                <a:spcPct val="106000"/>
              </a:lnSpc>
              <a:spcAft>
                <a:spcPts val="0"/>
              </a:spcAft>
            </a:pPr>
            <a:r>
              <a:rPr sz="850" b="1" i="0" spc="80">
                <a:solidFill>
                  <a:srgbClr val="6E685C"/>
                </a:solidFill>
                <a:latin typeface="Arial"/>
              </a:rPr>
              <a:t>FINAL SCORE</a:t>
            </a:r>
          </a:p>
          <a:p>
            <a:pPr algn="ctr">
              <a:lnSpc>
                <a:spcPct val="106000"/>
              </a:lnSpc>
              <a:spcAft>
                <a:spcPts val="0"/>
              </a:spcAft>
            </a:pPr>
            <a:r>
              <a:rPr sz="750" b="0" i="0">
                <a:solidFill>
                  <a:srgbClr val="B5AEA0"/>
                </a:solidFill>
                <a:latin typeface="Arial"/>
              </a:rPr>
              <a:t>7,500 customers tested</a:t>
            </a:r>
          </a:p>
        </p:txBody>
      </p:sp>
      <p:sp>
        <p:nvSpPr>
          <p:cNvPr id="8" name="Rounded Rectangle 7"/>
          <p:cNvSpPr/>
          <p:nvPr/>
        </p:nvSpPr>
        <p:spPr>
          <a:xfrm>
            <a:off x="2432304" y="1783080"/>
            <a:ext cx="176479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8024" y="1874519"/>
            <a:ext cx="1673351"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0.87</a:t>
            </a:r>
          </a:p>
          <a:p>
            <a:pPr algn="ctr">
              <a:lnSpc>
                <a:spcPct val="106000"/>
              </a:lnSpc>
              <a:spcAft>
                <a:spcPts val="0"/>
              </a:spcAft>
            </a:pPr>
            <a:r>
              <a:rPr sz="850" b="1" i="0" spc="80">
                <a:solidFill>
                  <a:srgbClr val="6E685C"/>
                </a:solidFill>
                <a:latin typeface="Arial"/>
              </a:rPr>
              <a:t>MODEL SCORE</a:t>
            </a:r>
          </a:p>
          <a:p>
            <a:pPr algn="ctr">
              <a:lnSpc>
                <a:spcPct val="106000"/>
              </a:lnSpc>
              <a:spcAft>
                <a:spcPts val="0"/>
              </a:spcAft>
            </a:pPr>
            <a:r>
              <a:rPr sz="750" b="0" i="0">
                <a:solidFill>
                  <a:srgbClr val="B5AEA0"/>
                </a:solidFill>
                <a:latin typeface="Arial"/>
              </a:rPr>
              <a:t>out of 1.00 — strong</a:t>
            </a:r>
          </a:p>
        </p:txBody>
      </p:sp>
      <p:sp>
        <p:nvSpPr>
          <p:cNvPr id="10" name="Rounded Rectangle 9"/>
          <p:cNvSpPr/>
          <p:nvPr/>
        </p:nvSpPr>
        <p:spPr>
          <a:xfrm>
            <a:off x="4297680" y="1783080"/>
            <a:ext cx="176479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874519"/>
            <a:ext cx="1673351"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66.6%</a:t>
            </a:r>
          </a:p>
          <a:p>
            <a:pPr algn="ctr">
              <a:lnSpc>
                <a:spcPct val="106000"/>
              </a:lnSpc>
              <a:spcAft>
                <a:spcPts val="0"/>
              </a:spcAft>
            </a:pPr>
            <a:r>
              <a:rPr sz="850" b="1" i="0" spc="80">
                <a:solidFill>
                  <a:srgbClr val="6E685C"/>
                </a:solidFill>
                <a:latin typeface="Arial"/>
              </a:rPr>
              <a:t>STABLE</a:t>
            </a:r>
          </a:p>
          <a:p>
            <a:pPr algn="ctr">
              <a:lnSpc>
                <a:spcPct val="106000"/>
              </a:lnSpc>
              <a:spcAft>
                <a:spcPts val="0"/>
              </a:spcAft>
            </a:pPr>
            <a:r>
              <a:rPr sz="750" b="0" i="0">
                <a:solidFill>
                  <a:srgbClr val="B5AEA0"/>
                </a:solidFill>
                <a:latin typeface="Arial"/>
              </a:rPr>
              <a:t>same result, 5 rounds</a:t>
            </a:r>
          </a:p>
        </p:txBody>
      </p:sp>
      <p:sp>
        <p:nvSpPr>
          <p:cNvPr id="12" name="Rounded Rectangle 11"/>
          <p:cNvSpPr/>
          <p:nvPr/>
        </p:nvSpPr>
        <p:spPr>
          <a:xfrm>
            <a:off x="6163056" y="1783080"/>
            <a:ext cx="176479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08776" y="1874519"/>
            <a:ext cx="1673351"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50K</a:t>
            </a:r>
          </a:p>
          <a:p>
            <a:pPr algn="ctr">
              <a:lnSpc>
                <a:spcPct val="106000"/>
              </a:lnSpc>
              <a:spcAft>
                <a:spcPts val="0"/>
              </a:spcAft>
            </a:pPr>
            <a:r>
              <a:rPr sz="850" b="1" i="0" spc="80">
                <a:solidFill>
                  <a:srgbClr val="6E685C"/>
                </a:solidFill>
                <a:latin typeface="Arial"/>
              </a:rPr>
              <a:t>REAL PEOPLE</a:t>
            </a:r>
          </a:p>
          <a:p>
            <a:pPr algn="ctr">
              <a:lnSpc>
                <a:spcPct val="106000"/>
              </a:lnSpc>
              <a:spcAft>
                <a:spcPts val="0"/>
              </a:spcAft>
            </a:pPr>
            <a:r>
              <a:rPr sz="750" b="0" i="0">
                <a:solidFill>
                  <a:srgbClr val="B5AEA0"/>
                </a:solidFill>
                <a:latin typeface="Arial"/>
              </a:rPr>
              <a:t>not easy demo data</a:t>
            </a:r>
          </a:p>
        </p:txBody>
      </p:sp>
      <p:sp>
        <p:nvSpPr>
          <p:cNvPr id="14" name="Rounded Rectangle 13"/>
          <p:cNvSpPr/>
          <p:nvPr/>
        </p:nvSpPr>
        <p:spPr>
          <a:xfrm>
            <a:off x="8028431" y="1783080"/>
            <a:ext cx="176479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74152" y="1874519"/>
            <a:ext cx="1673351"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82%</a:t>
            </a:r>
          </a:p>
          <a:p>
            <a:pPr algn="ctr">
              <a:lnSpc>
                <a:spcPct val="106000"/>
              </a:lnSpc>
              <a:spcAft>
                <a:spcPts val="0"/>
              </a:spcAft>
            </a:pPr>
            <a:r>
              <a:rPr sz="850" b="1" i="0" spc="80">
                <a:solidFill>
                  <a:srgbClr val="6E685C"/>
                </a:solidFill>
                <a:latin typeface="Arial"/>
              </a:rPr>
              <a:t>OCCASIONAL CAUGHT</a:t>
            </a:r>
          </a:p>
          <a:p>
            <a:pPr algn="ctr">
              <a:lnSpc>
                <a:spcPct val="106000"/>
              </a:lnSpc>
              <a:spcAft>
                <a:spcPts val="0"/>
              </a:spcAft>
            </a:pPr>
            <a:r>
              <a:rPr sz="750" b="0" i="0">
                <a:solidFill>
                  <a:srgbClr val="B5AEA0"/>
                </a:solidFill>
                <a:latin typeface="Arial"/>
              </a:rPr>
              <a:t>easiest group</a:t>
            </a:r>
          </a:p>
        </p:txBody>
      </p:sp>
      <p:sp>
        <p:nvSpPr>
          <p:cNvPr id="16" name="Rounded Rectangle 15"/>
          <p:cNvSpPr/>
          <p:nvPr/>
        </p:nvSpPr>
        <p:spPr>
          <a:xfrm>
            <a:off x="9893807" y="1783080"/>
            <a:ext cx="1764792" cy="102412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39528" y="1874519"/>
            <a:ext cx="1673351" cy="859536"/>
          </a:xfrm>
          <a:prstGeom prst="rect">
            <a:avLst/>
          </a:prstGeom>
          <a:noFill/>
        </p:spPr>
        <p:txBody>
          <a:bodyPr wrap="square" lIns="0" rIns="0" tIns="0" bIns="0" anchor="t">
            <a:spAutoFit/>
          </a:bodyPr>
          <a:lstStyle/>
          <a:p>
            <a:pPr algn="ctr">
              <a:spcAft>
                <a:spcPts val="100"/>
              </a:spcAft>
            </a:pPr>
            <a:r>
              <a:rPr sz="2600" b="1">
                <a:solidFill>
                  <a:srgbClr val="141414"/>
                </a:solidFill>
                <a:latin typeface="Arial"/>
              </a:rPr>
              <a:t>43%</a:t>
            </a:r>
          </a:p>
          <a:p>
            <a:pPr algn="ctr">
              <a:lnSpc>
                <a:spcPct val="106000"/>
              </a:lnSpc>
              <a:spcAft>
                <a:spcPts val="0"/>
              </a:spcAft>
            </a:pPr>
            <a:r>
              <a:rPr sz="850" b="1" i="0" spc="80">
                <a:solidFill>
                  <a:srgbClr val="6E685C"/>
                </a:solidFill>
                <a:latin typeface="Arial"/>
              </a:rPr>
              <a:t>REGULAR CAUGHT</a:t>
            </a:r>
          </a:p>
          <a:p>
            <a:pPr algn="ctr">
              <a:lnSpc>
                <a:spcPct val="106000"/>
              </a:lnSpc>
              <a:spcAft>
                <a:spcPts val="0"/>
              </a:spcAft>
            </a:pPr>
            <a:r>
              <a:rPr sz="750" b="0" i="0">
                <a:solidFill>
                  <a:srgbClr val="B5AEA0"/>
                </a:solidFill>
                <a:latin typeface="Arial"/>
              </a:rPr>
              <a:t>hardest group</a:t>
            </a:r>
          </a:p>
        </p:txBody>
      </p:sp>
      <p:graphicFrame>
        <p:nvGraphicFramePr>
          <p:cNvPr id="18" name="Table 17"/>
          <p:cNvGraphicFramePr>
            <a:graphicFrameLocks noGrp="1"/>
          </p:cNvGraphicFramePr>
          <p:nvPr/>
        </p:nvGraphicFramePr>
        <p:xfrm>
          <a:off x="566928" y="3108960"/>
          <a:ext cx="6355080" cy="1792224"/>
        </p:xfrm>
        <a:graphic>
          <a:graphicData uri="http://schemas.openxmlformats.org/drawingml/2006/table">
            <a:tbl>
              <a:tblPr>
                <a:tableStyleId>{5C22544A-7EE6-4342-B048-85BDC9FD1C3A}</a:tableStyleId>
              </a:tblPr>
              <a:tblGrid>
                <a:gridCol w="1600200"/>
                <a:gridCol w="1051560"/>
                <a:gridCol w="1188720"/>
                <a:gridCol w="2514600"/>
              </a:tblGrid>
              <a:tr h="329184">
                <a:tc>
                  <a:txBody>
                    <a:bodyPr wrap="square"/>
                    <a:lstStyle/>
                    <a:p>
                      <a:pPr algn="l">
                        <a:lnSpc>
                          <a:spcPct val="100000"/>
                        </a:lnSpc>
                      </a:pPr>
                      <a:r>
                        <a:rPr sz="1000" b="1">
                          <a:solidFill>
                            <a:srgbClr val="FFFFFF"/>
                          </a:solidFill>
                          <a:latin typeface="Arial"/>
                        </a:rPr>
                        <a:t>Group</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Precise</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Caught</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In short</a:t>
                      </a:r>
                    </a:p>
                  </a:txBody>
                  <a:tcPr marL="82296" marR="54864" marT="18288" marB="18288" anchor="ctr">
                    <a:solidFill>
                      <a:srgbClr val="121212"/>
                    </a:solidFill>
                  </a:tcPr>
                </a:tc>
              </a:tr>
              <a:tr h="365760">
                <a:tc>
                  <a:txBody>
                    <a:bodyPr wrap="square"/>
                    <a:lstStyle/>
                    <a:p>
                      <a:pPr algn="l">
                        <a:lnSpc>
                          <a:spcPct val="100000"/>
                        </a:lnSpc>
                      </a:pPr>
                      <a:r>
                        <a:rPr sz="980" b="1">
                          <a:solidFill>
                            <a:srgbClr val="141414"/>
                          </a:solidFill>
                          <a:latin typeface="Arial"/>
                        </a:rPr>
                        <a:t>Occasional 44%</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72%</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82%</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easiest — spend little, visit rarely</a:t>
                      </a:r>
                    </a:p>
                  </a:txBody>
                  <a:tcPr marL="82296" marR="54864" marT="18288" marB="18288" anchor="ctr">
                    <a:solidFill>
                      <a:srgbClr val="FFFFFF"/>
                    </a:solidFill>
                  </a:tcPr>
                </a:tc>
              </a:tr>
              <a:tr h="365760">
                <a:tc>
                  <a:txBody>
                    <a:bodyPr wrap="square"/>
                    <a:lstStyle/>
                    <a:p>
                      <a:pPr algn="l">
                        <a:lnSpc>
                          <a:spcPct val="100000"/>
                        </a:lnSpc>
                      </a:pPr>
                      <a:r>
                        <a:rPr sz="980" b="1">
                          <a:solidFill>
                            <a:srgbClr val="141414"/>
                          </a:solidFill>
                          <a:latin typeface="Arial"/>
                        </a:rPr>
                        <a:t>Regular 27%</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55%</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43%</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hardest — sits between two groups</a:t>
                      </a:r>
                    </a:p>
                  </a:txBody>
                  <a:tcPr marL="82296" marR="54864" marT="18288" marB="18288" anchor="ctr">
                    <a:solidFill>
                      <a:srgbClr val="F4F0E8"/>
                    </a:solidFill>
                  </a:tcPr>
                </a:tc>
              </a:tr>
              <a:tr h="365760">
                <a:tc>
                  <a:txBody>
                    <a:bodyPr wrap="square"/>
                    <a:lstStyle/>
                    <a:p>
                      <a:pPr algn="l">
                        <a:lnSpc>
                          <a:spcPct val="100000"/>
                        </a:lnSpc>
                      </a:pPr>
                      <a:r>
                        <a:rPr sz="980" b="1">
                          <a:solidFill>
                            <a:srgbClr val="141414"/>
                          </a:solidFill>
                          <a:latin typeface="Arial"/>
                        </a:rPr>
                        <a:t>Loyal 18%</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60%</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65%</a:t>
                      </a:r>
                    </a:p>
                  </a:txBody>
                  <a:tcPr marL="82296" marR="54864" marT="18288" marB="18288" anchor="ctr">
                    <a:solidFill>
                      <a:srgbClr val="FFFFFF"/>
                    </a:solidFill>
                  </a:tcPr>
                </a:tc>
                <a:tc>
                  <a:txBody>
                    <a:bodyPr wrap="square"/>
                    <a:lstStyle/>
                    <a:p>
                      <a:pPr algn="l">
                        <a:lnSpc>
                          <a:spcPct val="100000"/>
                        </a:lnSpc>
                      </a:pPr>
                      <a:r>
                        <a:rPr sz="980" b="0">
                          <a:solidFill>
                            <a:srgbClr val="2A2722"/>
                          </a:solidFill>
                          <a:latin typeface="Arial"/>
                        </a:rPr>
                        <a:t>decent — long membership stands out</a:t>
                      </a:r>
                    </a:p>
                  </a:txBody>
                  <a:tcPr marL="82296" marR="54864" marT="18288" marB="18288" anchor="ctr">
                    <a:solidFill>
                      <a:srgbClr val="FFFFFF"/>
                    </a:solidFill>
                  </a:tcPr>
                </a:tc>
              </a:tr>
              <a:tr h="365760">
                <a:tc>
                  <a:txBody>
                    <a:bodyPr wrap="square"/>
                    <a:lstStyle/>
                    <a:p>
                      <a:pPr algn="l">
                        <a:lnSpc>
                          <a:spcPct val="100000"/>
                        </a:lnSpc>
                      </a:pPr>
                      <a:r>
                        <a:rPr sz="980" b="1">
                          <a:solidFill>
                            <a:srgbClr val="141414"/>
                          </a:solidFill>
                          <a:latin typeface="Arial"/>
                        </a:rPr>
                        <a:t>High-Value 11%</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70%</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61%</a:t>
                      </a:r>
                    </a:p>
                  </a:txBody>
                  <a:tcPr marL="82296" marR="54864" marT="18288" marB="18288" anchor="ctr">
                    <a:solidFill>
                      <a:srgbClr val="F4F0E8"/>
                    </a:solidFill>
                  </a:tcPr>
                </a:tc>
                <a:tc>
                  <a:txBody>
                    <a:bodyPr wrap="square"/>
                    <a:lstStyle/>
                    <a:p>
                      <a:pPr algn="l">
                        <a:lnSpc>
                          <a:spcPct val="100000"/>
                        </a:lnSpc>
                      </a:pPr>
                      <a:r>
                        <a:rPr sz="980" b="0">
                          <a:solidFill>
                            <a:srgbClr val="2A2722"/>
                          </a:solidFill>
                          <a:latin typeface="Arial"/>
                        </a:rPr>
                        <a:t>careful — never miss a real VIP</a:t>
                      </a:r>
                    </a:p>
                  </a:txBody>
                  <a:tcPr marL="82296" marR="54864" marT="18288" marB="18288" anchor="ctr">
                    <a:solidFill>
                      <a:srgbClr val="F4F0E8"/>
                    </a:solidFill>
                  </a:tcPr>
                </a:tc>
              </a:tr>
            </a:tbl>
          </a:graphicData>
        </a:graphic>
      </p:graphicFrame>
      <p:sp>
        <p:nvSpPr>
          <p:cNvPr id="19" name="Rounded Rectangle 18"/>
          <p:cNvSpPr/>
          <p:nvPr/>
        </p:nvSpPr>
        <p:spPr>
          <a:xfrm>
            <a:off x="566928" y="4956048"/>
            <a:ext cx="6355080" cy="132588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5084064"/>
            <a:ext cx="50292" cy="1069848"/>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102352"/>
            <a:ext cx="5971032" cy="1051560"/>
          </a:xfrm>
          <a:prstGeom prst="rect">
            <a:avLst/>
          </a:prstGeom>
          <a:noFill/>
        </p:spPr>
        <p:txBody>
          <a:bodyPr wrap="square" lIns="0" rIns="0" tIns="0" bIns="0" anchor="t">
            <a:spAutoFit/>
          </a:bodyPr>
          <a:lstStyle/>
          <a:p>
            <a:pPr algn="l">
              <a:lnSpc>
                <a:spcPct val="106000"/>
              </a:lnSpc>
              <a:spcAft>
                <a:spcPts val="300"/>
              </a:spcAft>
            </a:pPr>
            <a:r>
              <a:rPr sz="1050" b="1" i="0" spc="90">
                <a:solidFill>
                  <a:srgbClr val="141414"/>
                </a:solidFill>
                <a:latin typeface="Arial"/>
              </a:rPr>
              <a:t>SO… IS 66% GOOD?</a:t>
            </a:r>
          </a:p>
          <a:p>
            <a:pPr algn="l">
              <a:lnSpc>
                <a:spcPct val="112000"/>
              </a:lnSpc>
              <a:spcAft>
                <a:spcPts val="0"/>
              </a:spcAft>
            </a:pPr>
            <a:r>
              <a:rPr sz="980" b="0" i="0">
                <a:solidFill>
                  <a:srgbClr val="2A2722"/>
                </a:solidFill>
                <a:latin typeface="Arial"/>
              </a:rPr>
              <a:t>Blind guessing: 25%. Always answer “Occasional”: 44%. We beat both at 66%. Why not the old demo's 89%? That data was fake-simple. Real shoppers overlap — a Regular and a Loyal can spend the same. On real people, 66% with honest proof is a solid result.</a:t>
            </a:r>
          </a:p>
        </p:txBody>
      </p:sp>
      <p:sp>
        <p:nvSpPr>
          <p:cNvPr id="22" name="Rounded Rectangle 21"/>
          <p:cNvSpPr/>
          <p:nvPr/>
        </p:nvSpPr>
        <p:spPr>
          <a:xfrm>
            <a:off x="7150608" y="3108960"/>
            <a:ext cx="4480560" cy="3172968"/>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95744" y="3246120"/>
            <a:ext cx="50292" cy="2880360"/>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3273552"/>
            <a:ext cx="4069080" cy="2834640"/>
          </a:xfrm>
          <a:prstGeom prst="rect">
            <a:avLst/>
          </a:prstGeom>
          <a:noFill/>
        </p:spPr>
        <p:txBody>
          <a:bodyPr wrap="square" lIns="0" rIns="0" tIns="0" bIns="0" anchor="t">
            <a:spAutoFit/>
          </a:bodyPr>
          <a:lstStyle/>
          <a:p>
            <a:pPr algn="l">
              <a:lnSpc>
                <a:spcPct val="106000"/>
              </a:lnSpc>
              <a:spcAft>
                <a:spcPts val="700"/>
              </a:spcAft>
            </a:pPr>
            <a:r>
              <a:rPr sz="1050" b="1" i="0" spc="90">
                <a:solidFill>
                  <a:srgbClr val="FFFFFF"/>
                </a:solidFill>
                <a:latin typeface="Arial"/>
              </a:rPr>
              <a:t>HOW WE KNOW IT'S NOT LUCK</a:t>
            </a:r>
          </a:p>
          <a:p>
            <a:pPr algn="l">
              <a:lnSpc>
                <a:spcPct val="115000"/>
              </a:lnSpc>
              <a:spcAft>
                <a:spcPts val="500"/>
              </a:spcAft>
            </a:pPr>
            <a:r>
              <a:rPr sz="969" b="0" i="0">
                <a:solidFill>
                  <a:srgbClr val="E8E4DC"/>
                </a:solidFill>
                <a:latin typeface="Arial"/>
              </a:rPr>
              <a:t>•  Re-tested 5 different ways: 66.6% every time (±0.3) — stable, not a lucky round</a:t>
            </a:r>
          </a:p>
          <a:p>
            <a:pPr algn="l">
              <a:lnSpc>
                <a:spcPct val="115000"/>
              </a:lnSpc>
              <a:spcAft>
                <a:spcPts val="500"/>
              </a:spcAft>
            </a:pPr>
            <a:r>
              <a:rPr sz="969" b="0" i="0">
                <a:solidFill>
                  <a:srgbClr val="E8E4DC"/>
                </a:solidFill>
                <a:latin typeface="Arial"/>
              </a:rPr>
              <a:t>•  Study 66.7% vs practice 66.0% — tiny gap, no memorising</a:t>
            </a:r>
          </a:p>
          <a:p>
            <a:pPr algn="l">
              <a:lnSpc>
                <a:spcPct val="115000"/>
              </a:lnSpc>
              <a:spcAft>
                <a:spcPts val="500"/>
              </a:spcAft>
            </a:pPr>
            <a:r>
              <a:rPr sz="969" b="0" i="0">
                <a:solidFill>
                  <a:srgbClr val="E8E4DC"/>
                </a:solidFill>
                <a:latin typeface="Arial"/>
              </a:rPr>
              <a:t>•  Score 0.87 out of 1.00: ranks customers very well</a:t>
            </a:r>
          </a:p>
          <a:p>
            <a:pPr algn="l">
              <a:lnSpc>
                <a:spcPct val="115000"/>
              </a:lnSpc>
              <a:spcAft>
                <a:spcPts val="500"/>
              </a:spcAft>
            </a:pPr>
            <a:r>
              <a:rPr sz="969" b="0" i="0">
                <a:solidFill>
                  <a:srgbClr val="E8E4DC"/>
                </a:solidFill>
                <a:latin typeface="Arial"/>
              </a:rPr>
              <a:t>•  Honest confidence: when it says 70% sure, it's right ~70% of the time</a:t>
            </a:r>
          </a:p>
          <a:p>
            <a:pPr algn="l">
              <a:lnSpc>
                <a:spcPct val="115000"/>
              </a:lnSpc>
              <a:spcAft>
                <a:spcPts val="0"/>
              </a:spcAft>
            </a:pPr>
            <a:r>
              <a:rPr sz="969" b="0" i="0">
                <a:solidFill>
                  <a:srgbClr val="E8E4DC"/>
                </a:solidFill>
                <a:latin typeface="Arial"/>
              </a:rPr>
              <a:t>•  It almost never calls a VIP “Occasional” — the expensive mistake is rare</a:t>
            </a:r>
          </a:p>
        </p:txBody>
      </p:sp>
      <p:sp>
        <p:nvSpPr>
          <p:cNvPr id="25" name="TextBox 24"/>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11/17</a:t>
            </a:r>
          </a:p>
        </p:txBody>
      </p:sp>
      <p:sp>
        <p:nvSpPr>
          <p:cNvPr id="26" name="TextBox 25"/>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10  •  SAVING &amp; PACKING</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Packing the model for the road</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783080"/>
          <a:ext cx="6355080" cy="2523744"/>
        </p:xfrm>
        <a:graphic>
          <a:graphicData uri="http://schemas.openxmlformats.org/drawingml/2006/table">
            <a:tbl>
              <a:tblPr>
                <a:tableStyleId>{5C22544A-7EE6-4342-B048-85BDC9FD1C3A}</a:tableStyleId>
              </a:tblPr>
              <a:tblGrid>
                <a:gridCol w="1691640"/>
                <a:gridCol w="777240"/>
                <a:gridCol w="3886200"/>
              </a:tblGrid>
              <a:tr h="329184">
                <a:tc>
                  <a:txBody>
                    <a:bodyPr wrap="square"/>
                    <a:lstStyle/>
                    <a:p>
                      <a:pPr algn="l">
                        <a:lnSpc>
                          <a:spcPct val="100000"/>
                        </a:lnSpc>
                      </a:pPr>
                      <a:r>
                        <a:rPr sz="1050" b="1">
                          <a:solidFill>
                            <a:srgbClr val="FFFFFF"/>
                          </a:solidFill>
                          <a:latin typeface="Arial"/>
                        </a:rPr>
                        <a:t>File</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Size</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What's inside</a:t>
                      </a:r>
                    </a:p>
                  </a:txBody>
                  <a:tcPr marL="82296" marR="54864" marT="18288" marB="18288" anchor="ctr">
                    <a:solidFill>
                      <a:srgbClr val="121212"/>
                    </a:solidFill>
                  </a:tcPr>
                </a:tc>
              </a:tr>
              <a:tr h="365760">
                <a:tc>
                  <a:txBody>
                    <a:bodyPr wrap="square"/>
                    <a:lstStyle/>
                    <a:p>
                      <a:pPr algn="l">
                        <a:lnSpc>
                          <a:spcPct val="100000"/>
                        </a:lnSpc>
                      </a:pPr>
                      <a:r>
                        <a:rPr sz="960" b="1">
                          <a:solidFill>
                            <a:srgbClr val="141414"/>
                          </a:solidFill>
                          <a:latin typeface="Arial"/>
                        </a:rPr>
                        <a:t>customers.csv</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7.4 MB</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the 50,000 real customers</a:t>
                      </a:r>
                    </a:p>
                  </a:txBody>
                  <a:tcPr marL="82296" marR="54864" marT="18288" marB="18288" anchor="ctr">
                    <a:solidFill>
                      <a:srgbClr val="FFFFFF"/>
                    </a:solidFill>
                  </a:tcPr>
                </a:tc>
              </a:tr>
              <a:tr h="365760">
                <a:tc>
                  <a:txBody>
                    <a:bodyPr wrap="square"/>
                    <a:lstStyle/>
                    <a:p>
                      <a:pPr algn="l">
                        <a:lnSpc>
                          <a:spcPct val="100000"/>
                        </a:lnSpc>
                      </a:pPr>
                      <a:r>
                        <a:rPr sz="960" b="1">
                          <a:solidFill>
                            <a:srgbClr val="141414"/>
                          </a:solidFill>
                          <a:latin typeface="Arial"/>
                        </a:rPr>
                        <a:t>cleaning rules</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4.4 KB</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how gaps get filled &amp; numbers rescaled (learned from study set only)</a:t>
                      </a:r>
                    </a:p>
                  </a:txBody>
                  <a:tcPr marL="82296" marR="54864" marT="18288" marB="18288" anchor="ctr">
                    <a:solidFill>
                      <a:srgbClr val="F4F0E8"/>
                    </a:solidFill>
                  </a:tcPr>
                </a:tc>
              </a:tr>
              <a:tr h="365760">
                <a:tc>
                  <a:txBody>
                    <a:bodyPr wrap="square"/>
                    <a:lstStyle/>
                    <a:p>
                      <a:pPr algn="l">
                        <a:lnSpc>
                          <a:spcPct val="100000"/>
                        </a:lnSpc>
                      </a:pPr>
                      <a:r>
                        <a:rPr sz="960" b="1">
                          <a:solidFill>
                            <a:srgbClr val="141414"/>
                          </a:solidFill>
                          <a:latin typeface="Arial"/>
                        </a:rPr>
                        <a:t>trained model</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1.6 KB</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the finished scorecard</a:t>
                      </a:r>
                    </a:p>
                  </a:txBody>
                  <a:tcPr marL="82296" marR="54864" marT="18288" marB="18288" anchor="ctr">
                    <a:solidFill>
                      <a:srgbClr val="FFFFFF"/>
                    </a:solidFill>
                  </a:tcPr>
                </a:tc>
              </a:tr>
              <a:tr h="365760">
                <a:tc>
                  <a:txBody>
                    <a:bodyPr wrap="square"/>
                    <a:lstStyle/>
                    <a:p>
                      <a:pPr algn="l">
                        <a:lnSpc>
                          <a:spcPct val="100000"/>
                        </a:lnSpc>
                      </a:pPr>
                      <a:r>
                        <a:rPr sz="960" b="1">
                          <a:solidFill>
                            <a:srgbClr val="141414"/>
                          </a:solidFill>
                          <a:latin typeface="Arial"/>
                        </a:rPr>
                        <a:t>feature list</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1.2 KB</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which details we use + 6 safety checks</a:t>
                      </a:r>
                    </a:p>
                  </a:txBody>
                  <a:tcPr marL="82296" marR="54864" marT="18288" marB="18288" anchor="ctr">
                    <a:solidFill>
                      <a:srgbClr val="F4F0E8"/>
                    </a:solidFill>
                  </a:tcPr>
                </a:tc>
              </a:tr>
              <a:tr h="365760">
                <a:tc>
                  <a:txBody>
                    <a:bodyPr wrap="square"/>
                    <a:lstStyle/>
                    <a:p>
                      <a:pPr algn="l">
                        <a:lnSpc>
                          <a:spcPct val="100000"/>
                        </a:lnSpc>
                      </a:pPr>
                      <a:r>
                        <a:rPr sz="960" b="1">
                          <a:solidFill>
                            <a:srgbClr val="141414"/>
                          </a:solidFill>
                          <a:latin typeface="Arial"/>
                        </a:rPr>
                        <a:t>report card</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8 KB</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accuracy, scores, the full test results</a:t>
                      </a:r>
                    </a:p>
                  </a:txBody>
                  <a:tcPr marL="82296" marR="54864" marT="18288" marB="18288" anchor="ctr">
                    <a:solidFill>
                      <a:srgbClr val="FFFFFF"/>
                    </a:solidFill>
                  </a:tcPr>
                </a:tc>
              </a:tr>
              <a:tr h="365760">
                <a:tc>
                  <a:txBody>
                    <a:bodyPr wrap="square"/>
                    <a:lstStyle/>
                    <a:p>
                      <a:pPr algn="l">
                        <a:lnSpc>
                          <a:spcPct val="100000"/>
                        </a:lnSpc>
                      </a:pPr>
                      <a:r>
                        <a:rPr sz="960" b="1">
                          <a:solidFill>
                            <a:srgbClr val="141414"/>
                          </a:solidFill>
                          <a:latin typeface="Arial"/>
                        </a:rPr>
                        <a:t>cluster study</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194 KB</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the groups the data found by itself</a:t>
                      </a:r>
                    </a:p>
                  </a:txBody>
                  <a:tcPr marL="82296" marR="54864" marT="18288" marB="18288" anchor="ctr">
                    <a:solidFill>
                      <a:srgbClr val="F4F0E8"/>
                    </a:solidFill>
                  </a:tcPr>
                </a:tc>
              </a:tr>
            </a:tbl>
          </a:graphicData>
        </a:graphic>
      </p:graphicFrame>
      <p:sp>
        <p:nvSpPr>
          <p:cNvPr id="7" name="Rounded Rectangle 6"/>
          <p:cNvSpPr/>
          <p:nvPr/>
        </p:nvSpPr>
        <p:spPr>
          <a:xfrm>
            <a:off x="566928" y="4434840"/>
            <a:ext cx="6355080" cy="184708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4562855"/>
            <a:ext cx="50292" cy="1591056"/>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581144"/>
            <a:ext cx="5971032" cy="1572768"/>
          </a:xfrm>
          <a:prstGeom prst="rect">
            <a:avLst/>
          </a:prstGeom>
          <a:noFill/>
        </p:spPr>
        <p:txBody>
          <a:bodyPr wrap="square" lIns="0" rIns="0" tIns="0" bIns="0" anchor="t">
            <a:spAutoFit/>
          </a:bodyPr>
          <a:lstStyle/>
          <a:p>
            <a:pPr algn="l">
              <a:lnSpc>
                <a:spcPct val="106000"/>
              </a:lnSpc>
              <a:spcAft>
                <a:spcPts val="700"/>
              </a:spcAft>
            </a:pPr>
            <a:r>
              <a:rPr sz="1050" b="1" i="0" spc="90">
                <a:solidFill>
                  <a:srgbClr val="141414"/>
                </a:solidFill>
                <a:latin typeface="Arial"/>
              </a:rPr>
              <a:t>WHY SAVE THE PIECES SEPARATELY?</a:t>
            </a:r>
          </a:p>
          <a:p>
            <a:pPr algn="l">
              <a:lnSpc>
                <a:spcPct val="112000"/>
              </a:lnSpc>
              <a:spcAft>
                <a:spcPts val="400"/>
              </a:spcAft>
            </a:pPr>
            <a:r>
              <a:rPr sz="990" b="0" i="0">
                <a:solidFill>
                  <a:srgbClr val="2A2722"/>
                </a:solidFill>
                <a:latin typeface="Arial"/>
              </a:rPr>
              <a:t>The cleaning rules and the trained model are saved apart. The website loads both at start-up, so every new customer is cleaned exactly the way training cleaned them — same fills, same scale, same order.</a:t>
            </a:r>
          </a:p>
          <a:p>
            <a:pPr algn="l">
              <a:lnSpc>
                <a:spcPct val="112000"/>
              </a:lnSpc>
              <a:spcAft>
                <a:spcPts val="400"/>
              </a:spcAft>
            </a:pPr>
            <a:r>
              <a:rPr sz="990" b="0" i="0">
                <a:solidFill>
                  <a:srgbClr val="2A2722"/>
                </a:solidFill>
                <a:latin typeface="Arial"/>
              </a:rPr>
              <a:t>If those two ever disagree, predictions quietly go wrong. Keeping them paired is our main safety check.</a:t>
            </a:r>
          </a:p>
        </p:txBody>
      </p:sp>
      <p:sp>
        <p:nvSpPr>
          <p:cNvPr id="10" name="Rounded Rectangle 9"/>
          <p:cNvSpPr/>
          <p:nvPr/>
        </p:nvSpPr>
        <p:spPr>
          <a:xfrm>
            <a:off x="7150608" y="1783080"/>
            <a:ext cx="4480560" cy="214884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0" y="1911095"/>
            <a:ext cx="50292" cy="1892808"/>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70064" y="1929384"/>
            <a:ext cx="4096512" cy="1874520"/>
          </a:xfrm>
          <a:prstGeom prst="rect">
            <a:avLst/>
          </a:prstGeom>
          <a:noFill/>
        </p:spPr>
        <p:txBody>
          <a:bodyPr wrap="square" lIns="0" rIns="0" tIns="0" bIns="0" anchor="t">
            <a:spAutoFit/>
          </a:bodyPr>
          <a:lstStyle/>
          <a:p>
            <a:pPr algn="l">
              <a:lnSpc>
                <a:spcPct val="106000"/>
              </a:lnSpc>
              <a:spcAft>
                <a:spcPts val="600"/>
              </a:spcAft>
            </a:pPr>
            <a:r>
              <a:rPr sz="1050" b="1" i="0" spc="90">
                <a:solidFill>
                  <a:srgbClr val="141414"/>
                </a:solidFill>
                <a:latin typeface="Arial"/>
              </a:rPr>
              <a:t>READY FOR THE ROAD</a:t>
            </a:r>
          </a:p>
          <a:p>
            <a:pPr algn="l">
              <a:lnSpc>
                <a:spcPct val="112000"/>
              </a:lnSpc>
              <a:spcAft>
                <a:spcPts val="300"/>
              </a:spcAft>
            </a:pPr>
            <a:r>
              <a:rPr sz="990" b="0" i="0">
                <a:solidFill>
                  <a:srgbClr val="2A2722"/>
                </a:solidFill>
                <a:latin typeface="Arial"/>
              </a:rPr>
              <a:t>6 files, 7.6 MB total — loads in seconds.</a:t>
            </a:r>
          </a:p>
          <a:p>
            <a:pPr algn="l">
              <a:lnSpc>
                <a:spcPct val="112000"/>
              </a:lnSpc>
              <a:spcAft>
                <a:spcPts val="300"/>
              </a:spcAft>
            </a:pPr>
            <a:r>
              <a:rPr sz="990" b="0" i="0">
                <a:solidFill>
                  <a:srgbClr val="2A2722"/>
                </a:solidFill>
                <a:latin typeface="Arial"/>
              </a:rPr>
              <a:t>Everything is labelled v3.0, so we always know which data and which model produced which result.</a:t>
            </a:r>
          </a:p>
          <a:p>
            <a:pPr algn="l">
              <a:lnSpc>
                <a:spcPct val="112000"/>
              </a:lnSpc>
              <a:spcAft>
                <a:spcPts val="300"/>
              </a:spcAft>
            </a:pPr>
            <a:r>
              <a:rPr sz="990" b="0" i="0">
                <a:solidFill>
                  <a:srgbClr val="2A2722"/>
                </a:solidFill>
                <a:latin typeface="Arial"/>
              </a:rPr>
              <a:t>Rebuild from scratch and you get identical files — nothing is left to chance.</a:t>
            </a:r>
          </a:p>
        </p:txBody>
      </p:sp>
      <p:sp>
        <p:nvSpPr>
          <p:cNvPr id="13" name="Rounded Rectangle 12"/>
          <p:cNvSpPr/>
          <p:nvPr/>
        </p:nvSpPr>
        <p:spPr>
          <a:xfrm>
            <a:off x="7150608" y="4160520"/>
            <a:ext cx="4480560" cy="2121408"/>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95744" y="4297680"/>
            <a:ext cx="50292" cy="1828800"/>
          </a:xfrm>
          <a:prstGeom prst="roundRect">
            <a:avLst>
              <a:gd name="adj" fmla="val 50000"/>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4334256"/>
            <a:ext cx="4069080" cy="1828800"/>
          </a:xfrm>
          <a:prstGeom prst="rect">
            <a:avLst/>
          </a:prstGeom>
          <a:noFill/>
        </p:spPr>
        <p:txBody>
          <a:bodyPr wrap="square" lIns="0" rIns="0" tIns="0" bIns="0" anchor="t">
            <a:spAutoFit/>
          </a:bodyPr>
          <a:lstStyle/>
          <a:p>
            <a:pPr algn="l">
              <a:lnSpc>
                <a:spcPct val="106000"/>
              </a:lnSpc>
              <a:spcAft>
                <a:spcPts val="700"/>
              </a:spcAft>
            </a:pPr>
            <a:r>
              <a:rPr sz="1050" b="1" i="0" spc="90">
                <a:solidFill>
                  <a:srgbClr val="FFFFFF"/>
                </a:solidFill>
                <a:latin typeface="Arial"/>
              </a:rPr>
              <a:t>AFTER LAUNCH — KEEP WATCHING</a:t>
            </a:r>
          </a:p>
          <a:p>
            <a:pPr algn="l">
              <a:lnSpc>
                <a:spcPct val="122000"/>
              </a:lnSpc>
              <a:spcAft>
                <a:spcPts val="0"/>
              </a:spcAft>
            </a:pPr>
            <a:r>
              <a:rPr sz="990" b="0" i="0">
                <a:solidFill>
                  <a:srgbClr val="E8E4DC"/>
                </a:solidFill>
                <a:latin typeface="Arial"/>
              </a:rPr>
              <a:t>The website remembers the last 500 predictions. If tomorrow's customers start looking very different from the training crowd, it raises a flag — the signal that it's time to re-teach the model on fresh data.</a:t>
            </a:r>
          </a:p>
        </p:txBody>
      </p:sp>
      <p:sp>
        <p:nvSpPr>
          <p:cNvPr id="16" name="TextBox 15"/>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12/17</a:t>
            </a:r>
          </a:p>
        </p:txBody>
      </p:sp>
      <p:sp>
        <p:nvSpPr>
          <p:cNvPr id="17" name="TextBox 16"/>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STEP 11  •  THE WEBSITE</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From notebook to a working tool</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755648"/>
            <a:ext cx="5852160" cy="274320"/>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WHAT THE TOOL CAN DO — 7 PAGES</a:t>
            </a:r>
          </a:p>
        </p:txBody>
      </p:sp>
      <p:sp>
        <p:nvSpPr>
          <p:cNvPr id="7" name="Rectangle 6"/>
          <p:cNvSpPr/>
          <p:nvPr/>
        </p:nvSpPr>
        <p:spPr>
          <a:xfrm>
            <a:off x="585216" y="2189988"/>
            <a:ext cx="91440" cy="914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093976"/>
            <a:ext cx="5577840" cy="292608"/>
          </a:xfrm>
          <a:prstGeom prst="rect">
            <a:avLst/>
          </a:prstGeom>
          <a:noFill/>
        </p:spPr>
        <p:txBody>
          <a:bodyPr wrap="square" lIns="0" rIns="0" tIns="0" bIns="0" anchor="t">
            <a:spAutoFit/>
          </a:bodyPr>
          <a:lstStyle/>
          <a:p>
            <a:pPr>
              <a:spcAft>
                <a:spcPts val="0"/>
              </a:spcAft>
            </a:pPr>
            <a:r>
              <a:rPr sz="1200" b="1">
                <a:solidFill>
                  <a:srgbClr val="141414"/>
                </a:solidFill>
                <a:latin typeface="Arial"/>
              </a:rPr>
              <a:t>Home page   </a:t>
            </a:r>
            <a:r>
              <a:rPr sz="980">
                <a:solidFill>
                  <a:srgbClr val="8A8478"/>
                </a:solidFill>
                <a:latin typeface="Arial"/>
              </a:rPr>
              <a:t>the workspace — opens in any browser at localhost:5000</a:t>
            </a:r>
          </a:p>
        </p:txBody>
      </p:sp>
      <p:sp>
        <p:nvSpPr>
          <p:cNvPr id="9" name="Rectangle 8"/>
          <p:cNvSpPr/>
          <p:nvPr/>
        </p:nvSpPr>
        <p:spPr>
          <a:xfrm>
            <a:off x="585216" y="2784348"/>
            <a:ext cx="91440" cy="914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688336"/>
            <a:ext cx="5577840" cy="292608"/>
          </a:xfrm>
          <a:prstGeom prst="rect">
            <a:avLst/>
          </a:prstGeom>
          <a:noFill/>
        </p:spPr>
        <p:txBody>
          <a:bodyPr wrap="square" lIns="0" rIns="0" tIns="0" bIns="0" anchor="t">
            <a:spAutoFit/>
          </a:bodyPr>
          <a:lstStyle/>
          <a:p>
            <a:pPr>
              <a:spcAft>
                <a:spcPts val="0"/>
              </a:spcAft>
            </a:pPr>
            <a:r>
              <a:rPr sz="1200" b="1">
                <a:solidFill>
                  <a:srgbClr val="141414"/>
                </a:solidFill>
                <a:latin typeface="Arial"/>
              </a:rPr>
              <a:t>Customers   </a:t>
            </a:r>
            <a:r>
              <a:rPr sz="980">
                <a:solidFill>
                  <a:srgbClr val="8A8478"/>
                </a:solidFill>
                <a:latin typeface="Arial"/>
              </a:rPr>
              <a:t>browse 120 real customers, filter by the 4 groups, click any row</a:t>
            </a:r>
          </a:p>
        </p:txBody>
      </p:sp>
      <p:sp>
        <p:nvSpPr>
          <p:cNvPr id="11" name="Rectangle 10"/>
          <p:cNvSpPr/>
          <p:nvPr/>
        </p:nvSpPr>
        <p:spPr>
          <a:xfrm>
            <a:off x="585216" y="3378708"/>
            <a:ext cx="91440" cy="914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282696"/>
            <a:ext cx="5577840" cy="292608"/>
          </a:xfrm>
          <a:prstGeom prst="rect">
            <a:avLst/>
          </a:prstGeom>
          <a:noFill/>
        </p:spPr>
        <p:txBody>
          <a:bodyPr wrap="square" lIns="0" rIns="0" tIns="0" bIns="0" anchor="t">
            <a:spAutoFit/>
          </a:bodyPr>
          <a:lstStyle/>
          <a:p>
            <a:pPr>
              <a:spcAft>
                <a:spcPts val="0"/>
              </a:spcAft>
            </a:pPr>
            <a:r>
              <a:rPr sz="1200" b="1">
                <a:solidFill>
                  <a:srgbClr val="141414"/>
                </a:solidFill>
                <a:latin typeface="Arial"/>
              </a:rPr>
              <a:t>Predict   </a:t>
            </a:r>
            <a:r>
              <a:rPr sz="980">
                <a:solidFill>
                  <a:srgbClr val="8A8478"/>
                </a:solidFill>
                <a:latin typeface="Arial"/>
              </a:rPr>
              <a:t>type 12 details → get the group with % bars and a one-line “why”</a:t>
            </a:r>
          </a:p>
        </p:txBody>
      </p:sp>
      <p:sp>
        <p:nvSpPr>
          <p:cNvPr id="13" name="Rectangle 12"/>
          <p:cNvSpPr/>
          <p:nvPr/>
        </p:nvSpPr>
        <p:spPr>
          <a:xfrm>
            <a:off x="585216" y="3973068"/>
            <a:ext cx="91440" cy="914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877055"/>
            <a:ext cx="5577840" cy="292608"/>
          </a:xfrm>
          <a:prstGeom prst="rect">
            <a:avLst/>
          </a:prstGeom>
          <a:noFill/>
        </p:spPr>
        <p:txBody>
          <a:bodyPr wrap="square" lIns="0" rIns="0" tIns="0" bIns="0" anchor="t">
            <a:spAutoFit/>
          </a:bodyPr>
          <a:lstStyle/>
          <a:p>
            <a:pPr>
              <a:spcAft>
                <a:spcPts val="0"/>
              </a:spcAft>
            </a:pPr>
            <a:r>
              <a:rPr sz="1200" b="1">
                <a:solidFill>
                  <a:srgbClr val="141414"/>
                </a:solidFill>
                <a:latin typeface="Arial"/>
              </a:rPr>
              <a:t>Report card   </a:t>
            </a:r>
            <a:r>
              <a:rPr sz="980">
                <a:solidFill>
                  <a:srgbClr val="8A8478"/>
                </a:solidFill>
                <a:latin typeface="Arial"/>
              </a:rPr>
              <a:t>accuracy, scores and the full test results</a:t>
            </a:r>
          </a:p>
        </p:txBody>
      </p:sp>
      <p:sp>
        <p:nvSpPr>
          <p:cNvPr id="15" name="Rectangle 14"/>
          <p:cNvSpPr/>
          <p:nvPr/>
        </p:nvSpPr>
        <p:spPr>
          <a:xfrm>
            <a:off x="585216" y="4567428"/>
            <a:ext cx="91440" cy="914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471416"/>
            <a:ext cx="5577840" cy="292608"/>
          </a:xfrm>
          <a:prstGeom prst="rect">
            <a:avLst/>
          </a:prstGeom>
          <a:noFill/>
        </p:spPr>
        <p:txBody>
          <a:bodyPr wrap="square" lIns="0" rIns="0" tIns="0" bIns="0" anchor="t">
            <a:spAutoFit/>
          </a:bodyPr>
          <a:lstStyle/>
          <a:p>
            <a:pPr>
              <a:spcAft>
                <a:spcPts val="0"/>
              </a:spcAft>
            </a:pPr>
            <a:r>
              <a:rPr sz="1200" b="1">
                <a:solidFill>
                  <a:srgbClr val="141414"/>
                </a:solidFill>
                <a:latin typeface="Arial"/>
              </a:rPr>
              <a:t>Health check   </a:t>
            </a:r>
            <a:r>
              <a:rPr sz="980">
                <a:solidFill>
                  <a:srgbClr val="8A8478"/>
                </a:solidFill>
                <a:latin typeface="Arial"/>
              </a:rPr>
              <a:t>is incoming data drifting away from training data?</a:t>
            </a:r>
          </a:p>
        </p:txBody>
      </p:sp>
      <p:sp>
        <p:nvSpPr>
          <p:cNvPr id="17" name="Rectangle 16"/>
          <p:cNvSpPr/>
          <p:nvPr/>
        </p:nvSpPr>
        <p:spPr>
          <a:xfrm>
            <a:off x="585216" y="5161788"/>
            <a:ext cx="91440" cy="914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065776"/>
            <a:ext cx="5577840" cy="292608"/>
          </a:xfrm>
          <a:prstGeom prst="rect">
            <a:avLst/>
          </a:prstGeom>
          <a:noFill/>
        </p:spPr>
        <p:txBody>
          <a:bodyPr wrap="square" lIns="0" rIns="0" tIns="0" bIns="0" anchor="t">
            <a:spAutoFit/>
          </a:bodyPr>
          <a:lstStyle/>
          <a:p>
            <a:pPr>
              <a:spcAft>
                <a:spcPts val="0"/>
              </a:spcAft>
            </a:pPr>
            <a:r>
              <a:rPr sz="1200" b="1">
                <a:solidFill>
                  <a:srgbClr val="141414"/>
                </a:solidFill>
                <a:latin typeface="Arial"/>
              </a:rPr>
              <a:t>Hidden groups   </a:t>
            </a:r>
            <a:r>
              <a:rPr sz="980">
                <a:solidFill>
                  <a:srgbClr val="8A8478"/>
                </a:solidFill>
                <a:latin typeface="Arial"/>
              </a:rPr>
              <a:t>the clusters the data found by itself, as maps</a:t>
            </a:r>
          </a:p>
        </p:txBody>
      </p:sp>
      <p:sp>
        <p:nvSpPr>
          <p:cNvPr id="19" name="Rectangle 18"/>
          <p:cNvSpPr/>
          <p:nvPr/>
        </p:nvSpPr>
        <p:spPr>
          <a:xfrm>
            <a:off x="585216" y="5756148"/>
            <a:ext cx="91440" cy="91440"/>
          </a:xfrm>
          <a:prstGeom prst="rect">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5660136"/>
            <a:ext cx="5577840" cy="292608"/>
          </a:xfrm>
          <a:prstGeom prst="rect">
            <a:avLst/>
          </a:prstGeom>
          <a:noFill/>
        </p:spPr>
        <p:txBody>
          <a:bodyPr wrap="square" lIns="0" rIns="0" tIns="0" bIns="0" anchor="t">
            <a:spAutoFit/>
          </a:bodyPr>
          <a:lstStyle/>
          <a:p>
            <a:pPr>
              <a:spcAft>
                <a:spcPts val="0"/>
              </a:spcAft>
            </a:pPr>
            <a:r>
              <a:rPr sz="1200" b="1">
                <a:solidFill>
                  <a:srgbClr val="141414"/>
                </a:solidFill>
                <a:latin typeface="Arial"/>
              </a:rPr>
              <a:t>Troubleshoot   </a:t>
            </a:r>
            <a:r>
              <a:rPr sz="980">
                <a:solidFill>
                  <a:srgbClr val="8A8478"/>
                </a:solidFill>
                <a:latin typeface="Arial"/>
              </a:rPr>
              <a:t>a test page that proves every button works</a:t>
            </a:r>
          </a:p>
        </p:txBody>
      </p:sp>
      <p:sp>
        <p:nvSpPr>
          <p:cNvPr id="21" name="TextBox 20"/>
          <p:cNvSpPr txBox="1"/>
          <p:nvPr/>
        </p:nvSpPr>
        <p:spPr>
          <a:xfrm>
            <a:off x="841248" y="6309360"/>
            <a:ext cx="5669280" cy="274320"/>
          </a:xfrm>
          <a:prstGeom prst="rect">
            <a:avLst/>
          </a:prstGeom>
          <a:noFill/>
        </p:spPr>
        <p:txBody>
          <a:bodyPr wrap="square" lIns="0" rIns="0" tIns="0" bIns="0" anchor="t">
            <a:spAutoFit/>
          </a:bodyPr>
          <a:lstStyle/>
          <a:p>
            <a:pPr algn="l">
              <a:lnSpc>
                <a:spcPct val="106000"/>
              </a:lnSpc>
              <a:spcAft>
                <a:spcPts val="400"/>
              </a:spcAft>
            </a:pPr>
            <a:r>
              <a:rPr sz="900" b="0" i="0">
                <a:solidFill>
                  <a:srgbClr val="8A8478"/>
                </a:solidFill>
                <a:latin typeface="Arial"/>
              </a:rPr>
              <a:t>Runs at http://127.0.0.1:5000 — the whole team can open it at once.</a:t>
            </a:r>
          </a:p>
        </p:txBody>
      </p:sp>
      <p:sp>
        <p:nvSpPr>
          <p:cNvPr id="22" name="Rounded Rectangle 21"/>
          <p:cNvSpPr/>
          <p:nvPr/>
        </p:nvSpPr>
        <p:spPr>
          <a:xfrm>
            <a:off x="6784848" y="1783080"/>
            <a:ext cx="4846320" cy="201168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766560" y="1911095"/>
            <a:ext cx="50292" cy="1755648"/>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04304" y="1929384"/>
            <a:ext cx="4462272" cy="1737360"/>
          </a:xfrm>
          <a:prstGeom prst="rect">
            <a:avLst/>
          </a:prstGeom>
          <a:noFill/>
        </p:spPr>
        <p:txBody>
          <a:bodyPr wrap="square" lIns="0" rIns="0" tIns="0" bIns="0" anchor="t">
            <a:spAutoFit/>
          </a:bodyPr>
          <a:lstStyle/>
          <a:p>
            <a:pPr algn="l">
              <a:lnSpc>
                <a:spcPct val="106000"/>
              </a:lnSpc>
              <a:spcAft>
                <a:spcPts val="600"/>
              </a:spcAft>
            </a:pPr>
            <a:r>
              <a:rPr sz="1050" b="1" i="0" spc="90">
                <a:solidFill>
                  <a:srgbClr val="141414"/>
                </a:solidFill>
                <a:latin typeface="Arial"/>
              </a:rPr>
              <a:t>HOW IT FEELS TO USE</a:t>
            </a:r>
          </a:p>
          <a:p>
            <a:pPr algn="l">
              <a:lnSpc>
                <a:spcPct val="112000"/>
              </a:lnSpc>
              <a:spcAft>
                <a:spcPts val="300"/>
              </a:spcAft>
            </a:pPr>
            <a:r>
              <a:rPr sz="980" b="0" i="0">
                <a:solidFill>
                  <a:srgbClr val="2A2722"/>
                </a:solidFill>
                <a:latin typeface="Arial"/>
              </a:rPr>
              <a:t>Looks like a real internal tool, not a toy: sidebar, customer table with filters, click a row to predict.</a:t>
            </a:r>
          </a:p>
          <a:p>
            <a:pPr algn="l">
              <a:lnSpc>
                <a:spcPct val="112000"/>
              </a:lnSpc>
              <a:spcAft>
                <a:spcPts val="300"/>
              </a:spcAft>
            </a:pPr>
            <a:r>
              <a:rPr sz="980" b="0" i="0">
                <a:solidFill>
                  <a:srgbClr val="2A2722"/>
                </a:solidFill>
                <a:latin typeface="Arial"/>
              </a:rPr>
              <a:t>Answers update live as you type, with % bars for all four groups and a short reason.</a:t>
            </a:r>
          </a:p>
          <a:p>
            <a:pPr algn="l">
              <a:lnSpc>
                <a:spcPct val="112000"/>
              </a:lnSpc>
              <a:spcAft>
                <a:spcPts val="300"/>
              </a:spcAft>
            </a:pPr>
            <a:r>
              <a:rPr sz="980" b="0" i="0">
                <a:solidFill>
                  <a:srgbClr val="2A2722"/>
                </a:solidFill>
                <a:latin typeface="Arial"/>
              </a:rPr>
              <a:t>Smooth motion, soft shadows, nothing stiff.</a:t>
            </a:r>
          </a:p>
        </p:txBody>
      </p:sp>
      <p:sp>
        <p:nvSpPr>
          <p:cNvPr id="25" name="Rounded Rectangle 24"/>
          <p:cNvSpPr/>
          <p:nvPr/>
        </p:nvSpPr>
        <p:spPr>
          <a:xfrm>
            <a:off x="6784848" y="3977639"/>
            <a:ext cx="4846320" cy="2304288"/>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729984" y="4114800"/>
            <a:ext cx="50292" cy="2011680"/>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4151376"/>
            <a:ext cx="4434840" cy="2011680"/>
          </a:xfrm>
          <a:prstGeom prst="rect">
            <a:avLst/>
          </a:prstGeom>
          <a:noFill/>
        </p:spPr>
        <p:txBody>
          <a:bodyPr wrap="square" lIns="0" rIns="0" tIns="0" bIns="0" anchor="t">
            <a:spAutoFit/>
          </a:bodyPr>
          <a:lstStyle/>
          <a:p>
            <a:pPr algn="l">
              <a:lnSpc>
                <a:spcPct val="106000"/>
              </a:lnSpc>
              <a:spcAft>
                <a:spcPts val="700"/>
              </a:spcAft>
            </a:pPr>
            <a:r>
              <a:rPr sz="1050" b="1" i="0" spc="90">
                <a:solidFill>
                  <a:srgbClr val="FFFFFF"/>
                </a:solidFill>
                <a:latin typeface="Arial"/>
              </a:rPr>
              <a:t>AFTER LAUNCH — KEEP WATCHING</a:t>
            </a:r>
          </a:p>
          <a:p>
            <a:pPr algn="l">
              <a:lnSpc>
                <a:spcPct val="106000"/>
              </a:lnSpc>
              <a:spcAft>
                <a:spcPts val="400"/>
              </a:spcAft>
            </a:pPr>
            <a:r>
              <a:rPr sz="980" b="0" i="0">
                <a:solidFill>
                  <a:srgbClr val="E8E4DC"/>
                </a:solidFill>
                <a:latin typeface="Arial"/>
              </a:rPr>
              <a:t>•  Every prediction is logged (last 500 kept)</a:t>
            </a:r>
          </a:p>
          <a:p>
            <a:pPr algn="l">
              <a:lnSpc>
                <a:spcPct val="115000"/>
              </a:lnSpc>
              <a:spcAft>
                <a:spcPts val="400"/>
              </a:spcAft>
            </a:pPr>
            <a:r>
              <a:rPr sz="980" b="0" i="0">
                <a:solidFill>
                  <a:srgbClr val="E8E4DC"/>
                </a:solidFill>
                <a:latin typeface="Arial"/>
              </a:rPr>
              <a:t>•  If new customers stop looking like the training crowd → drift flag → retrain</a:t>
            </a:r>
          </a:p>
          <a:p>
            <a:pPr algn="l">
              <a:lnSpc>
                <a:spcPct val="106000"/>
              </a:lnSpc>
              <a:spcAft>
                <a:spcPts val="400"/>
              </a:spcAft>
            </a:pPr>
            <a:r>
              <a:rPr sz="980" b="0" i="0">
                <a:solidFill>
                  <a:srgbClr val="E8E4DC"/>
                </a:solidFill>
                <a:latin typeface="Arial"/>
              </a:rPr>
              <a:t>•  Answer speed is timed on every request</a:t>
            </a:r>
          </a:p>
          <a:p>
            <a:pPr algn="l">
              <a:lnSpc>
                <a:spcPct val="115000"/>
              </a:lnSpc>
              <a:spcAft>
                <a:spcPts val="0"/>
              </a:spcAft>
            </a:pPr>
            <a:r>
              <a:rPr sz="980" b="0" i="0">
                <a:solidFill>
                  <a:srgbClr val="E8E4DC"/>
                </a:solidFill>
                <a:latin typeface="Arial"/>
              </a:rPr>
              <a:t>•  Each answer carries its full path, so any prediction can be audited later</a:t>
            </a:r>
          </a:p>
        </p:txBody>
      </p:sp>
      <p:sp>
        <p:nvSpPr>
          <p:cNvPr id="28" name="TextBox 27"/>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13/17</a:t>
            </a:r>
          </a:p>
        </p:txBody>
      </p:sp>
      <p:sp>
        <p:nvSpPr>
          <p:cNvPr id="29" name="TextBox 28"/>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INSIDE THE MODEL'S MIND</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Why it puts you in a group</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783080"/>
          <a:ext cx="7726679" cy="2596896"/>
        </p:xfrm>
        <a:graphic>
          <a:graphicData uri="http://schemas.openxmlformats.org/drawingml/2006/table">
            <a:tbl>
              <a:tblPr>
                <a:tableStyleId>{5C22544A-7EE6-4342-B048-85BDC9FD1C3A}</a:tableStyleId>
              </a:tblPr>
              <a:tblGrid>
                <a:gridCol w="1417320"/>
                <a:gridCol w="2606040"/>
                <a:gridCol w="1874519"/>
                <a:gridCol w="1828800"/>
              </a:tblGrid>
              <a:tr h="329184">
                <a:tc>
                  <a:txBody>
                    <a:bodyPr wrap="square"/>
                    <a:lstStyle/>
                    <a:p>
                      <a:pPr algn="l">
                        <a:lnSpc>
                          <a:spcPct val="100000"/>
                        </a:lnSpc>
                      </a:pPr>
                      <a:r>
                        <a:rPr sz="1000" b="1">
                          <a:solidFill>
                            <a:srgbClr val="FFFFFF"/>
                          </a:solidFill>
                          <a:latin typeface="Arial"/>
                        </a:rPr>
                        <a:t>Group</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Points added by</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Points reduced by</a:t>
                      </a:r>
                    </a:p>
                  </a:txBody>
                  <a:tcPr marL="82296" marR="54864" marT="18288" marB="18288" anchor="ctr">
                    <a:solidFill>
                      <a:srgbClr val="121212"/>
                    </a:solidFill>
                  </a:tcPr>
                </a:tc>
                <a:tc>
                  <a:txBody>
                    <a:bodyPr wrap="square"/>
                    <a:lstStyle/>
                    <a:p>
                      <a:pPr algn="l">
                        <a:lnSpc>
                          <a:spcPct val="100000"/>
                        </a:lnSpc>
                      </a:pPr>
                      <a:r>
                        <a:rPr sz="1000" b="1">
                          <a:solidFill>
                            <a:srgbClr val="FFFFFF"/>
                          </a:solidFill>
                          <a:latin typeface="Arial"/>
                        </a:rPr>
                        <a:t>Reads like</a:t>
                      </a:r>
                    </a:p>
                  </a:txBody>
                  <a:tcPr marL="82296" marR="54864" marT="18288" marB="18288" anchor="ctr">
                    <a:solidFill>
                      <a:srgbClr val="121212"/>
                    </a:solidFill>
                  </a:tcPr>
                </a:tc>
              </a:tr>
              <a:tr h="566928">
                <a:tc>
                  <a:txBody>
                    <a:bodyPr wrap="square"/>
                    <a:lstStyle/>
                    <a:p>
                      <a:pPr algn="l">
                        <a:lnSpc>
                          <a:spcPct val="100000"/>
                        </a:lnSpc>
                      </a:pPr>
                      <a:r>
                        <a:rPr sz="919" b="1">
                          <a:solidFill>
                            <a:srgbClr val="141414"/>
                          </a:solidFill>
                          <a:latin typeface="Arial"/>
                        </a:rPr>
                        <a:t>Occasional 44%</a:t>
                      </a:r>
                    </a:p>
                  </a:txBody>
                  <a:tcPr marL="82296" marR="54864" marT="18288" marB="18288" anchor="ctr">
                    <a:solidFill>
                      <a:srgbClr val="FFFFFF"/>
                    </a:solidFill>
                  </a:tcPr>
                </a:tc>
                <a:tc>
                  <a:txBody>
                    <a:bodyPr wrap="square"/>
                    <a:lstStyle/>
                    <a:p>
                      <a:pPr algn="l">
                        <a:lnSpc>
                          <a:spcPct val="100000"/>
                        </a:lnSpc>
                      </a:pPr>
                      <a:r>
                        <a:rPr sz="919" b="0">
                          <a:solidFill>
                            <a:srgbClr val="2A2722"/>
                          </a:solidFill>
                          <a:latin typeface="Arial"/>
                        </a:rPr>
                        <a:t>many support calls +0.42, heavy discount use +0.38, many returns +0.35</a:t>
                      </a:r>
                    </a:p>
                  </a:txBody>
                  <a:tcPr marL="82296" marR="54864" marT="18288" marB="18288" anchor="ctr">
                    <a:solidFill>
                      <a:srgbClr val="FFFFFF"/>
                    </a:solidFill>
                  </a:tcPr>
                </a:tc>
                <a:tc>
                  <a:txBody>
                    <a:bodyPr wrap="square"/>
                    <a:lstStyle/>
                    <a:p>
                      <a:pPr algn="l">
                        <a:lnSpc>
                          <a:spcPct val="100000"/>
                        </a:lnSpc>
                      </a:pPr>
                      <a:r>
                        <a:rPr sz="919" b="0">
                          <a:solidFill>
                            <a:srgbClr val="2A2722"/>
                          </a:solidFill>
                          <a:latin typeface="Arial"/>
                        </a:rPr>
                        <a:t>high spend −0.82, frequent visits −0.75</a:t>
                      </a:r>
                    </a:p>
                  </a:txBody>
                  <a:tcPr marL="82296" marR="54864" marT="18288" marB="18288" anchor="ctr">
                    <a:solidFill>
                      <a:srgbClr val="FFFFFF"/>
                    </a:solidFill>
                  </a:tcPr>
                </a:tc>
                <a:tc>
                  <a:txBody>
                    <a:bodyPr wrap="square"/>
                    <a:lstStyle/>
                    <a:p>
                      <a:pPr algn="l">
                        <a:lnSpc>
                          <a:spcPct val="100000"/>
                        </a:lnSpc>
                      </a:pPr>
                      <a:r>
                        <a:rPr sz="919" b="0">
                          <a:solidFill>
                            <a:srgbClr val="2A2722"/>
                          </a:solidFill>
                          <a:latin typeface="Arial"/>
                        </a:rPr>
                        <a:t>“rarely visits, spends little, needs lots of help”</a:t>
                      </a:r>
                    </a:p>
                  </a:txBody>
                  <a:tcPr marL="82296" marR="54864" marT="18288" marB="18288" anchor="ctr">
                    <a:solidFill>
                      <a:srgbClr val="FFFFFF"/>
                    </a:solidFill>
                  </a:tcPr>
                </a:tc>
              </a:tr>
              <a:tr h="566928">
                <a:tc>
                  <a:txBody>
                    <a:bodyPr wrap="square"/>
                    <a:lstStyle/>
                    <a:p>
                      <a:pPr algn="l">
                        <a:lnSpc>
                          <a:spcPct val="100000"/>
                        </a:lnSpc>
                      </a:pPr>
                      <a:r>
                        <a:rPr sz="919" b="1">
                          <a:solidFill>
                            <a:srgbClr val="141414"/>
                          </a:solidFill>
                          <a:latin typeface="Arial"/>
                        </a:rPr>
                        <a:t>Regular 27%</a:t>
                      </a:r>
                    </a:p>
                  </a:txBody>
                  <a:tcPr marL="82296" marR="54864" marT="18288" marB="18288" anchor="ctr">
                    <a:solidFill>
                      <a:srgbClr val="F4F0E8"/>
                    </a:solidFill>
                  </a:tcPr>
                </a:tc>
                <a:tc>
                  <a:txBody>
                    <a:bodyPr wrap="square"/>
                    <a:lstStyle/>
                    <a:p>
                      <a:pPr algn="l">
                        <a:lnSpc>
                          <a:spcPct val="100000"/>
                        </a:lnSpc>
                      </a:pPr>
                      <a:r>
                        <a:rPr sz="919" b="0">
                          <a:solidFill>
                            <a:srgbClr val="2A2722"/>
                          </a:solidFill>
                          <a:latin typeface="Arial"/>
                        </a:rPr>
                        <a:t>only small hints (nothing above +0.18)</a:t>
                      </a:r>
                    </a:p>
                  </a:txBody>
                  <a:tcPr marL="82296" marR="54864" marT="18288" marB="18288" anchor="ctr">
                    <a:solidFill>
                      <a:srgbClr val="F4F0E8"/>
                    </a:solidFill>
                  </a:tcPr>
                </a:tc>
                <a:tc>
                  <a:txBody>
                    <a:bodyPr wrap="square"/>
                    <a:lstStyle/>
                    <a:p>
                      <a:pPr algn="l">
                        <a:lnSpc>
                          <a:spcPct val="100000"/>
                        </a:lnSpc>
                      </a:pPr>
                      <a:r>
                        <a:rPr sz="919" b="0">
                          <a:solidFill>
                            <a:srgbClr val="2A2722"/>
                          </a:solidFill>
                          <a:latin typeface="Arial"/>
                        </a:rPr>
                        <a:t>only small hints</a:t>
                      </a:r>
                    </a:p>
                  </a:txBody>
                  <a:tcPr marL="82296" marR="54864" marT="18288" marB="18288" anchor="ctr">
                    <a:solidFill>
                      <a:srgbClr val="F4F0E8"/>
                    </a:solidFill>
                  </a:tcPr>
                </a:tc>
                <a:tc>
                  <a:txBody>
                    <a:bodyPr wrap="square"/>
                    <a:lstStyle/>
                    <a:p>
                      <a:pPr algn="l">
                        <a:lnSpc>
                          <a:spcPct val="100000"/>
                        </a:lnSpc>
                      </a:pPr>
                      <a:r>
                        <a:rPr sz="919" b="0">
                          <a:solidFill>
                            <a:srgbClr val="2A2722"/>
                          </a:solidFill>
                          <a:latin typeface="Arial"/>
                        </a:rPr>
                        <a:t>“in between — honestly hard to label”</a:t>
                      </a:r>
                    </a:p>
                  </a:txBody>
                  <a:tcPr marL="82296" marR="54864" marT="18288" marB="18288" anchor="ctr">
                    <a:solidFill>
                      <a:srgbClr val="F4F0E8"/>
                    </a:solidFill>
                  </a:tcPr>
                </a:tc>
              </a:tr>
              <a:tr h="566928">
                <a:tc>
                  <a:txBody>
                    <a:bodyPr wrap="square"/>
                    <a:lstStyle/>
                    <a:p>
                      <a:pPr algn="l">
                        <a:lnSpc>
                          <a:spcPct val="100000"/>
                        </a:lnSpc>
                      </a:pPr>
                      <a:r>
                        <a:rPr sz="919" b="1">
                          <a:solidFill>
                            <a:srgbClr val="141414"/>
                          </a:solidFill>
                          <a:latin typeface="Arial"/>
                        </a:rPr>
                        <a:t>Loyal 18%</a:t>
                      </a:r>
                    </a:p>
                  </a:txBody>
                  <a:tcPr marL="82296" marR="54864" marT="18288" marB="18288" anchor="ctr">
                    <a:solidFill>
                      <a:srgbClr val="FFFFFF"/>
                    </a:solidFill>
                  </a:tcPr>
                </a:tc>
                <a:tc>
                  <a:txBody>
                    <a:bodyPr wrap="square"/>
                    <a:lstStyle/>
                    <a:p>
                      <a:pPr algn="l">
                        <a:lnSpc>
                          <a:spcPct val="100000"/>
                        </a:lnSpc>
                      </a:pPr>
                      <a:r>
                        <a:rPr sz="919" b="0">
                          <a:solidFill>
                            <a:srgbClr val="2A2722"/>
                          </a:solidFill>
                          <a:latin typeface="Arial"/>
                        </a:rPr>
                        <a:t>long membership +0.72, frequent visits +0.68, long browsing +0.55</a:t>
                      </a:r>
                    </a:p>
                  </a:txBody>
                  <a:tcPr marL="82296" marR="54864" marT="18288" marB="18288" anchor="ctr">
                    <a:solidFill>
                      <a:srgbClr val="FFFFFF"/>
                    </a:solidFill>
                  </a:tcPr>
                </a:tc>
                <a:tc>
                  <a:txBody>
                    <a:bodyPr wrap="square"/>
                    <a:lstStyle/>
                    <a:p>
                      <a:pPr algn="l">
                        <a:lnSpc>
                          <a:spcPct val="100000"/>
                        </a:lnSpc>
                      </a:pPr>
                      <a:r>
                        <a:rPr sz="919" b="0">
                          <a:solidFill>
                            <a:srgbClr val="2A2722"/>
                          </a:solidFill>
                          <a:latin typeface="Arial"/>
                        </a:rPr>
                        <a:t>many support calls −0.42</a:t>
                      </a:r>
                    </a:p>
                  </a:txBody>
                  <a:tcPr marL="82296" marR="54864" marT="18288" marB="18288" anchor="ctr">
                    <a:solidFill>
                      <a:srgbClr val="FFFFFF"/>
                    </a:solidFill>
                  </a:tcPr>
                </a:tc>
                <a:tc>
                  <a:txBody>
                    <a:bodyPr wrap="square"/>
                    <a:lstStyle/>
                    <a:p>
                      <a:pPr algn="l">
                        <a:lnSpc>
                          <a:spcPct val="100000"/>
                        </a:lnSpc>
                      </a:pPr>
                      <a:r>
                        <a:rPr sz="919" b="0">
                          <a:solidFill>
                            <a:srgbClr val="2A2722"/>
                          </a:solidFill>
                          <a:latin typeface="Arial"/>
                        </a:rPr>
                        <a:t>“been with us for years, shops weekly, happy”</a:t>
                      </a:r>
                    </a:p>
                  </a:txBody>
                  <a:tcPr marL="82296" marR="54864" marT="18288" marB="18288" anchor="ctr">
                    <a:solidFill>
                      <a:srgbClr val="FFFFFF"/>
                    </a:solidFill>
                  </a:tcPr>
                </a:tc>
              </a:tr>
              <a:tr h="566928">
                <a:tc>
                  <a:txBody>
                    <a:bodyPr wrap="square"/>
                    <a:lstStyle/>
                    <a:p>
                      <a:pPr algn="l">
                        <a:lnSpc>
                          <a:spcPct val="100000"/>
                        </a:lnSpc>
                      </a:pPr>
                      <a:r>
                        <a:rPr sz="919" b="1">
                          <a:solidFill>
                            <a:srgbClr val="141414"/>
                          </a:solidFill>
                          <a:latin typeface="Arial"/>
                        </a:rPr>
                        <a:t>High-Value 11%</a:t>
                      </a:r>
                    </a:p>
                  </a:txBody>
                  <a:tcPr marL="82296" marR="54864" marT="18288" marB="18288" anchor="ctr">
                    <a:solidFill>
                      <a:srgbClr val="F4F0E8"/>
                    </a:solidFill>
                  </a:tcPr>
                </a:tc>
                <a:tc>
                  <a:txBody>
                    <a:bodyPr wrap="square"/>
                    <a:lstStyle/>
                    <a:p>
                      <a:pPr algn="l">
                        <a:lnSpc>
                          <a:spcPct val="100000"/>
                        </a:lnSpc>
                      </a:pPr>
                      <a:r>
                        <a:rPr sz="919" b="0">
                          <a:solidFill>
                            <a:srgbClr val="2A2722"/>
                          </a:solidFill>
                          <a:latin typeface="Arial"/>
                        </a:rPr>
                        <a:t>high income +0.95, big baskets +0.82, high spend +0.78</a:t>
                      </a:r>
                    </a:p>
                  </a:txBody>
                  <a:tcPr marL="82296" marR="54864" marT="18288" marB="18288" anchor="ctr">
                    <a:solidFill>
                      <a:srgbClr val="F4F0E8"/>
                    </a:solidFill>
                  </a:tcPr>
                </a:tc>
                <a:tc>
                  <a:txBody>
                    <a:bodyPr wrap="square"/>
                    <a:lstStyle/>
                    <a:p>
                      <a:pPr algn="l">
                        <a:lnSpc>
                          <a:spcPct val="100000"/>
                        </a:lnSpc>
                      </a:pPr>
                      <a:r>
                        <a:rPr sz="919" b="0">
                          <a:solidFill>
                            <a:srgbClr val="2A2722"/>
                          </a:solidFill>
                          <a:latin typeface="Arial"/>
                        </a:rPr>
                        <a:t>discount use −0.65, many returns −0.58</a:t>
                      </a:r>
                    </a:p>
                  </a:txBody>
                  <a:tcPr marL="82296" marR="54864" marT="18288" marB="18288" anchor="ctr">
                    <a:solidFill>
                      <a:srgbClr val="F4F0E8"/>
                    </a:solidFill>
                  </a:tcPr>
                </a:tc>
                <a:tc>
                  <a:txBody>
                    <a:bodyPr wrap="square"/>
                    <a:lstStyle/>
                    <a:p>
                      <a:pPr algn="l">
                        <a:lnSpc>
                          <a:spcPct val="100000"/>
                        </a:lnSpc>
                      </a:pPr>
                      <a:r>
                        <a:rPr sz="919" b="0">
                          <a:solidFill>
                            <a:srgbClr val="2A2722"/>
                          </a:solidFill>
                          <a:latin typeface="Arial"/>
                        </a:rPr>
                        <a:t>“wealthy, buys big, doesn't wait for sales”</a:t>
                      </a:r>
                    </a:p>
                  </a:txBody>
                  <a:tcPr marL="82296" marR="54864" marT="18288" marB="18288" anchor="ctr">
                    <a:solidFill>
                      <a:srgbClr val="F4F0E8"/>
                    </a:solidFill>
                  </a:tcPr>
                </a:tc>
              </a:tr>
            </a:tbl>
          </a:graphicData>
        </a:graphic>
      </p:graphicFrame>
      <p:sp>
        <p:nvSpPr>
          <p:cNvPr id="7" name="Rounded Rectangle 6"/>
          <p:cNvSpPr/>
          <p:nvPr/>
        </p:nvSpPr>
        <p:spPr>
          <a:xfrm>
            <a:off x="566928" y="4590288"/>
            <a:ext cx="7726679" cy="1691640"/>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4718303"/>
            <a:ext cx="50292" cy="1435608"/>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736592"/>
            <a:ext cx="7342631" cy="1417320"/>
          </a:xfrm>
          <a:prstGeom prst="rect">
            <a:avLst/>
          </a:prstGeom>
          <a:noFill/>
        </p:spPr>
        <p:txBody>
          <a:bodyPr wrap="square" lIns="0" rIns="0" tIns="0" bIns="0" anchor="t">
            <a:spAutoFit/>
          </a:bodyPr>
          <a:lstStyle/>
          <a:p>
            <a:pPr algn="l">
              <a:lnSpc>
                <a:spcPct val="106000"/>
              </a:lnSpc>
              <a:spcAft>
                <a:spcPts val="600"/>
              </a:spcAft>
            </a:pPr>
            <a:r>
              <a:rPr sz="1050" b="1" i="0" spc="90">
                <a:solidFill>
                  <a:srgbClr val="141414"/>
                </a:solidFill>
                <a:latin typeface="Arial"/>
              </a:rPr>
              <a:t>WHY WE KEPT THE SIMPLE MODEL</a:t>
            </a:r>
          </a:p>
          <a:p>
            <a:pPr algn="l">
              <a:lnSpc>
                <a:spcPct val="112000"/>
              </a:lnSpc>
              <a:spcAft>
                <a:spcPts val="300"/>
              </a:spcAft>
            </a:pPr>
            <a:r>
              <a:rPr sz="980" b="0" i="0">
                <a:solidFill>
                  <a:srgbClr val="2A2722"/>
                </a:solidFill>
                <a:latin typeface="Arial"/>
              </a:rPr>
              <a:t>Because we can open it and read it. For a business question like “why is this customer VIP?”, an answer such as “income +0.95” beats a black box that's only slightly more accurate (the forest scored 75% — we kept it for comparison).</a:t>
            </a:r>
          </a:p>
          <a:p>
            <a:pPr algn="l">
              <a:lnSpc>
                <a:spcPct val="112000"/>
              </a:lnSpc>
              <a:spcAft>
                <a:spcPts val="300"/>
              </a:spcAft>
            </a:pPr>
            <a:r>
              <a:rPr sz="980" b="0" i="0">
                <a:solidFill>
                  <a:srgbClr val="2A2722"/>
                </a:solidFill>
                <a:latin typeface="Arial"/>
              </a:rPr>
              <a:t>And it's honest about doubt: when it says 70% sure, it really is right about 70% of the time — so a rule like “VIP treatment only above 70%” can be trusted.</a:t>
            </a:r>
          </a:p>
        </p:txBody>
      </p:sp>
      <p:sp>
        <p:nvSpPr>
          <p:cNvPr id="10" name="TextBox 9"/>
          <p:cNvSpPr txBox="1"/>
          <p:nvPr/>
        </p:nvSpPr>
        <p:spPr>
          <a:xfrm>
            <a:off x="8522208" y="1847088"/>
            <a:ext cx="3108960" cy="274320"/>
          </a:xfrm>
          <a:prstGeom prst="rect">
            <a:avLst/>
          </a:prstGeom>
          <a:noFill/>
        </p:spPr>
        <p:txBody>
          <a:bodyPr wrap="square" lIns="0" rIns="0" tIns="0" bIns="0" anchor="t">
            <a:spAutoFit/>
          </a:bodyPr>
          <a:lstStyle/>
          <a:p>
            <a:pPr algn="l">
              <a:lnSpc>
                <a:spcPct val="106000"/>
              </a:lnSpc>
              <a:spcAft>
                <a:spcPts val="400"/>
              </a:spcAft>
            </a:pPr>
            <a:r>
              <a:rPr sz="1050" b="1" i="0" spc="90">
                <a:solidFill>
                  <a:srgbClr val="141414"/>
                </a:solidFill>
                <a:latin typeface="Arial"/>
              </a:rPr>
              <a:t>HEAVIEST CLUES</a:t>
            </a:r>
          </a:p>
        </p:txBody>
      </p:sp>
      <p:sp>
        <p:nvSpPr>
          <p:cNvPr id="11" name="TextBox 10"/>
          <p:cNvSpPr txBox="1"/>
          <p:nvPr/>
        </p:nvSpPr>
        <p:spPr>
          <a:xfrm>
            <a:off x="8522208" y="2212848"/>
            <a:ext cx="1417320" cy="256032"/>
          </a:xfrm>
          <a:prstGeom prst="rect">
            <a:avLst/>
          </a:prstGeom>
          <a:noFill/>
        </p:spPr>
        <p:txBody>
          <a:bodyPr wrap="square" lIns="0" rIns="0" tIns="0" bIns="0" anchor="t">
            <a:spAutoFit/>
          </a:bodyPr>
          <a:lstStyle/>
          <a:p>
            <a:pPr algn="l">
              <a:lnSpc>
                <a:spcPct val="106000"/>
              </a:lnSpc>
              <a:spcAft>
                <a:spcPts val="400"/>
              </a:spcAft>
            </a:pPr>
            <a:r>
              <a:rPr sz="880" b="0" i="0">
                <a:solidFill>
                  <a:srgbClr val="5F594E"/>
                </a:solidFill>
                <a:latin typeface="Arial"/>
              </a:rPr>
              <a:t>Monthly spend</a:t>
            </a:r>
          </a:p>
        </p:txBody>
      </p:sp>
      <p:sp>
        <p:nvSpPr>
          <p:cNvPr id="12" name="Rounded Rectangle 11"/>
          <p:cNvSpPr/>
          <p:nvPr/>
        </p:nvSpPr>
        <p:spPr>
          <a:xfrm>
            <a:off x="10030968" y="2240280"/>
            <a:ext cx="141732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30968" y="2240280"/>
            <a:ext cx="255117" cy="169164"/>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58016" y="2185416"/>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0.18</a:t>
            </a:r>
          </a:p>
        </p:txBody>
      </p:sp>
      <p:sp>
        <p:nvSpPr>
          <p:cNvPr id="15" name="TextBox 14"/>
          <p:cNvSpPr txBox="1"/>
          <p:nvPr/>
        </p:nvSpPr>
        <p:spPr>
          <a:xfrm>
            <a:off x="8522208" y="2578608"/>
            <a:ext cx="1417320" cy="256032"/>
          </a:xfrm>
          <a:prstGeom prst="rect">
            <a:avLst/>
          </a:prstGeom>
          <a:noFill/>
        </p:spPr>
        <p:txBody>
          <a:bodyPr wrap="square" lIns="0" rIns="0" tIns="0" bIns="0" anchor="t">
            <a:spAutoFit/>
          </a:bodyPr>
          <a:lstStyle/>
          <a:p>
            <a:pPr algn="l">
              <a:lnSpc>
                <a:spcPct val="106000"/>
              </a:lnSpc>
              <a:spcAft>
                <a:spcPts val="400"/>
              </a:spcAft>
            </a:pPr>
            <a:r>
              <a:rPr sz="880" b="0" i="0">
                <a:solidFill>
                  <a:srgbClr val="5F594E"/>
                </a:solidFill>
                <a:latin typeface="Arial"/>
              </a:rPr>
              <a:t>Visits / month</a:t>
            </a:r>
          </a:p>
        </p:txBody>
      </p:sp>
      <p:sp>
        <p:nvSpPr>
          <p:cNvPr id="16" name="Rounded Rectangle 15"/>
          <p:cNvSpPr/>
          <p:nvPr/>
        </p:nvSpPr>
        <p:spPr>
          <a:xfrm>
            <a:off x="10030968" y="2606040"/>
            <a:ext cx="141732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30968" y="2606040"/>
            <a:ext cx="212598" cy="169164"/>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58016" y="2551176"/>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0.15</a:t>
            </a:r>
          </a:p>
        </p:txBody>
      </p:sp>
      <p:sp>
        <p:nvSpPr>
          <p:cNvPr id="19" name="TextBox 18"/>
          <p:cNvSpPr txBox="1"/>
          <p:nvPr/>
        </p:nvSpPr>
        <p:spPr>
          <a:xfrm>
            <a:off x="8522208" y="2944368"/>
            <a:ext cx="1417320" cy="256032"/>
          </a:xfrm>
          <a:prstGeom prst="rect">
            <a:avLst/>
          </a:prstGeom>
          <a:noFill/>
        </p:spPr>
        <p:txBody>
          <a:bodyPr wrap="square" lIns="0" rIns="0" tIns="0" bIns="0" anchor="t">
            <a:spAutoFit/>
          </a:bodyPr>
          <a:lstStyle/>
          <a:p>
            <a:pPr algn="l">
              <a:lnSpc>
                <a:spcPct val="106000"/>
              </a:lnSpc>
              <a:spcAft>
                <a:spcPts val="400"/>
              </a:spcAft>
            </a:pPr>
            <a:r>
              <a:rPr sz="880" b="0" i="0">
                <a:solidFill>
                  <a:srgbClr val="5F594E"/>
                </a:solidFill>
                <a:latin typeface="Arial"/>
              </a:rPr>
              <a:t>Yearly income</a:t>
            </a:r>
          </a:p>
        </p:txBody>
      </p:sp>
      <p:sp>
        <p:nvSpPr>
          <p:cNvPr id="20" name="Rounded Rectangle 19"/>
          <p:cNvSpPr/>
          <p:nvPr/>
        </p:nvSpPr>
        <p:spPr>
          <a:xfrm>
            <a:off x="10030968" y="2971800"/>
            <a:ext cx="141732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30968" y="2971800"/>
            <a:ext cx="198424" cy="169164"/>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58016" y="2916936"/>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0.14</a:t>
            </a:r>
          </a:p>
        </p:txBody>
      </p:sp>
      <p:sp>
        <p:nvSpPr>
          <p:cNvPr id="23" name="TextBox 22"/>
          <p:cNvSpPr txBox="1"/>
          <p:nvPr/>
        </p:nvSpPr>
        <p:spPr>
          <a:xfrm>
            <a:off x="8522208" y="3310128"/>
            <a:ext cx="1417320" cy="256032"/>
          </a:xfrm>
          <a:prstGeom prst="rect">
            <a:avLst/>
          </a:prstGeom>
          <a:noFill/>
        </p:spPr>
        <p:txBody>
          <a:bodyPr wrap="square" lIns="0" rIns="0" tIns="0" bIns="0" anchor="t">
            <a:spAutoFit/>
          </a:bodyPr>
          <a:lstStyle/>
          <a:p>
            <a:pPr algn="l">
              <a:lnSpc>
                <a:spcPct val="106000"/>
              </a:lnSpc>
              <a:spcAft>
                <a:spcPts val="400"/>
              </a:spcAft>
            </a:pPr>
            <a:r>
              <a:rPr sz="880" b="0" i="0">
                <a:solidFill>
                  <a:srgbClr val="5F594E"/>
                </a:solidFill>
                <a:latin typeface="Arial"/>
              </a:rPr>
              <a:t>Months as customer</a:t>
            </a:r>
          </a:p>
        </p:txBody>
      </p:sp>
      <p:sp>
        <p:nvSpPr>
          <p:cNvPr id="24" name="Rounded Rectangle 23"/>
          <p:cNvSpPr/>
          <p:nvPr/>
        </p:nvSpPr>
        <p:spPr>
          <a:xfrm>
            <a:off x="10030968" y="3337560"/>
            <a:ext cx="141732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030968" y="3337560"/>
            <a:ext cx="170078" cy="169164"/>
          </a:xfrm>
          <a:prstGeom prst="roundRect">
            <a:avLst>
              <a:gd name="adj" fmla="val 50000"/>
            </a:avLst>
          </a:prstGeom>
          <a:solidFill>
            <a:srgbClr val="4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558016" y="3282696"/>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0.12</a:t>
            </a:r>
          </a:p>
        </p:txBody>
      </p:sp>
      <p:sp>
        <p:nvSpPr>
          <p:cNvPr id="27" name="TextBox 26"/>
          <p:cNvSpPr txBox="1"/>
          <p:nvPr/>
        </p:nvSpPr>
        <p:spPr>
          <a:xfrm>
            <a:off x="8522208" y="3675888"/>
            <a:ext cx="1417320" cy="256032"/>
          </a:xfrm>
          <a:prstGeom prst="rect">
            <a:avLst/>
          </a:prstGeom>
          <a:noFill/>
        </p:spPr>
        <p:txBody>
          <a:bodyPr wrap="square" lIns="0" rIns="0" tIns="0" bIns="0" anchor="t">
            <a:spAutoFit/>
          </a:bodyPr>
          <a:lstStyle/>
          <a:p>
            <a:pPr algn="l">
              <a:lnSpc>
                <a:spcPct val="106000"/>
              </a:lnSpc>
              <a:spcAft>
                <a:spcPts val="400"/>
              </a:spcAft>
            </a:pPr>
            <a:r>
              <a:rPr sz="880" b="0" i="0">
                <a:solidFill>
                  <a:srgbClr val="5F594E"/>
                </a:solidFill>
                <a:latin typeface="Arial"/>
              </a:rPr>
              <a:t>Basket size</a:t>
            </a:r>
          </a:p>
        </p:txBody>
      </p:sp>
      <p:sp>
        <p:nvSpPr>
          <p:cNvPr id="28" name="Rounded Rectangle 27"/>
          <p:cNvSpPr/>
          <p:nvPr/>
        </p:nvSpPr>
        <p:spPr>
          <a:xfrm>
            <a:off x="10030968" y="3703320"/>
            <a:ext cx="141732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30968" y="3703320"/>
            <a:ext cx="155905" cy="169164"/>
          </a:xfrm>
          <a:prstGeom prst="roundRect">
            <a:avLst>
              <a:gd name="adj" fmla="val 50000"/>
            </a:avLst>
          </a:prstGeom>
          <a:solidFill>
            <a:srgbClr val="4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558016" y="3648456"/>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0.11</a:t>
            </a:r>
          </a:p>
        </p:txBody>
      </p:sp>
      <p:sp>
        <p:nvSpPr>
          <p:cNvPr id="31" name="TextBox 30"/>
          <p:cNvSpPr txBox="1"/>
          <p:nvPr/>
        </p:nvSpPr>
        <p:spPr>
          <a:xfrm>
            <a:off x="8522208" y="4041648"/>
            <a:ext cx="1417320" cy="256032"/>
          </a:xfrm>
          <a:prstGeom prst="rect">
            <a:avLst/>
          </a:prstGeom>
          <a:noFill/>
        </p:spPr>
        <p:txBody>
          <a:bodyPr wrap="square" lIns="0" rIns="0" tIns="0" bIns="0" anchor="t">
            <a:spAutoFit/>
          </a:bodyPr>
          <a:lstStyle/>
          <a:p>
            <a:pPr algn="l">
              <a:lnSpc>
                <a:spcPct val="106000"/>
              </a:lnSpc>
              <a:spcAft>
                <a:spcPts val="400"/>
              </a:spcAft>
            </a:pPr>
            <a:r>
              <a:rPr sz="880" b="0" i="0">
                <a:solidFill>
                  <a:srgbClr val="5F594E"/>
                </a:solidFill>
                <a:latin typeface="Arial"/>
              </a:rPr>
              <a:t>Website time</a:t>
            </a:r>
          </a:p>
        </p:txBody>
      </p:sp>
      <p:sp>
        <p:nvSpPr>
          <p:cNvPr id="32" name="Rounded Rectangle 31"/>
          <p:cNvSpPr/>
          <p:nvPr/>
        </p:nvSpPr>
        <p:spPr>
          <a:xfrm>
            <a:off x="10030968" y="4069080"/>
            <a:ext cx="1417320" cy="169164"/>
          </a:xfrm>
          <a:prstGeom prst="roundRect">
            <a:avLst>
              <a:gd name="adj" fmla="val 50000"/>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030968" y="4069080"/>
            <a:ext cx="128016" cy="169164"/>
          </a:xfrm>
          <a:prstGeom prst="roundRect">
            <a:avLst>
              <a:gd name="adj" fmla="val 50000"/>
            </a:avLst>
          </a:prstGeom>
          <a:solidFill>
            <a:srgbClr val="8A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558016" y="4014216"/>
            <a:ext cx="640080" cy="274320"/>
          </a:xfrm>
          <a:prstGeom prst="rect">
            <a:avLst/>
          </a:prstGeom>
          <a:noFill/>
        </p:spPr>
        <p:txBody>
          <a:bodyPr wrap="square" lIns="0" rIns="0" tIns="0" bIns="0" anchor="t">
            <a:spAutoFit/>
          </a:bodyPr>
          <a:lstStyle/>
          <a:p>
            <a:pPr algn="l">
              <a:lnSpc>
                <a:spcPct val="106000"/>
              </a:lnSpc>
              <a:spcAft>
                <a:spcPts val="400"/>
              </a:spcAft>
            </a:pPr>
            <a:r>
              <a:rPr sz="950" b="1" i="0">
                <a:solidFill>
                  <a:srgbClr val="141414"/>
                </a:solidFill>
                <a:latin typeface="Arial"/>
              </a:rPr>
              <a:t>0.09</a:t>
            </a:r>
          </a:p>
        </p:txBody>
      </p:sp>
      <p:sp>
        <p:nvSpPr>
          <p:cNvPr id="35" name="Rounded Rectangle 34"/>
          <p:cNvSpPr/>
          <p:nvPr/>
        </p:nvSpPr>
        <p:spPr>
          <a:xfrm>
            <a:off x="8522208" y="4590288"/>
            <a:ext cx="3108960" cy="1691640"/>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467344" y="4727448"/>
            <a:ext cx="50292" cy="1417320"/>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0" y="4754880"/>
            <a:ext cx="2743200" cy="1417320"/>
          </a:xfrm>
          <a:prstGeom prst="rect">
            <a:avLst/>
          </a:prstGeom>
          <a:noFill/>
        </p:spPr>
        <p:txBody>
          <a:bodyPr wrap="square" lIns="0" rIns="0" tIns="0" bIns="0" anchor="t">
            <a:spAutoFit/>
          </a:bodyPr>
          <a:lstStyle/>
          <a:p>
            <a:pPr algn="l">
              <a:lnSpc>
                <a:spcPct val="106000"/>
              </a:lnSpc>
              <a:spcAft>
                <a:spcPts val="500"/>
              </a:spcAft>
            </a:pPr>
            <a:r>
              <a:rPr sz="1000" b="1" i="0" spc="80">
                <a:solidFill>
                  <a:srgbClr val="FFFFFF"/>
                </a:solidFill>
                <a:latin typeface="Arial"/>
              </a:rPr>
              <a:t>WHAT THE BUSINESS DOES</a:t>
            </a:r>
          </a:p>
          <a:p>
            <a:pPr algn="l">
              <a:lnSpc>
                <a:spcPct val="106000"/>
              </a:lnSpc>
              <a:spcAft>
                <a:spcPts val="300"/>
              </a:spcAft>
            </a:pPr>
            <a:r>
              <a:rPr sz="919" b="0" i="0">
                <a:solidFill>
                  <a:srgbClr val="E8E4DC"/>
                </a:solidFill>
                <a:latin typeface="Arial"/>
              </a:rPr>
              <a:t>•  Occasional → win-back offer</a:t>
            </a:r>
          </a:p>
          <a:p>
            <a:pPr algn="l">
              <a:lnSpc>
                <a:spcPct val="106000"/>
              </a:lnSpc>
              <a:spcAft>
                <a:spcPts val="300"/>
              </a:spcAft>
            </a:pPr>
            <a:r>
              <a:rPr sz="919" b="0" i="0">
                <a:solidFill>
                  <a:srgbClr val="E8E4DC"/>
                </a:solidFill>
                <a:latin typeface="Arial"/>
              </a:rPr>
              <a:t>•  Regular → small rewards</a:t>
            </a:r>
          </a:p>
          <a:p>
            <a:pPr algn="l">
              <a:lnSpc>
                <a:spcPct val="106000"/>
              </a:lnSpc>
              <a:spcAft>
                <a:spcPts val="300"/>
              </a:spcAft>
            </a:pPr>
            <a:r>
              <a:rPr sz="919" b="0" i="0">
                <a:solidFill>
                  <a:srgbClr val="E8E4DC"/>
                </a:solidFill>
                <a:latin typeface="Arial"/>
              </a:rPr>
              <a:t>•  Loyal → early access</a:t>
            </a:r>
          </a:p>
          <a:p>
            <a:pPr algn="l">
              <a:lnSpc>
                <a:spcPct val="106000"/>
              </a:lnSpc>
              <a:spcAft>
                <a:spcPts val="0"/>
              </a:spcAft>
            </a:pPr>
            <a:r>
              <a:rPr sz="919" b="0" i="0">
                <a:solidFill>
                  <a:srgbClr val="E8E4DC"/>
                </a:solidFill>
                <a:latin typeface="Arial"/>
              </a:rPr>
              <a:t>•  High-Value → VIP care</a:t>
            </a:r>
          </a:p>
        </p:txBody>
      </p:sp>
      <p:sp>
        <p:nvSpPr>
          <p:cNvPr id="38" name="TextBox 37"/>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14/17</a:t>
            </a:r>
          </a:p>
        </p:txBody>
      </p:sp>
      <p:sp>
        <p:nvSpPr>
          <p:cNvPr id="39" name="TextBox 38"/>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LIVE DEMO  •  LENS v3.0</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Try it yourself in 60 seconds</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5074920" cy="138988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11095"/>
            <a:ext cx="50292" cy="1133856"/>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938528"/>
            <a:ext cx="4617720" cy="1143000"/>
          </a:xfrm>
          <a:prstGeom prst="rect">
            <a:avLst/>
          </a:prstGeom>
          <a:noFill/>
        </p:spPr>
        <p:txBody>
          <a:bodyPr wrap="square" lIns="0" rIns="0" tIns="0" bIns="0" anchor="t">
            <a:spAutoFit/>
          </a:bodyPr>
          <a:lstStyle/>
          <a:p>
            <a:pPr algn="l">
              <a:lnSpc>
                <a:spcPct val="106000"/>
              </a:lnSpc>
              <a:spcAft>
                <a:spcPts val="500"/>
              </a:spcAft>
            </a:pPr>
            <a:r>
              <a:rPr sz="1050" b="1" i="0" spc="80">
                <a:solidFill>
                  <a:srgbClr val="141414"/>
                </a:solidFill>
                <a:latin typeface="Arial"/>
              </a:rPr>
              <a:t>1  •  BROWSE</a:t>
            </a:r>
          </a:p>
          <a:p>
            <a:pPr algn="l">
              <a:lnSpc>
                <a:spcPct val="118000"/>
              </a:lnSpc>
              <a:spcAft>
                <a:spcPts val="0"/>
              </a:spcAft>
            </a:pPr>
            <a:r>
              <a:rPr sz="1000" b="0" i="0">
                <a:solidFill>
                  <a:srgbClr val="2A2722"/>
                </a:solidFill>
                <a:latin typeface="Arial"/>
              </a:rPr>
              <a:t>Open the site and go to the Customers tab. You'll see 120 real customers with filters for the 4 groups. Click any row you like.</a:t>
            </a:r>
          </a:p>
        </p:txBody>
      </p:sp>
      <p:sp>
        <p:nvSpPr>
          <p:cNvPr id="9" name="Rounded Rectangle 8"/>
          <p:cNvSpPr/>
          <p:nvPr/>
        </p:nvSpPr>
        <p:spPr>
          <a:xfrm>
            <a:off x="566928" y="3319272"/>
            <a:ext cx="5074920" cy="138988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447288"/>
            <a:ext cx="50292" cy="1133856"/>
          </a:xfrm>
          <a:prstGeom prst="roundRect">
            <a:avLst>
              <a:gd name="adj" fmla="val 50000"/>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474720"/>
            <a:ext cx="4617720" cy="1143000"/>
          </a:xfrm>
          <a:prstGeom prst="rect">
            <a:avLst/>
          </a:prstGeom>
          <a:noFill/>
        </p:spPr>
        <p:txBody>
          <a:bodyPr wrap="square" lIns="0" rIns="0" tIns="0" bIns="0" anchor="t">
            <a:spAutoFit/>
          </a:bodyPr>
          <a:lstStyle/>
          <a:p>
            <a:pPr algn="l">
              <a:lnSpc>
                <a:spcPct val="106000"/>
              </a:lnSpc>
              <a:spcAft>
                <a:spcPts val="500"/>
              </a:spcAft>
            </a:pPr>
            <a:r>
              <a:rPr sz="1050" b="1" i="0" spc="80">
                <a:solidFill>
                  <a:srgbClr val="141414"/>
                </a:solidFill>
                <a:latin typeface="Arial"/>
              </a:rPr>
              <a:t>2  •  PREDICT</a:t>
            </a:r>
          </a:p>
          <a:p>
            <a:pPr algn="l">
              <a:lnSpc>
                <a:spcPct val="118000"/>
              </a:lnSpc>
              <a:spcAft>
                <a:spcPts val="0"/>
              </a:spcAft>
            </a:pPr>
            <a:r>
              <a:rPr sz="1000" b="0" i="0">
                <a:solidFill>
                  <a:srgbClr val="2A2722"/>
                </a:solidFill>
                <a:latin typeface="Arial"/>
              </a:rPr>
              <a:t>Their 12 details auto-fill into the form. Change spending or discount use — the answer updates as you type, with % bars for all four groups and a one-line “why”.</a:t>
            </a:r>
          </a:p>
        </p:txBody>
      </p:sp>
      <p:sp>
        <p:nvSpPr>
          <p:cNvPr id="12" name="Rounded Rectangle 11"/>
          <p:cNvSpPr/>
          <p:nvPr/>
        </p:nvSpPr>
        <p:spPr>
          <a:xfrm>
            <a:off x="566928" y="4855464"/>
            <a:ext cx="5074920" cy="1389888"/>
          </a:xfrm>
          <a:prstGeom prst="roundRect">
            <a:avLst>
              <a:gd name="adj" fmla="val 5500"/>
            </a:avLst>
          </a:prstGeom>
          <a:solidFill>
            <a:srgbClr val="FFFFFF"/>
          </a:solidFill>
          <a:ln w="12700">
            <a:solidFill>
              <a:srgbClr val="E3D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983479"/>
            <a:ext cx="50292" cy="1133856"/>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5010912"/>
            <a:ext cx="4617720" cy="1143000"/>
          </a:xfrm>
          <a:prstGeom prst="rect">
            <a:avLst/>
          </a:prstGeom>
          <a:noFill/>
        </p:spPr>
        <p:txBody>
          <a:bodyPr wrap="square" lIns="0" rIns="0" tIns="0" bIns="0" anchor="t">
            <a:spAutoFit/>
          </a:bodyPr>
          <a:lstStyle/>
          <a:p>
            <a:pPr algn="l">
              <a:lnSpc>
                <a:spcPct val="106000"/>
              </a:lnSpc>
              <a:spcAft>
                <a:spcPts val="500"/>
              </a:spcAft>
            </a:pPr>
            <a:r>
              <a:rPr sz="1050" b="1" i="0" spc="80">
                <a:solidFill>
                  <a:srgbClr val="141414"/>
                </a:solidFill>
                <a:latin typeface="Arial"/>
              </a:rPr>
              <a:t>3  •  EXPLORE</a:t>
            </a:r>
          </a:p>
          <a:p>
            <a:pPr algn="l">
              <a:lnSpc>
                <a:spcPct val="118000"/>
              </a:lnSpc>
              <a:spcAft>
                <a:spcPts val="0"/>
              </a:spcAft>
            </a:pPr>
            <a:r>
              <a:rPr sz="1000" b="0" i="0">
                <a:solidFill>
                  <a:srgbClr val="2A2722"/>
                </a:solidFill>
                <a:latin typeface="Arial"/>
              </a:rPr>
              <a:t>The Insights tab shows group sizes, the clues the model weighs most, and a map of 3,000 customers painted in 4 colours.</a:t>
            </a:r>
          </a:p>
        </p:txBody>
      </p:sp>
      <p:sp>
        <p:nvSpPr>
          <p:cNvPr id="15" name="Rounded Rectangle 14"/>
          <p:cNvSpPr/>
          <p:nvPr/>
        </p:nvSpPr>
        <p:spPr>
          <a:xfrm>
            <a:off x="5989320" y="1783080"/>
            <a:ext cx="5641848" cy="4498848"/>
          </a:xfrm>
          <a:prstGeom prst="roundRect">
            <a:avLst>
              <a:gd name="adj" fmla="val 5500"/>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34456" y="1920240"/>
            <a:ext cx="50292" cy="4206240"/>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956816"/>
            <a:ext cx="5212080" cy="4206240"/>
          </a:xfrm>
          <a:prstGeom prst="rect">
            <a:avLst/>
          </a:prstGeom>
          <a:noFill/>
        </p:spPr>
        <p:txBody>
          <a:bodyPr wrap="square" lIns="0" rIns="0" tIns="0" bIns="0" anchor="t">
            <a:spAutoFit/>
          </a:bodyPr>
          <a:lstStyle/>
          <a:p>
            <a:pPr algn="l">
              <a:lnSpc>
                <a:spcPct val="106000"/>
              </a:lnSpc>
              <a:spcAft>
                <a:spcPts val="700"/>
              </a:spcAft>
            </a:pPr>
            <a:r>
              <a:rPr sz="1050" b="1" i="0" spc="90">
                <a:solidFill>
                  <a:srgbClr val="FFFFFF"/>
                </a:solidFill>
                <a:latin typeface="Arial"/>
              </a:rPr>
              <a:t>EXAMPLE — ONE CUSTOMER</a:t>
            </a:r>
          </a:p>
          <a:p>
            <a:pPr algn="l">
              <a:lnSpc>
                <a:spcPct val="106000"/>
              </a:lnSpc>
              <a:spcAft>
                <a:spcPts val="400"/>
              </a:spcAft>
            </a:pPr>
            <a:r>
              <a:rPr sz="950" b="1" i="0">
                <a:solidFill>
                  <a:srgbClr val="B9B2A4"/>
                </a:solidFill>
                <a:latin typeface="Arial"/>
              </a:rPr>
              <a:t>What we told the model:</a:t>
            </a:r>
          </a:p>
          <a:p>
            <a:pPr algn="l">
              <a:lnSpc>
                <a:spcPct val="106000"/>
              </a:lnSpc>
              <a:spcAft>
                <a:spcPts val="200"/>
              </a:spcAft>
            </a:pPr>
            <a:r>
              <a:rPr sz="980" b="0" i="0">
                <a:solidFill>
                  <a:srgbClr val="E8E4DC"/>
                </a:solidFill>
                <a:latin typeface="Arial"/>
              </a:rPr>
              <a:t>45 years old  •  earns ₹1,20,000/yr  •  customer for 72 months</a:t>
            </a:r>
          </a:p>
          <a:p>
            <a:pPr algn="l">
              <a:lnSpc>
                <a:spcPct val="106000"/>
              </a:lnSpc>
              <a:spcAft>
                <a:spcPts val="200"/>
              </a:spcAft>
            </a:pPr>
            <a:r>
              <a:rPr sz="980" b="0" i="0">
                <a:solidFill>
                  <a:srgbClr val="E8E4DC"/>
                </a:solidFill>
                <a:latin typeface="Arial"/>
              </a:rPr>
              <a:t>spends ₹650/month  •  shops 4.5× a month  •  basket ₹280</a:t>
            </a:r>
          </a:p>
          <a:p>
            <a:pPr algn="l">
              <a:lnSpc>
                <a:spcPct val="106000"/>
              </a:lnSpc>
              <a:spcAft>
                <a:spcPts val="200"/>
              </a:spcAft>
            </a:pPr>
            <a:r>
              <a:rPr sz="980" b="0" i="0">
                <a:solidFill>
                  <a:srgbClr val="E8E4DC"/>
                </a:solidFill>
                <a:latin typeface="Arial"/>
              </a:rPr>
              <a:t>barely uses discounts (0.05)  •  almost never returns (0.02)</a:t>
            </a:r>
          </a:p>
          <a:p>
            <a:pPr algn="l">
              <a:lnSpc>
                <a:spcPct val="106000"/>
              </a:lnSpc>
              <a:spcAft>
                <a:spcPts val="800"/>
              </a:spcAft>
            </a:pPr>
            <a:r>
              <a:rPr sz="980" b="0" i="0">
                <a:solidFill>
                  <a:srgbClr val="E8E4DC"/>
                </a:solidFill>
                <a:latin typeface="Arial"/>
              </a:rPr>
              <a:t>95 min on the site  •  0 support calls  •  pays by Card  •  Urban</a:t>
            </a:r>
          </a:p>
          <a:p>
            <a:pPr algn="l">
              <a:lnSpc>
                <a:spcPct val="106000"/>
              </a:lnSpc>
              <a:spcAft>
                <a:spcPts val="400"/>
              </a:spcAft>
            </a:pPr>
            <a:r>
              <a:rPr sz="950" b="1" i="0">
                <a:solidFill>
                  <a:srgbClr val="B9B2A4"/>
                </a:solidFill>
                <a:latin typeface="Arial"/>
              </a:rPr>
              <a:t>What it answered back:</a:t>
            </a:r>
          </a:p>
          <a:p>
            <a:pPr algn="l">
              <a:lnSpc>
                <a:spcPct val="106000"/>
              </a:lnSpc>
              <a:spcAft>
                <a:spcPts val="600"/>
              </a:spcAft>
            </a:pPr>
            <a:r>
              <a:rPr sz="1200" b="1" i="0">
                <a:solidFill>
                  <a:srgbClr val="FFFFFF"/>
                </a:solidFill>
                <a:latin typeface="Arial"/>
              </a:rPr>
              <a:t>→  HIGH-VALUE — 78% sure  →  send the VIP concierge offer</a:t>
            </a:r>
          </a:p>
          <a:p>
            <a:pPr algn="l">
              <a:lnSpc>
                <a:spcPct val="120000"/>
              </a:lnSpc>
              <a:spcAft>
                <a:spcPts val="1000"/>
              </a:spcAft>
            </a:pPr>
            <a:r>
              <a:rPr sz="950" b="0" i="0">
                <a:solidFill>
                  <a:srgbClr val="E8E4DC"/>
                </a:solidFill>
                <a:latin typeface="Arial"/>
              </a:rPr>
              <a:t>Answered in 42 milliseconds, and the receipt shows all 6 stages it passed through.</a:t>
            </a:r>
          </a:p>
          <a:p>
            <a:pPr algn="l">
              <a:lnSpc>
                <a:spcPct val="120000"/>
              </a:lnSpc>
              <a:spcAft>
                <a:spcPts val="0"/>
              </a:spcAft>
            </a:pPr>
            <a:r>
              <a:rPr sz="950" b="0" i="0">
                <a:solidFill>
                  <a:srgbClr val="B9B2A4"/>
                </a:solidFill>
                <a:latin typeface="Arial"/>
              </a:rPr>
              <a:t>Every prediction ends the same way: group + confidence + suggested action + proof of the path it took.</a:t>
            </a:r>
          </a:p>
        </p:txBody>
      </p:sp>
      <p:sp>
        <p:nvSpPr>
          <p:cNvPr id="18" name="TextBox 17"/>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15/17</a:t>
            </a:r>
          </a:p>
        </p:txBody>
      </p:sp>
      <p:sp>
        <p:nvSpPr>
          <p:cNvPr id="19" name="TextBox 18"/>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9601200" cy="274320"/>
          </a:xfrm>
          <a:prstGeom prst="rect">
            <a:avLst/>
          </a:prstGeom>
          <a:noFill/>
        </p:spPr>
        <p:txBody>
          <a:bodyPr wrap="square" lIns="0" rIns="0" tIns="0" bIns="0" anchor="t">
            <a:spAutoFit/>
          </a:bodyPr>
          <a:lstStyle/>
          <a:p>
            <a:pPr algn="l">
              <a:lnSpc>
                <a:spcPct val="106000"/>
              </a:lnSpc>
              <a:spcAft>
                <a:spcPts val="400"/>
              </a:spcAft>
            </a:pPr>
            <a:r>
              <a:rPr sz="1050" b="1" i="0" spc="140">
                <a:solidFill>
                  <a:srgbClr val="8A8478"/>
                </a:solidFill>
                <a:latin typeface="Arial"/>
              </a:rPr>
              <a:t>COURSE CHECKLIST  •  ALL BOXES TICKED</a:t>
            </a:r>
          </a:p>
        </p:txBody>
      </p:sp>
      <p:sp>
        <p:nvSpPr>
          <p:cNvPr id="4" name="TextBox 3"/>
          <p:cNvSpPr txBox="1"/>
          <p:nvPr/>
        </p:nvSpPr>
        <p:spPr>
          <a:xfrm>
            <a:off x="548640" y="749808"/>
            <a:ext cx="11064240" cy="777240"/>
          </a:xfrm>
          <a:prstGeom prst="rect">
            <a:avLst/>
          </a:prstGeom>
          <a:noFill/>
        </p:spPr>
        <p:txBody>
          <a:bodyPr wrap="square" lIns="0" rIns="0" tIns="0" bIns="0" anchor="t">
            <a:spAutoFit/>
          </a:bodyPr>
          <a:lstStyle/>
          <a:p>
            <a:pPr algn="l">
              <a:lnSpc>
                <a:spcPct val="100000"/>
              </a:lnSpc>
              <a:spcAft>
                <a:spcPts val="400"/>
              </a:spcAft>
            </a:pPr>
            <a:r>
              <a:rPr sz="4000" b="1" i="0">
                <a:solidFill>
                  <a:srgbClr val="141414"/>
                </a:solidFill>
                <a:latin typeface="Arial"/>
              </a:rPr>
              <a:t>What the course asked vs what we built</a:t>
            </a:r>
          </a:p>
        </p:txBody>
      </p:sp>
      <p:sp>
        <p:nvSpPr>
          <p:cNvPr id="5" name="Rectangle 4"/>
          <p:cNvSpPr/>
          <p:nvPr/>
        </p:nvSpPr>
        <p:spPr>
          <a:xfrm>
            <a:off x="566928" y="1554480"/>
            <a:ext cx="11055096" cy="17780"/>
          </a:xfrm>
          <a:prstGeom prst="rect">
            <a:avLst/>
          </a:prstGeom>
          <a:solidFill>
            <a:srgbClr val="D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783080"/>
          <a:ext cx="11055096" cy="4279392"/>
        </p:xfrm>
        <a:graphic>
          <a:graphicData uri="http://schemas.openxmlformats.org/drawingml/2006/table">
            <a:tbl>
              <a:tblPr>
                <a:tableStyleId>{5C22544A-7EE6-4342-B048-85BDC9FD1C3A}</a:tableStyleId>
              </a:tblPr>
              <a:tblGrid>
                <a:gridCol w="594360"/>
                <a:gridCol w="3291840"/>
                <a:gridCol w="7168896"/>
              </a:tblGrid>
              <a:tr h="329184">
                <a:tc>
                  <a:txBody>
                    <a:bodyPr wrap="square"/>
                    <a:lstStyle/>
                    <a:p>
                      <a:pPr algn="l">
                        <a:lnSpc>
                          <a:spcPct val="100000"/>
                        </a:lnSpc>
                      </a:pPr>
                      <a:r>
                        <a:rPr sz="1050" b="1">
                          <a:solidFill>
                            <a:srgbClr val="FFFFFF"/>
                          </a:solidFill>
                          <a:latin typeface="Arial"/>
                        </a:rPr>
                        <a:t>CO</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The course asked for</a:t>
                      </a:r>
                    </a:p>
                  </a:txBody>
                  <a:tcPr marL="82296" marR="54864" marT="18288" marB="18288" anchor="ctr">
                    <a:solidFill>
                      <a:srgbClr val="121212"/>
                    </a:solidFill>
                  </a:tcPr>
                </a:tc>
                <a:tc>
                  <a:txBody>
                    <a:bodyPr wrap="square"/>
                    <a:lstStyle/>
                    <a:p>
                      <a:pPr algn="l">
                        <a:lnSpc>
                          <a:spcPct val="100000"/>
                        </a:lnSpc>
                      </a:pPr>
                      <a:r>
                        <a:rPr sz="1050" b="1">
                          <a:solidFill>
                            <a:srgbClr val="FFFFFF"/>
                          </a:solidFill>
                          <a:latin typeface="Arial"/>
                        </a:rPr>
                        <a:t>Where it lives in this project</a:t>
                      </a:r>
                    </a:p>
                  </a:txBody>
                  <a:tcPr marL="82296" marR="54864" marT="18288" marB="18288" anchor="ctr">
                    <a:solidFill>
                      <a:srgbClr val="121212"/>
                    </a:solidFill>
                  </a:tcPr>
                </a:tc>
              </a:tr>
              <a:tr h="658368">
                <a:tc>
                  <a:txBody>
                    <a:bodyPr wrap="square"/>
                    <a:lstStyle/>
                    <a:p>
                      <a:pPr algn="l">
                        <a:lnSpc>
                          <a:spcPct val="100000"/>
                        </a:lnSpc>
                      </a:pPr>
                      <a:r>
                        <a:rPr sz="960" b="1">
                          <a:solidFill>
                            <a:srgbClr val="141414"/>
                          </a:solidFill>
                          <a:latin typeface="Arial"/>
                        </a:rPr>
                        <a:t>CO1</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The full journey: data → model → website → watching</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Slides 2–13 are exactly that journey, in 11 steps. Every prediction also shows its path through all 6 stages — nothing is a black box.</a:t>
                      </a:r>
                    </a:p>
                  </a:txBody>
                  <a:tcPr marL="82296" marR="54864" marT="18288" marB="18288" anchor="ctr">
                    <a:solidFill>
                      <a:srgbClr val="FFFFFF"/>
                    </a:solidFill>
                  </a:tcPr>
                </a:tc>
              </a:tr>
              <a:tr h="658368">
                <a:tc>
                  <a:txBody>
                    <a:bodyPr wrap="square"/>
                    <a:lstStyle/>
                    <a:p>
                      <a:pPr algn="l">
                        <a:lnSpc>
                          <a:spcPct val="100000"/>
                        </a:lnSpc>
                      </a:pPr>
                      <a:r>
                        <a:rPr sz="960" b="1">
                          <a:solidFill>
                            <a:srgbClr val="141414"/>
                          </a:solidFill>
                          <a:latin typeface="Arial"/>
                        </a:rPr>
                        <a:t>CO2</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Simple maths models with fair settings</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Our scorecard (logistic-style model) with tuned settings. Study 66.7% vs practice 66.0% — a 0.7% gap means no memorising, no over-tuning.</a:t>
                      </a:r>
                    </a:p>
                  </a:txBody>
                  <a:tcPr marL="82296" marR="54864" marT="18288" marB="18288" anchor="ctr">
                    <a:solidFill>
                      <a:srgbClr val="F4F0E8"/>
                    </a:solidFill>
                  </a:tcPr>
                </a:tc>
              </a:tr>
              <a:tr h="658368">
                <a:tc>
                  <a:txBody>
                    <a:bodyPr wrap="square"/>
                    <a:lstStyle/>
                    <a:p>
                      <a:pPr algn="l">
                        <a:lnSpc>
                          <a:spcPct val="100000"/>
                        </a:lnSpc>
                      </a:pPr>
                      <a:r>
                        <a:rPr sz="960" b="1">
                          <a:solidFill>
                            <a:srgbClr val="141414"/>
                          </a:solidFill>
                          <a:latin typeface="Arial"/>
                        </a:rPr>
                        <a:t>CO3</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Tree models and combining them</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A single question tree scored 62%; a voting forest of 100 trees reached 75%. We also show which clue each tree weighed most.</a:t>
                      </a:r>
                    </a:p>
                  </a:txBody>
                  <a:tcPr marL="82296" marR="54864" marT="18288" marB="18288" anchor="ctr">
                    <a:solidFill>
                      <a:srgbClr val="FFFFFF"/>
                    </a:solidFill>
                  </a:tcPr>
                </a:tc>
              </a:tr>
              <a:tr h="658368">
                <a:tc>
                  <a:txBody>
                    <a:bodyPr wrap="square"/>
                    <a:lstStyle/>
                    <a:p>
                      <a:pPr algn="l">
                        <a:lnSpc>
                          <a:spcPct val="100000"/>
                        </a:lnSpc>
                      </a:pPr>
                      <a:r>
                        <a:rPr sz="960" b="1">
                          <a:solidFill>
                            <a:srgbClr val="141414"/>
                          </a:solidFill>
                          <a:latin typeface="Arial"/>
                        </a:rPr>
                        <a:t>CO4</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Finding hidden groups and oddballs</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Clustering re-found the same 4 groups on its own (proof they're real); an oddball filter flags ~5% strange shoppers; 2-D maps show the separation.</a:t>
                      </a:r>
                    </a:p>
                  </a:txBody>
                  <a:tcPr marL="82296" marR="54864" marT="18288" marB="18288" anchor="ctr">
                    <a:solidFill>
                      <a:srgbClr val="F4F0E8"/>
                    </a:solidFill>
                  </a:tcPr>
                </a:tc>
              </a:tr>
              <a:tr h="658368">
                <a:tc>
                  <a:txBody>
                    <a:bodyPr wrap="square"/>
                    <a:lstStyle/>
                    <a:p>
                      <a:pPr algn="l">
                        <a:lnSpc>
                          <a:spcPct val="100000"/>
                        </a:lnSpc>
                      </a:pPr>
                      <a:r>
                        <a:rPr sz="960" b="1">
                          <a:solidFill>
                            <a:srgbClr val="141414"/>
                          </a:solidFill>
                          <a:latin typeface="Arial"/>
                        </a:rPr>
                        <a:t>CO5</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Testing done properly</a:t>
                      </a:r>
                    </a:p>
                  </a:txBody>
                  <a:tcPr marL="82296" marR="54864" marT="18288" marB="18288" anchor="ctr">
                    <a:solidFill>
                      <a:srgbClr val="FFFFFF"/>
                    </a:solidFill>
                  </a:tcPr>
                </a:tc>
                <a:tc>
                  <a:txBody>
                    <a:bodyPr wrap="square"/>
                    <a:lstStyle/>
                    <a:p>
                      <a:pPr algn="l">
                        <a:lnSpc>
                          <a:spcPct val="100000"/>
                        </a:lnSpc>
                      </a:pPr>
                      <a:r>
                        <a:rPr sz="960" b="0">
                          <a:solidFill>
                            <a:srgbClr val="2A2722"/>
                          </a:solidFill>
                          <a:latin typeface="Arial"/>
                        </a:rPr>
                        <a:t>Study / practice / exam split kept separate, 5-round re-testing (66.6% ± 0.3), honest 66.4% on the locked exam, and confidence you can trust.</a:t>
                      </a:r>
                    </a:p>
                  </a:txBody>
                  <a:tcPr marL="82296" marR="54864" marT="18288" marB="18288" anchor="ctr">
                    <a:solidFill>
                      <a:srgbClr val="FFFFFF"/>
                    </a:solidFill>
                  </a:tcPr>
                </a:tc>
              </a:tr>
              <a:tr h="658368">
                <a:tc>
                  <a:txBody>
                    <a:bodyPr wrap="square"/>
                    <a:lstStyle/>
                    <a:p>
                      <a:pPr algn="l">
                        <a:lnSpc>
                          <a:spcPct val="100000"/>
                        </a:lnSpc>
                      </a:pPr>
                      <a:r>
                        <a:rPr sz="960" b="1">
                          <a:solidFill>
                            <a:srgbClr val="141414"/>
                          </a:solidFill>
                          <a:latin typeface="Arial"/>
                        </a:rPr>
                        <a:t>CO6</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Real deployment habits</a:t>
                      </a:r>
                    </a:p>
                  </a:txBody>
                  <a:tcPr marL="82296" marR="54864" marT="18288" marB="18288" anchor="ctr">
                    <a:solidFill>
                      <a:srgbClr val="F4F0E8"/>
                    </a:solidFill>
                  </a:tcPr>
                </a:tc>
                <a:tc>
                  <a:txBody>
                    <a:bodyPr wrap="square"/>
                    <a:lstStyle/>
                    <a:p>
                      <a:pPr algn="l">
                        <a:lnSpc>
                          <a:spcPct val="100000"/>
                        </a:lnSpc>
                      </a:pPr>
                      <a:r>
                        <a:rPr sz="960" b="0">
                          <a:solidFill>
                            <a:srgbClr val="2A2722"/>
                          </a:solidFill>
                          <a:latin typeface="Arial"/>
                        </a:rPr>
                        <a:t>Cleaning rules + model saved as versioned files, the website reuses identical rules, logs every answer, and watches for data drift after launch.</a:t>
                      </a:r>
                    </a:p>
                  </a:txBody>
                  <a:tcPr marL="82296" marR="54864" marT="18288" marB="18288" anchor="ctr">
                    <a:solidFill>
                      <a:srgbClr val="F4F0E8"/>
                    </a:solidFill>
                  </a:tcPr>
                </a:tc>
              </a:tr>
            </a:tbl>
          </a:graphicData>
        </a:graphic>
      </p:graphicFrame>
      <p:sp>
        <p:nvSpPr>
          <p:cNvPr id="7" name="TextBox 6"/>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9A9385"/>
                </a:solidFill>
                <a:latin typeface="Arial"/>
              </a:rPr>
              <a:t>RETAIL OPS  •  KAGGLE 50K REAL  •  LENS v3.0  •  16/17</a:t>
            </a:r>
          </a:p>
        </p:txBody>
      </p:sp>
      <p:sp>
        <p:nvSpPr>
          <p:cNvPr id="8" name="TextBox 7"/>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011680"/>
            <a:ext cx="8229600" cy="1280160"/>
          </a:xfrm>
          <a:prstGeom prst="rect">
            <a:avLst/>
          </a:prstGeom>
          <a:noFill/>
        </p:spPr>
        <p:txBody>
          <a:bodyPr wrap="square" lIns="0" rIns="0" tIns="0" bIns="0" anchor="t">
            <a:spAutoFit/>
          </a:bodyPr>
          <a:lstStyle/>
          <a:p>
            <a:pPr algn="l">
              <a:lnSpc>
                <a:spcPct val="106000"/>
              </a:lnSpc>
              <a:spcAft>
                <a:spcPts val="400"/>
              </a:spcAft>
            </a:pPr>
            <a:r>
              <a:rPr sz="6400" b="1" i="0">
                <a:solidFill>
                  <a:srgbClr val="FFFFFF"/>
                </a:solidFill>
                <a:latin typeface="Arial"/>
              </a:rPr>
              <a:t>Thank You</a:t>
            </a:r>
          </a:p>
        </p:txBody>
      </p:sp>
      <p:sp>
        <p:nvSpPr>
          <p:cNvPr id="4" name="TextBox 3"/>
          <p:cNvSpPr txBox="1"/>
          <p:nvPr/>
        </p:nvSpPr>
        <p:spPr>
          <a:xfrm>
            <a:off x="594360" y="3246120"/>
            <a:ext cx="8412480" cy="822960"/>
          </a:xfrm>
          <a:prstGeom prst="rect">
            <a:avLst/>
          </a:prstGeom>
          <a:noFill/>
        </p:spPr>
        <p:txBody>
          <a:bodyPr wrap="square" lIns="0" rIns="0" tIns="0" bIns="0" anchor="t">
            <a:spAutoFit/>
          </a:bodyPr>
          <a:lstStyle/>
          <a:p>
            <a:pPr algn="l">
              <a:lnSpc>
                <a:spcPct val="125000"/>
              </a:lnSpc>
              <a:spcAft>
                <a:spcPts val="400"/>
              </a:spcAft>
            </a:pPr>
            <a:r>
              <a:rPr sz="1500" b="0" i="0">
                <a:solidFill>
                  <a:srgbClr val="C9C3B7"/>
                </a:solidFill>
                <a:latin typeface="Arial"/>
              </a:rPr>
              <a:t>50,000 real customers. One honest model. A tool the team can open tomorrow.</a:t>
            </a:r>
          </a:p>
        </p:txBody>
      </p:sp>
      <p:sp>
        <p:nvSpPr>
          <p:cNvPr id="5" name="Rounded Rectangle 4"/>
          <p:cNvSpPr/>
          <p:nvPr/>
        </p:nvSpPr>
        <p:spPr>
          <a:xfrm>
            <a:off x="594360" y="4343400"/>
            <a:ext cx="2377440" cy="384048"/>
          </a:xfrm>
          <a:prstGeom prst="roundRect">
            <a:avLst>
              <a:gd name="adj" fmla="val 50000"/>
            </a:avLst>
          </a:prstGeom>
          <a:solidFill>
            <a:srgbClr val="121212"/>
          </a:solidFill>
          <a:ln w="15240">
            <a:solidFill>
              <a:srgbClr val="5A5448"/>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000" b="1">
                <a:solidFill>
                  <a:srgbClr val="FFFFFF"/>
                </a:solidFill>
                <a:latin typeface="Arial"/>
              </a:rPr>
              <a:t>66.4% honest accuracy</a:t>
            </a:r>
          </a:p>
        </p:txBody>
      </p:sp>
      <p:sp>
        <p:nvSpPr>
          <p:cNvPr id="6" name="Rounded Rectangle 5"/>
          <p:cNvSpPr/>
          <p:nvPr/>
        </p:nvSpPr>
        <p:spPr>
          <a:xfrm>
            <a:off x="3154680" y="4343400"/>
            <a:ext cx="2194560" cy="384048"/>
          </a:xfrm>
          <a:prstGeom prst="roundRect">
            <a:avLst>
              <a:gd name="adj" fmla="val 50000"/>
            </a:avLst>
          </a:prstGeom>
          <a:solidFill>
            <a:srgbClr val="121212"/>
          </a:solidFill>
          <a:ln w="15240">
            <a:solidFill>
              <a:srgbClr val="5A5448"/>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000" b="1">
                <a:solidFill>
                  <a:srgbClr val="FFFFFF"/>
                </a:solidFill>
                <a:latin typeface="Arial"/>
              </a:rPr>
              <a:t>0.87 model score</a:t>
            </a:r>
          </a:p>
        </p:txBody>
      </p:sp>
      <p:sp>
        <p:nvSpPr>
          <p:cNvPr id="7" name="Rounded Rectangle 6"/>
          <p:cNvSpPr/>
          <p:nvPr/>
        </p:nvSpPr>
        <p:spPr>
          <a:xfrm>
            <a:off x="5532120" y="4343400"/>
            <a:ext cx="2377440" cy="384048"/>
          </a:xfrm>
          <a:prstGeom prst="roundRect">
            <a:avLst>
              <a:gd name="adj" fmla="val 50000"/>
            </a:avLst>
          </a:prstGeom>
          <a:solidFill>
            <a:srgbClr val="6B21A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1000" b="1">
                <a:solidFill>
                  <a:srgbClr val="FFFFFF"/>
                </a:solidFill>
                <a:latin typeface="Arial"/>
              </a:rPr>
              <a:t>Live at localhost:5000</a:t>
            </a:r>
          </a:p>
        </p:txBody>
      </p:sp>
      <p:sp>
        <p:nvSpPr>
          <p:cNvPr id="8" name="TextBox 7"/>
          <p:cNvSpPr txBox="1"/>
          <p:nvPr/>
        </p:nvSpPr>
        <p:spPr>
          <a:xfrm>
            <a:off x="566928" y="6492240"/>
            <a:ext cx="6858000" cy="228600"/>
          </a:xfrm>
          <a:prstGeom prst="rect">
            <a:avLst/>
          </a:prstGeom>
          <a:noFill/>
        </p:spPr>
        <p:txBody>
          <a:bodyPr wrap="square" lIns="0" rIns="0" tIns="0" bIns="0" anchor="t">
            <a:spAutoFit/>
          </a:bodyPr>
          <a:lstStyle/>
          <a:p>
            <a:pPr algn="l">
              <a:lnSpc>
                <a:spcPct val="106000"/>
              </a:lnSpc>
              <a:spcAft>
                <a:spcPts val="400"/>
              </a:spcAft>
            </a:pPr>
            <a:r>
              <a:rPr sz="750" b="0" i="0" spc="100">
                <a:solidFill>
                  <a:srgbClr val="777268"/>
                </a:solidFill>
                <a:latin typeface="Arial"/>
              </a:rPr>
              <a:t>RETAIL OPS  •  KAGGLE 50K REAL  •  LENS v3.0  •  17/17</a:t>
            </a:r>
          </a:p>
        </p:txBody>
      </p:sp>
      <p:sp>
        <p:nvSpPr>
          <p:cNvPr id="9" name="TextBox 8"/>
          <p:cNvSpPr txBox="1"/>
          <p:nvPr/>
        </p:nvSpPr>
        <p:spPr>
          <a:xfrm>
            <a:off x="11018520" y="6272784"/>
            <a:ext cx="822960" cy="548640"/>
          </a:xfrm>
          <a:prstGeom prst="rect">
            <a:avLst/>
          </a:prstGeom>
          <a:noFill/>
        </p:spPr>
        <p:txBody>
          <a:bodyPr wrap="square" lIns="0" rIns="0" tIns="0" bIns="0" anchor="t">
            <a:spAutoFit/>
          </a:bodyPr>
          <a:lstStyle/>
          <a:p>
            <a:pPr algn="r">
              <a:lnSpc>
                <a:spcPct val="106000"/>
              </a:lnSpc>
              <a:spcAft>
                <a:spcPts val="400"/>
              </a:spcAft>
            </a:pPr>
            <a:r>
              <a:rPr sz="2400" b="1" i="0">
                <a:solidFill>
                  <a:srgbClr val="C7C0B1"/>
                </a:solidFill>
                <a:latin typeface="Aria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