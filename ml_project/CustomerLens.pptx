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223760" y="137160"/>
            <a:ext cx="5120640" cy="2651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90000"/>
              </a:lnSpc>
              <a:spcAft>
                <a:spcPts val="400"/>
              </a:spcAft>
            </a:pPr>
            <a:r>
              <a:rPr sz="20000" b="1" i="0">
                <a:solidFill>
                  <a:srgbClr val="EEE8DB"/>
                </a:solidFill>
                <a:latin typeface="Arial"/>
              </a:rPr>
              <a:t>50K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008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050" b="1" i="0" spc="140">
                <a:solidFill>
                  <a:srgbClr val="8A8478"/>
                </a:solidFill>
                <a:latin typeface="Arial"/>
              </a:rPr>
              <a:t>MACHINE LEARNING PROJECT  •  CLASSIFICATION  •  REAL DATA FROM KAGGLE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987552"/>
            <a:ext cx="2240280" cy="27940"/>
          </a:xfrm>
          <a:prstGeom prst="rect">
            <a:avLst/>
          </a:prstGeom>
          <a:solidFill>
            <a:srgbClr val="6B21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70432"/>
            <a:ext cx="6583680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  <a:spcAft>
                <a:spcPts val="400"/>
              </a:spcAft>
            </a:pPr>
            <a:r>
              <a:rPr sz="5400" b="1" i="0">
                <a:solidFill>
                  <a:srgbClr val="141414"/>
                </a:solidFill>
                <a:latin typeface="Arial"/>
              </a:rPr>
              <a:t>Customer</a:t>
            </a:r>
          </a:p>
          <a:p>
            <a:pPr algn="l">
              <a:lnSpc>
                <a:spcPct val="102000"/>
              </a:lnSpc>
              <a:spcAft>
                <a:spcPts val="400"/>
              </a:spcAft>
            </a:pPr>
            <a:r>
              <a:rPr sz="5400" b="1" i="0">
                <a:solidFill>
                  <a:srgbClr val="141414"/>
                </a:solidFill>
                <a:latin typeface="Arial"/>
              </a:rPr>
              <a:t>Category</a:t>
            </a:r>
          </a:p>
          <a:p>
            <a:pPr algn="l">
              <a:lnSpc>
                <a:spcPct val="102000"/>
              </a:lnSpc>
              <a:spcAft>
                <a:spcPts val="400"/>
              </a:spcAft>
            </a:pPr>
            <a:r>
              <a:rPr sz="5400" b="1" i="0">
                <a:solidFill>
                  <a:srgbClr val="141414"/>
                </a:solidFill>
                <a:latin typeface="Arial"/>
              </a:rPr>
              <a:t>Prediction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3639312"/>
            <a:ext cx="59436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400"/>
              </a:spcAft>
            </a:pPr>
            <a:r>
              <a:rPr sz="1250" b="0" i="0">
                <a:solidFill>
                  <a:srgbClr val="4A453C"/>
                </a:solidFill>
                <a:latin typeface="Arial"/>
              </a:rPr>
              <a:t>Every customer is different — yet most businesses treat them all the same. This project reads 50,000 real shopping histories, learns the four customer types hidden inside, and can explain every call it makes. A working tool, not a notebook.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4864608"/>
            <a:ext cx="4206240" cy="138988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3DD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40080" y="4992624"/>
            <a:ext cx="50292" cy="1133856"/>
          </a:xfrm>
          <a:prstGeom prst="roundRect">
            <a:avLst>
              <a:gd name="adj" fmla="val 50000"/>
            </a:avLst>
          </a:prstGeom>
          <a:solidFill>
            <a:srgbClr val="6B21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5010912"/>
            <a:ext cx="3803904" cy="11155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Aft>
                <a:spcPts val="800"/>
              </a:spcAft>
            </a:pPr>
            <a:r>
              <a:rPr sz="1050" b="1" i="0" spc="90">
                <a:solidFill>
                  <a:srgbClr val="141414"/>
                </a:solidFill>
                <a:latin typeface="Arial"/>
              </a:rPr>
              <a:t>THE DATA BEHIND IT</a:t>
            </a:r>
          </a:p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980" b="0" i="0">
                <a:solidFill>
                  <a:srgbClr val="2A2722"/>
                </a:solidFill>
                <a:latin typeface="Arial"/>
              </a:rPr>
              <a:t>50,000 real retail customers, from a public Kaggle dataset (CC0)</a:t>
            </a:r>
          </a:p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980" b="0" i="0">
                <a:solidFill>
                  <a:srgbClr val="2A2722"/>
                </a:solidFill>
                <a:latin typeface="Arial"/>
              </a:rPr>
              <a:t>14 details each — spending, visits, returns, tenure, complaints…</a:t>
            </a:r>
          </a:p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980" b="0" i="0">
                <a:solidFill>
                  <a:srgbClr val="2A2722"/>
                </a:solidFill>
                <a:latin typeface="Arial"/>
              </a:rPr>
              <a:t>Occasional 44%  •  Regular 27%  •  Loyal 18%  •  High-Value 11%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0" y="1298448"/>
            <a:ext cx="265176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6000"/>
              </a:lnSpc>
              <a:spcAft>
                <a:spcPts val="400"/>
              </a:spcAft>
            </a:pPr>
            <a:r>
              <a:rPr sz="6200" b="1" i="0">
                <a:solidFill>
                  <a:srgbClr val="141414"/>
                </a:solidFill>
                <a:latin typeface="Arial"/>
              </a:rPr>
              <a:t>50K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464040" y="2212848"/>
            <a:ext cx="2240280" cy="25400"/>
          </a:xfrm>
          <a:prstGeom prst="rect">
            <a:avLst/>
          </a:prstGeom>
          <a:solidFill>
            <a:srgbClr val="CFC8B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882127" y="2560320"/>
            <a:ext cx="1627632" cy="111556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3DD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27848" y="2651760"/>
            <a:ext cx="1536192" cy="9509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100"/>
              </a:spcAft>
            </a:pPr>
            <a:r>
              <a:rPr sz="2600" b="1">
                <a:solidFill>
                  <a:srgbClr val="141414"/>
                </a:solidFill>
                <a:latin typeface="Arial"/>
              </a:rPr>
              <a:t>66.4%</a:t>
            </a:r>
          </a:p>
          <a:p>
            <a:pPr algn="ctr">
              <a:lnSpc>
                <a:spcPct val="106000"/>
              </a:lnSpc>
              <a:spcAft>
                <a:spcPts val="0"/>
              </a:spcAft>
            </a:pPr>
            <a:r>
              <a:rPr sz="850" b="1" i="0" spc="80">
                <a:solidFill>
                  <a:srgbClr val="6E685C"/>
                </a:solidFill>
                <a:latin typeface="Arial"/>
              </a:rPr>
              <a:t>ACCURACY</a:t>
            </a:r>
          </a:p>
          <a:p>
            <a:pPr algn="ctr">
              <a:lnSpc>
                <a:spcPct val="106000"/>
              </a:lnSpc>
              <a:spcAft>
                <a:spcPts val="0"/>
              </a:spcAft>
            </a:pPr>
            <a:r>
              <a:rPr sz="750" b="0" i="0">
                <a:solidFill>
                  <a:srgbClr val="B5AEA0"/>
                </a:solidFill>
                <a:latin typeface="Arial"/>
              </a:rPr>
              <a:t>7,500 tested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646920" y="2560320"/>
            <a:ext cx="1627632" cy="111556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3DD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92640" y="2651760"/>
            <a:ext cx="1536192" cy="9509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100"/>
              </a:spcAft>
            </a:pPr>
            <a:r>
              <a:rPr sz="2600" b="1">
                <a:solidFill>
                  <a:srgbClr val="141414"/>
                </a:solidFill>
                <a:latin typeface="Arial"/>
              </a:rPr>
              <a:t>0.87</a:t>
            </a:r>
          </a:p>
          <a:p>
            <a:pPr algn="ctr">
              <a:lnSpc>
                <a:spcPct val="106000"/>
              </a:lnSpc>
              <a:spcAft>
                <a:spcPts val="0"/>
              </a:spcAft>
            </a:pPr>
            <a:r>
              <a:rPr sz="850" b="1" i="0" spc="80">
                <a:solidFill>
                  <a:srgbClr val="6E685C"/>
                </a:solidFill>
                <a:latin typeface="Arial"/>
              </a:rPr>
              <a:t>MODEL SCORE</a:t>
            </a:r>
          </a:p>
          <a:p>
            <a:pPr algn="ctr">
              <a:lnSpc>
                <a:spcPct val="106000"/>
              </a:lnSpc>
              <a:spcAft>
                <a:spcPts val="0"/>
              </a:spcAft>
            </a:pPr>
            <a:r>
              <a:rPr sz="750" b="0" i="0">
                <a:solidFill>
                  <a:srgbClr val="B5AEA0"/>
                </a:solidFill>
                <a:latin typeface="Arial"/>
              </a:rPr>
              <a:t>out of 1.00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882127" y="3822191"/>
            <a:ext cx="1627632" cy="111556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3DD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927848" y="3913631"/>
            <a:ext cx="1536192" cy="9509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100"/>
              </a:spcAft>
            </a:pPr>
            <a:r>
              <a:rPr sz="2600" b="1">
                <a:solidFill>
                  <a:srgbClr val="141414"/>
                </a:solidFill>
                <a:latin typeface="Arial"/>
              </a:rPr>
              <a:t>12→16</a:t>
            </a:r>
          </a:p>
          <a:p>
            <a:pPr algn="ctr">
              <a:lnSpc>
                <a:spcPct val="106000"/>
              </a:lnSpc>
              <a:spcAft>
                <a:spcPts val="0"/>
              </a:spcAft>
            </a:pPr>
            <a:r>
              <a:rPr sz="850" b="1" i="0" spc="80">
                <a:solidFill>
                  <a:srgbClr val="6E685C"/>
                </a:solidFill>
                <a:latin typeface="Arial"/>
              </a:rPr>
              <a:t>DETAILS USED</a:t>
            </a:r>
          </a:p>
          <a:p>
            <a:pPr algn="ctr">
              <a:lnSpc>
                <a:spcPct val="106000"/>
              </a:lnSpc>
              <a:spcAft>
                <a:spcPts val="0"/>
              </a:spcAft>
            </a:pPr>
            <a:r>
              <a:rPr sz="750" b="0" i="0">
                <a:solidFill>
                  <a:srgbClr val="B5AEA0"/>
                </a:solidFill>
                <a:latin typeface="Arial"/>
              </a:rPr>
              <a:t>cleaned, scaled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646920" y="3822191"/>
            <a:ext cx="1627632" cy="111556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3DD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92640" y="3913631"/>
            <a:ext cx="1536192" cy="9509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100"/>
              </a:spcAft>
            </a:pPr>
            <a:r>
              <a:rPr sz="2000" b="1">
                <a:solidFill>
                  <a:srgbClr val="141414"/>
                </a:solidFill>
                <a:latin typeface="Arial"/>
              </a:rPr>
              <a:t>Lens v3.0</a:t>
            </a:r>
          </a:p>
          <a:p>
            <a:pPr algn="ctr">
              <a:lnSpc>
                <a:spcPct val="106000"/>
              </a:lnSpc>
              <a:spcAft>
                <a:spcPts val="0"/>
              </a:spcAft>
            </a:pPr>
            <a:r>
              <a:rPr sz="850" b="1" i="0" spc="80">
                <a:solidFill>
                  <a:srgbClr val="6E685C"/>
                </a:solidFill>
                <a:latin typeface="Arial"/>
              </a:rPr>
              <a:t>LIVE WEBSITE</a:t>
            </a:r>
          </a:p>
          <a:p>
            <a:pPr algn="ctr">
              <a:lnSpc>
                <a:spcPct val="106000"/>
              </a:lnSpc>
              <a:spcAft>
                <a:spcPts val="0"/>
              </a:spcAft>
            </a:pPr>
            <a:r>
              <a:rPr sz="750" b="0" i="0">
                <a:solidFill>
                  <a:srgbClr val="B5AEA0"/>
                </a:solidFill>
                <a:latin typeface="Arial"/>
              </a:rPr>
              <a:t>runs in a browser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6928" y="6492240"/>
            <a:ext cx="6858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750" b="0" i="0" spc="100">
                <a:solidFill>
                  <a:srgbClr val="9A9385"/>
                </a:solidFill>
                <a:latin typeface="Arial"/>
              </a:rPr>
              <a:t>RETAIL OPS  •  KAGGLE 50K REAL  •  LENS v3.0  •  01/18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18520" y="6272784"/>
            <a:ext cx="8229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6000"/>
              </a:lnSpc>
              <a:spcAft>
                <a:spcPts val="400"/>
              </a:spcAft>
            </a:pPr>
            <a:r>
              <a:rPr sz="2400" b="1" i="0">
                <a:solidFill>
                  <a:srgbClr val="C7C0B1"/>
                </a:solidFill>
                <a:latin typeface="Arial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050" b="1" i="0" spc="140">
                <a:solidFill>
                  <a:srgbClr val="8A8478"/>
                </a:solidFill>
                <a:latin typeface="Arial"/>
              </a:rPr>
              <a:t>ABSTRACT  •  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49808"/>
            <a:ext cx="1106424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4000" b="1" i="0">
                <a:solidFill>
                  <a:srgbClr val="141414"/>
                </a:solidFill>
                <a:latin typeface="Arial"/>
              </a:rPr>
              <a:t>The project in one page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554480"/>
            <a:ext cx="11055096" cy="17780"/>
          </a:xfrm>
          <a:prstGeom prst="rect">
            <a:avLst/>
          </a:prstGeom>
          <a:solidFill>
            <a:srgbClr val="DDD6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66928" y="1783080"/>
            <a:ext cx="5440680" cy="32918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3DD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1911095"/>
            <a:ext cx="50292" cy="3035808"/>
          </a:xfrm>
          <a:prstGeom prst="roundRect">
            <a:avLst>
              <a:gd name="adj" fmla="val 50000"/>
            </a:avLst>
          </a:prstGeom>
          <a:solidFill>
            <a:srgbClr val="6B21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938528"/>
            <a:ext cx="4956048" cy="3017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Aft>
                <a:spcPts val="700"/>
              </a:spcAft>
            </a:pPr>
            <a:r>
              <a:rPr sz="1050" b="1" i="0" spc="90">
                <a:solidFill>
                  <a:srgbClr val="141414"/>
                </a:solidFill>
                <a:latin typeface="Arial"/>
              </a:rPr>
              <a:t>ABSTRACT</a:t>
            </a:r>
          </a:p>
          <a:p>
            <a:pPr algn="l">
              <a:lnSpc>
                <a:spcPct val="124000"/>
              </a:lnSpc>
              <a:spcAft>
                <a:spcPts val="800"/>
              </a:spcAft>
            </a:pPr>
            <a:r>
              <a:rPr sz="1030" b="0" i="0">
                <a:solidFill>
                  <a:srgbClr val="2A2722"/>
                </a:solidFill>
                <a:latin typeface="Arial"/>
              </a:rPr>
              <a:t>This project turns raw retail data into a system the business can actually use. From 50,000 real customer records — incomplete and uneven the way real data always is — we clean, prepare and study the data, then train a transparent scoring model, multinomial logistic regression, to recognise four customer types.</a:t>
            </a:r>
          </a:p>
          <a:p>
            <a:pPr algn="l">
              <a:lnSpc>
                <a:spcPct val="124000"/>
              </a:lnSpc>
              <a:spcAft>
                <a:spcPts val="1000"/>
              </a:spcAft>
            </a:pPr>
            <a:r>
              <a:rPr sz="1030" b="0" i="0">
                <a:solidFill>
                  <a:srgbClr val="2A2722"/>
                </a:solidFill>
                <a:latin typeface="Arial"/>
              </a:rPr>
              <a:t>On 7,500 customers held back as a final exam, it sorts 66.4% correctly — far above the 25% of blind guessing — with a 0.87 separation score and confidence levels that mean what they say. The result ships as Lens v3.0: a working web tool that predicts, explains itself, and watches its own data for change.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30" b="0" i="0">
                <a:solidFill>
                  <a:srgbClr val="8A8478"/>
                </a:solidFill>
                <a:latin typeface="Arial"/>
              </a:rPr>
              <a:t>Keywords — classification  •  customer analytics  •  logistic regression  •  deployment  •  drift monitoring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0488" y="1783080"/>
            <a:ext cx="5440680" cy="32918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3DD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172200" y="1911095"/>
            <a:ext cx="50292" cy="3035808"/>
          </a:xfrm>
          <a:prstGeom prst="roundRect">
            <a:avLst>
              <a:gd name="adj" fmla="val 50000"/>
            </a:avLst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46520" y="1938528"/>
            <a:ext cx="4956048" cy="3017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Aft>
                <a:spcPts val="700"/>
              </a:spcAft>
            </a:pPr>
            <a:r>
              <a:rPr sz="1050" b="1" i="0" spc="90">
                <a:solidFill>
                  <a:srgbClr val="141414"/>
                </a:solidFill>
                <a:latin typeface="Arial"/>
              </a:rPr>
              <a:t>PROBLEM STATEMENT</a:t>
            </a:r>
          </a:p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980" b="1" i="0" spc="60">
                <a:solidFill>
                  <a:srgbClr val="141414"/>
                </a:solidFill>
                <a:latin typeface="Arial"/>
              </a:rPr>
              <a:t>THE SITUATION</a:t>
            </a:r>
          </a:p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000" b="0" i="0">
                <a:solidFill>
                  <a:srgbClr val="2A2722"/>
                </a:solidFill>
                <a:latin typeface="Arial"/>
              </a:rPr>
              <a:t>Retail teams serve very different customers with one generic playbook. Casual buyers drift away unnoticed, loyal ones go unrewarded, and the High-Value few — 11% of customers, most of the value — are treated like everyone else. The signal to do better already sits in everyday records: what people spend, how often they visit, how long they stay.</a:t>
            </a:r>
          </a:p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980" b="1" i="0" spc="60">
                <a:solidFill>
                  <a:srgbClr val="141414"/>
                </a:solidFill>
                <a:latin typeface="Arial"/>
              </a:rPr>
              <a:t>THE TASK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00" b="0" i="0">
                <a:solidFill>
                  <a:srgbClr val="2A2722"/>
                </a:solidFill>
                <a:latin typeface="Arial"/>
              </a:rPr>
              <a:t>Given twelve everyday details about a customer, predict which of the four segments they belong to — with a confidence level and a recommended next action. The model must be explainable to a business user, live on a website the team can open, and keep watching its own accuracy as customers change.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5285232"/>
            <a:ext cx="2688336" cy="93268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3DD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49808" y="5577840"/>
            <a:ext cx="146304" cy="146304"/>
          </a:xfrm>
          <a:prstGeom prst="ellipse">
            <a:avLst/>
          </a:prstGeom>
          <a:solidFill>
            <a:srgbClr val="8A7A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5449824"/>
            <a:ext cx="214884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200"/>
              </a:spcAft>
            </a:pPr>
            <a:r>
              <a:rPr sz="1150" b="1">
                <a:solidFill>
                  <a:srgbClr val="141414"/>
                </a:solidFill>
                <a:latin typeface="Arial"/>
              </a:rPr>
              <a:t>Occasional  </a:t>
            </a:r>
            <a:r>
              <a:rPr sz="1150" b="1">
                <a:solidFill>
                  <a:srgbClr val="6B21A8"/>
                </a:solidFill>
                <a:latin typeface="Arial"/>
              </a:rPr>
              <a:t>44%</a:t>
            </a:r>
          </a:p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880" b="0" i="0">
                <a:solidFill>
                  <a:srgbClr val="8A8478"/>
                </a:solidFill>
                <a:latin typeface="Arial"/>
              </a:rPr>
              <a:t>drifting — needs a reason to return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355848" y="5285232"/>
            <a:ext cx="2688336" cy="93268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3DD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538728" y="5577840"/>
            <a:ext cx="146304" cy="146304"/>
          </a:xfrm>
          <a:prstGeom prst="ellipse">
            <a:avLst/>
          </a:prstGeom>
          <a:solidFill>
            <a:srgbClr val="4E85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794760" y="5449824"/>
            <a:ext cx="214884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200"/>
              </a:spcAft>
            </a:pPr>
            <a:r>
              <a:rPr sz="1150" b="1">
                <a:solidFill>
                  <a:srgbClr val="141414"/>
                </a:solidFill>
                <a:latin typeface="Arial"/>
              </a:rPr>
              <a:t>Regular  </a:t>
            </a:r>
            <a:r>
              <a:rPr sz="1150" b="1">
                <a:solidFill>
                  <a:srgbClr val="6B21A8"/>
                </a:solidFill>
                <a:latin typeface="Arial"/>
              </a:rPr>
              <a:t>27%</a:t>
            </a:r>
          </a:p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880" b="0" i="0">
                <a:solidFill>
                  <a:srgbClr val="8A8478"/>
                </a:solidFill>
                <a:latin typeface="Arial"/>
              </a:rPr>
              <a:t>the middle ground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44768" y="5285232"/>
            <a:ext cx="2688336" cy="93268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3DD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327648" y="5577840"/>
            <a:ext cx="146304" cy="146304"/>
          </a:xfrm>
          <a:prstGeom prst="ellipse">
            <a:avLst/>
          </a:prstGeom>
          <a:solidFill>
            <a:srgbClr val="5170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79" y="5449824"/>
            <a:ext cx="214884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200"/>
              </a:spcAft>
            </a:pPr>
            <a:r>
              <a:rPr sz="1150" b="1">
                <a:solidFill>
                  <a:srgbClr val="141414"/>
                </a:solidFill>
                <a:latin typeface="Arial"/>
              </a:rPr>
              <a:t>Loyal  </a:t>
            </a:r>
            <a:r>
              <a:rPr sz="1150" b="1">
                <a:solidFill>
                  <a:srgbClr val="6B21A8"/>
                </a:solidFill>
                <a:latin typeface="Arial"/>
              </a:rPr>
              <a:t>18%</a:t>
            </a:r>
          </a:p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880" b="0" i="0">
                <a:solidFill>
                  <a:srgbClr val="8A8478"/>
                </a:solidFill>
                <a:latin typeface="Arial"/>
              </a:rPr>
              <a:t>shops weekly, stays for years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933687" y="5285232"/>
            <a:ext cx="2688336" cy="93268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3DD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116567" y="5577840"/>
            <a:ext cx="146304" cy="146304"/>
          </a:xfrm>
          <a:prstGeom prst="ellipse">
            <a:avLst/>
          </a:prstGeom>
          <a:solidFill>
            <a:srgbClr val="6B21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372599" y="5449824"/>
            <a:ext cx="214884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200"/>
              </a:spcAft>
            </a:pPr>
            <a:r>
              <a:rPr sz="1150" b="1">
                <a:solidFill>
                  <a:srgbClr val="141414"/>
                </a:solidFill>
                <a:latin typeface="Arial"/>
              </a:rPr>
              <a:t>High-Value  </a:t>
            </a:r>
            <a:r>
              <a:rPr sz="1150" b="1">
                <a:solidFill>
                  <a:srgbClr val="6B21A8"/>
                </a:solidFill>
                <a:latin typeface="Arial"/>
              </a:rPr>
              <a:t>11%</a:t>
            </a:r>
          </a:p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880" b="0" i="0">
                <a:solidFill>
                  <a:srgbClr val="8A8478"/>
                </a:solidFill>
                <a:latin typeface="Arial"/>
              </a:rPr>
              <a:t>few, but most of the value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6928" y="6492240"/>
            <a:ext cx="6858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750" b="0" i="0" spc="100">
                <a:solidFill>
                  <a:srgbClr val="9A9385"/>
                </a:solidFill>
                <a:latin typeface="Arial"/>
              </a:rPr>
              <a:t>RETAIL OPS  •  KAGGLE 50K REAL  •  LENS v3.0  •  02/18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18520" y="6272784"/>
            <a:ext cx="8229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6000"/>
              </a:lnSpc>
              <a:spcAft>
                <a:spcPts val="400"/>
              </a:spcAft>
            </a:pPr>
            <a:r>
              <a:rPr sz="2400" b="1" i="0">
                <a:solidFill>
                  <a:srgbClr val="C7C0B1"/>
                </a:solidFill>
                <a:latin typeface="Arial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050" b="1" i="0" spc="140">
                <a:solidFill>
                  <a:srgbClr val="8A8478"/>
                </a:solidFill>
                <a:latin typeface="Arial"/>
              </a:rPr>
              <a:t>ROADMAP  •  11 STEPS  •  REAL 50K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49808"/>
            <a:ext cx="1106424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4000" b="1" i="0">
                <a:solidFill>
                  <a:srgbClr val="141414"/>
                </a:solidFill>
                <a:latin typeface="Arial"/>
              </a:rPr>
              <a:t>From raw data to live app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554480"/>
            <a:ext cx="11055096" cy="17780"/>
          </a:xfrm>
          <a:prstGeom prst="rect">
            <a:avLst/>
          </a:prstGeom>
          <a:solidFill>
            <a:srgbClr val="DDD6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45236" y="1938528"/>
            <a:ext cx="20320" cy="3995928"/>
          </a:xfrm>
          <a:prstGeom prst="rect">
            <a:avLst/>
          </a:prstGeom>
          <a:solidFill>
            <a:srgbClr val="D8D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85800" y="1897380"/>
            <a:ext cx="123444" cy="123444"/>
          </a:xfrm>
          <a:prstGeom prst="ellipse">
            <a:avLst/>
          </a:prstGeom>
          <a:solidFill>
            <a:srgbClr val="6B21A8"/>
          </a:solidFill>
          <a:ln w="19050">
            <a:solidFill>
              <a:srgbClr val="F7F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82880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950" b="1" i="0">
                <a:solidFill>
                  <a:srgbClr val="6B21A8"/>
                </a:solidFill>
                <a:latin typeface="Arial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1801368"/>
            <a:ext cx="1783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250" b="1" i="0">
                <a:solidFill>
                  <a:srgbClr val="141414"/>
                </a:solidFill>
                <a:latin typeface="Arial"/>
              </a:rPr>
              <a:t>Problem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91840" y="1837944"/>
            <a:ext cx="2423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000" b="0" i="0">
                <a:solidFill>
                  <a:srgbClr val="8A8478"/>
                </a:solidFill>
                <a:latin typeface="Arial"/>
              </a:rPr>
              <a:t>the question we're answering</a:t>
            </a:r>
          </a:p>
        </p:txBody>
      </p:sp>
      <p:sp>
        <p:nvSpPr>
          <p:cNvPr id="11" name="Oval 10"/>
          <p:cNvSpPr/>
          <p:nvPr/>
        </p:nvSpPr>
        <p:spPr>
          <a:xfrm>
            <a:off x="685800" y="2296972"/>
            <a:ext cx="123444" cy="123444"/>
          </a:xfrm>
          <a:prstGeom prst="ellipse">
            <a:avLst/>
          </a:prstGeom>
          <a:solidFill>
            <a:srgbClr val="C5BEAE"/>
          </a:solidFill>
          <a:ln w="19050">
            <a:solidFill>
              <a:srgbClr val="F7F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2228392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950" b="1" i="0">
                <a:solidFill>
                  <a:srgbClr val="B5AEA0"/>
                </a:solidFill>
                <a:latin typeface="Arial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63040" y="2200960"/>
            <a:ext cx="1783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250" b="1" i="0">
                <a:solidFill>
                  <a:srgbClr val="141414"/>
                </a:solidFill>
                <a:latin typeface="Arial"/>
              </a:rPr>
              <a:t>Dataset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91840" y="2237536"/>
            <a:ext cx="2423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000" b="0" i="0">
                <a:solidFill>
                  <a:srgbClr val="8A8478"/>
                </a:solidFill>
                <a:latin typeface="Arial"/>
              </a:rPr>
              <a:t>50,000 real customer records</a:t>
            </a:r>
          </a:p>
        </p:txBody>
      </p:sp>
      <p:sp>
        <p:nvSpPr>
          <p:cNvPr id="15" name="Oval 14"/>
          <p:cNvSpPr/>
          <p:nvPr/>
        </p:nvSpPr>
        <p:spPr>
          <a:xfrm>
            <a:off x="685800" y="2696565"/>
            <a:ext cx="123444" cy="123444"/>
          </a:xfrm>
          <a:prstGeom prst="ellipse">
            <a:avLst/>
          </a:prstGeom>
          <a:solidFill>
            <a:srgbClr val="C5BEAE"/>
          </a:solidFill>
          <a:ln w="19050">
            <a:solidFill>
              <a:srgbClr val="F7F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2627985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950" b="1" i="0">
                <a:solidFill>
                  <a:srgbClr val="B5AEA0"/>
                </a:solidFill>
                <a:latin typeface="Arial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2600553"/>
            <a:ext cx="1783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250" b="1" i="0">
                <a:solidFill>
                  <a:srgbClr val="141414"/>
                </a:solidFill>
                <a:latin typeface="Arial"/>
              </a:rPr>
              <a:t>Understanding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91840" y="2637129"/>
            <a:ext cx="2423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000" b="0" i="0">
                <a:solidFill>
                  <a:srgbClr val="8A8478"/>
                </a:solidFill>
                <a:latin typeface="Arial"/>
              </a:rPr>
              <a:t>what's inside — and what's missing</a:t>
            </a:r>
          </a:p>
        </p:txBody>
      </p:sp>
      <p:sp>
        <p:nvSpPr>
          <p:cNvPr id="19" name="Oval 18"/>
          <p:cNvSpPr/>
          <p:nvPr/>
        </p:nvSpPr>
        <p:spPr>
          <a:xfrm>
            <a:off x="685800" y="3096158"/>
            <a:ext cx="123444" cy="123444"/>
          </a:xfrm>
          <a:prstGeom prst="ellipse">
            <a:avLst/>
          </a:prstGeom>
          <a:solidFill>
            <a:srgbClr val="C5BEAE"/>
          </a:solidFill>
          <a:ln w="19050">
            <a:solidFill>
              <a:srgbClr val="F7F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0120" y="3027578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950" b="1" i="0">
                <a:solidFill>
                  <a:srgbClr val="B5AEA0"/>
                </a:solidFill>
                <a:latin typeface="Arial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63040" y="3000146"/>
            <a:ext cx="1783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250" b="1" i="0">
                <a:solidFill>
                  <a:srgbClr val="141414"/>
                </a:solidFill>
                <a:latin typeface="Arial"/>
              </a:rPr>
              <a:t>Preprocessing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91840" y="3036722"/>
            <a:ext cx="2423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000" b="0" i="0">
                <a:solidFill>
                  <a:srgbClr val="8A8478"/>
                </a:solidFill>
                <a:latin typeface="Arial"/>
              </a:rPr>
              <a:t>fill the gaps, make it usable</a:t>
            </a:r>
          </a:p>
        </p:txBody>
      </p:sp>
      <p:sp>
        <p:nvSpPr>
          <p:cNvPr id="23" name="Oval 22"/>
          <p:cNvSpPr/>
          <p:nvPr/>
        </p:nvSpPr>
        <p:spPr>
          <a:xfrm>
            <a:off x="685800" y="3495751"/>
            <a:ext cx="123444" cy="123444"/>
          </a:xfrm>
          <a:prstGeom prst="ellipse">
            <a:avLst/>
          </a:prstGeom>
          <a:solidFill>
            <a:srgbClr val="C5BEAE"/>
          </a:solidFill>
          <a:ln w="19050">
            <a:solidFill>
              <a:srgbClr val="F7F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0120" y="3427171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950" b="1" i="0">
                <a:solidFill>
                  <a:srgbClr val="B5AEA0"/>
                </a:solidFill>
                <a:latin typeface="Arial"/>
              </a:rPr>
              <a:t>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63040" y="3399739"/>
            <a:ext cx="1783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250" b="1" i="0">
                <a:solidFill>
                  <a:srgbClr val="141414"/>
                </a:solidFill>
                <a:latin typeface="Arial"/>
              </a:rPr>
              <a:t>EDA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291840" y="3436315"/>
            <a:ext cx="2423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000" b="0" i="0">
                <a:solidFill>
                  <a:srgbClr val="8A8478"/>
                </a:solidFill>
                <a:latin typeface="Arial"/>
              </a:rPr>
              <a:t>find the patterns</a:t>
            </a:r>
          </a:p>
        </p:txBody>
      </p:sp>
      <p:sp>
        <p:nvSpPr>
          <p:cNvPr id="27" name="Oval 26"/>
          <p:cNvSpPr/>
          <p:nvPr/>
        </p:nvSpPr>
        <p:spPr>
          <a:xfrm>
            <a:off x="685800" y="3895344"/>
            <a:ext cx="123444" cy="123444"/>
          </a:xfrm>
          <a:prstGeom prst="ellipse">
            <a:avLst/>
          </a:prstGeom>
          <a:solidFill>
            <a:srgbClr val="C5BEAE"/>
          </a:solidFill>
          <a:ln w="19050">
            <a:solidFill>
              <a:srgbClr val="F7F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60120" y="3826764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950" b="1" i="0">
                <a:solidFill>
                  <a:srgbClr val="B5AEA0"/>
                </a:solidFill>
                <a:latin typeface="Arial"/>
              </a:rPr>
              <a:t>06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463040" y="3799332"/>
            <a:ext cx="1783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250" b="1" i="0">
                <a:solidFill>
                  <a:srgbClr val="141414"/>
                </a:solidFill>
                <a:latin typeface="Arial"/>
              </a:rPr>
              <a:t>Features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291840" y="3835908"/>
            <a:ext cx="2423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000" b="0" i="0">
                <a:solidFill>
                  <a:srgbClr val="8A8478"/>
                </a:solidFill>
                <a:latin typeface="Arial"/>
              </a:rPr>
              <a:t>separate signal from noise</a:t>
            </a:r>
          </a:p>
        </p:txBody>
      </p:sp>
      <p:sp>
        <p:nvSpPr>
          <p:cNvPr id="31" name="Oval 30"/>
          <p:cNvSpPr/>
          <p:nvPr/>
        </p:nvSpPr>
        <p:spPr>
          <a:xfrm>
            <a:off x="685800" y="4294936"/>
            <a:ext cx="123444" cy="123444"/>
          </a:xfrm>
          <a:prstGeom prst="ellipse">
            <a:avLst/>
          </a:prstGeom>
          <a:solidFill>
            <a:srgbClr val="C5BEAE"/>
          </a:solidFill>
          <a:ln w="19050">
            <a:solidFill>
              <a:srgbClr val="F7F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60120" y="4226356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950" b="1" i="0">
                <a:solidFill>
                  <a:srgbClr val="B5AEA0"/>
                </a:solidFill>
                <a:latin typeface="Arial"/>
              </a:rPr>
              <a:t>07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463040" y="4198924"/>
            <a:ext cx="1783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250" b="1" i="0">
                <a:solidFill>
                  <a:srgbClr val="141414"/>
                </a:solidFill>
                <a:latin typeface="Arial"/>
              </a:rPr>
              <a:t>Split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291840" y="4235500"/>
            <a:ext cx="2423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000" b="0" i="0">
                <a:solidFill>
                  <a:srgbClr val="8A8478"/>
                </a:solidFill>
                <a:latin typeface="Arial"/>
              </a:rPr>
              <a:t>study now, prove later</a:t>
            </a:r>
          </a:p>
        </p:txBody>
      </p:sp>
      <p:sp>
        <p:nvSpPr>
          <p:cNvPr id="35" name="Oval 34"/>
          <p:cNvSpPr/>
          <p:nvPr/>
        </p:nvSpPr>
        <p:spPr>
          <a:xfrm>
            <a:off x="685800" y="4694529"/>
            <a:ext cx="123444" cy="123444"/>
          </a:xfrm>
          <a:prstGeom prst="ellipse">
            <a:avLst/>
          </a:prstGeom>
          <a:solidFill>
            <a:srgbClr val="6B21A8"/>
          </a:solidFill>
          <a:ln w="19050">
            <a:solidFill>
              <a:srgbClr val="F7F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60120" y="4625949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950" b="1" i="0">
                <a:solidFill>
                  <a:srgbClr val="6B21A8"/>
                </a:solidFill>
                <a:latin typeface="Arial"/>
              </a:rPr>
              <a:t>08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463040" y="4598517"/>
            <a:ext cx="1783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250" b="1" i="0">
                <a:solidFill>
                  <a:srgbClr val="141414"/>
                </a:solidFill>
                <a:latin typeface="Arial"/>
              </a:rPr>
              <a:t>Model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291840" y="4635093"/>
            <a:ext cx="2423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000" b="0" i="0">
                <a:solidFill>
                  <a:srgbClr val="8A8478"/>
                </a:solidFill>
                <a:latin typeface="Arial"/>
              </a:rPr>
              <a:t>let patterns become predictions</a:t>
            </a:r>
          </a:p>
        </p:txBody>
      </p:sp>
      <p:sp>
        <p:nvSpPr>
          <p:cNvPr id="39" name="Oval 38"/>
          <p:cNvSpPr/>
          <p:nvPr/>
        </p:nvSpPr>
        <p:spPr>
          <a:xfrm>
            <a:off x="685800" y="5094122"/>
            <a:ext cx="123444" cy="123444"/>
          </a:xfrm>
          <a:prstGeom prst="ellipse">
            <a:avLst/>
          </a:prstGeom>
          <a:solidFill>
            <a:srgbClr val="6B21A8"/>
          </a:solidFill>
          <a:ln w="19050">
            <a:solidFill>
              <a:srgbClr val="F7F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60120" y="5025542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950" b="1" i="0">
                <a:solidFill>
                  <a:srgbClr val="6B21A8"/>
                </a:solidFill>
                <a:latin typeface="Arial"/>
              </a:rPr>
              <a:t>09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463040" y="4998110"/>
            <a:ext cx="1783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250" b="1" i="0">
                <a:solidFill>
                  <a:srgbClr val="141414"/>
                </a:solidFill>
                <a:latin typeface="Arial"/>
              </a:rPr>
              <a:t>Evaluate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291840" y="5034686"/>
            <a:ext cx="2423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000" b="0" i="0">
                <a:solidFill>
                  <a:srgbClr val="8A8478"/>
                </a:solidFill>
                <a:latin typeface="Arial"/>
              </a:rPr>
              <a:t>an honest test on new customers</a:t>
            </a:r>
          </a:p>
        </p:txBody>
      </p:sp>
      <p:sp>
        <p:nvSpPr>
          <p:cNvPr id="43" name="Oval 42"/>
          <p:cNvSpPr/>
          <p:nvPr/>
        </p:nvSpPr>
        <p:spPr>
          <a:xfrm>
            <a:off x="685800" y="5493715"/>
            <a:ext cx="123444" cy="123444"/>
          </a:xfrm>
          <a:prstGeom prst="ellipse">
            <a:avLst/>
          </a:prstGeom>
          <a:solidFill>
            <a:srgbClr val="C5BEAE"/>
          </a:solidFill>
          <a:ln w="19050">
            <a:solidFill>
              <a:srgbClr val="F7F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60120" y="5425135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950" b="1" i="0">
                <a:solidFill>
                  <a:srgbClr val="B5AEA0"/>
                </a:solidFill>
                <a:latin typeface="Arial"/>
              </a:rPr>
              <a:t>10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463040" y="5397703"/>
            <a:ext cx="1783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250" b="1" i="0">
                <a:solidFill>
                  <a:srgbClr val="141414"/>
                </a:solidFill>
                <a:latin typeface="Arial"/>
              </a:rPr>
              <a:t>Save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291840" y="5434279"/>
            <a:ext cx="2423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000" b="0" i="0">
                <a:solidFill>
                  <a:srgbClr val="8A8478"/>
                </a:solidFill>
                <a:latin typeface="Arial"/>
              </a:rPr>
              <a:t>package it for reuse</a:t>
            </a:r>
          </a:p>
        </p:txBody>
      </p:sp>
      <p:sp>
        <p:nvSpPr>
          <p:cNvPr id="47" name="Oval 46"/>
          <p:cNvSpPr/>
          <p:nvPr/>
        </p:nvSpPr>
        <p:spPr>
          <a:xfrm>
            <a:off x="685800" y="5893308"/>
            <a:ext cx="123444" cy="123444"/>
          </a:xfrm>
          <a:prstGeom prst="ellipse">
            <a:avLst/>
          </a:prstGeom>
          <a:solidFill>
            <a:srgbClr val="6B21A8"/>
          </a:solidFill>
          <a:ln w="19050">
            <a:solidFill>
              <a:srgbClr val="F7F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60120" y="5824728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950" b="1" i="0">
                <a:solidFill>
                  <a:srgbClr val="6B21A8"/>
                </a:solidFill>
                <a:latin typeface="Arial"/>
              </a:rPr>
              <a:t>11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463040" y="5797296"/>
            <a:ext cx="1783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250" b="1" i="0">
                <a:solidFill>
                  <a:srgbClr val="141414"/>
                </a:solidFill>
                <a:latin typeface="Arial"/>
              </a:rPr>
              <a:t>Deploy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291840" y="5833872"/>
            <a:ext cx="2423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000" b="0" i="0">
                <a:solidFill>
                  <a:srgbClr val="8A8478"/>
                </a:solidFill>
                <a:latin typeface="Arial"/>
              </a:rPr>
              <a:t>from notebook to product</a:t>
            </a:r>
          </a:p>
        </p:txBody>
      </p:sp>
      <p:graphicFrame>
        <p:nvGraphicFramePr>
          <p:cNvPr id="51" name="Table 50"/>
          <p:cNvGraphicFramePr>
            <a:graphicFrameLocks noGrp="1"/>
          </p:cNvGraphicFramePr>
          <p:nvPr/>
        </p:nvGraphicFramePr>
        <p:xfrm>
          <a:off x="5833872" y="1828800"/>
          <a:ext cx="5843016" cy="428396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481328"/>
                <a:gridCol w="2880360"/>
                <a:gridCol w="1481328"/>
              </a:tblGrid>
              <a:tr h="310896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Step</a:t>
                      </a:r>
                    </a:p>
                  </a:txBody>
                  <a:tcPr marL="82296" marR="54864" marT="18288" marB="18288" anchor="ctr">
                    <a:solidFill>
                      <a:srgbClr val="12121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What happens</a:t>
                      </a:r>
                    </a:p>
                  </a:txBody>
                  <a:tcPr marL="82296" marR="54864" marT="18288" marB="18288" anchor="ctr">
                    <a:solidFill>
                      <a:srgbClr val="12121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What we get</a:t>
                      </a:r>
                    </a:p>
                  </a:txBody>
                  <a:tcPr marL="82296" marR="54864" marT="18288" marB="18288" anchor="ctr">
                    <a:solidFill>
                      <a:srgbClr val="121212"/>
                    </a:solidFill>
                  </a:tcPr>
                </a:tc>
              </a:tr>
              <a:tr h="361188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60" b="1">
                          <a:solidFill>
                            <a:srgbClr val="141414"/>
                          </a:solidFill>
                          <a:latin typeface="Arial"/>
                        </a:rPr>
                        <a:t>01 Problem</a:t>
                      </a:r>
                    </a:p>
                  </a:txBody>
                  <a:tcPr marL="82296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60" b="0">
                          <a:solidFill>
                            <a:srgbClr val="2A2722"/>
                          </a:solidFill>
                          <a:latin typeface="Arial"/>
                        </a:rPr>
                        <a:t>sort customers into four groups, one action each</a:t>
                      </a:r>
                    </a:p>
                  </a:txBody>
                  <a:tcPr marL="82296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60" b="0">
                          <a:solidFill>
                            <a:srgbClr val="2A2722"/>
                          </a:solidFill>
                          <a:latin typeface="Arial"/>
                        </a:rPr>
                        <a:t>the plan</a:t>
                      </a:r>
                    </a:p>
                  </a:txBody>
                  <a:tcPr marL="82296" marR="54864" marT="18288" marB="18288" anchor="ctr">
                    <a:solidFill>
                      <a:srgbClr val="FFFFFF"/>
                    </a:solidFill>
                  </a:tcPr>
                </a:tc>
              </a:tr>
              <a:tr h="361188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60" b="1">
                          <a:solidFill>
                            <a:srgbClr val="141414"/>
                          </a:solidFill>
                          <a:latin typeface="Arial"/>
                        </a:rPr>
                        <a:t>02 Dataset</a:t>
                      </a:r>
                    </a:p>
                  </a:txBody>
                  <a:tcPr marL="82296" marR="54864" marT="18288" marB="18288" anchor="ctr">
                    <a:solidFill>
                      <a:srgbClr val="F4F0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60" b="0">
                          <a:solidFill>
                            <a:srgbClr val="2A2722"/>
                          </a:solidFill>
                          <a:latin typeface="Arial"/>
                        </a:rPr>
                        <a:t>50,000 real customers in a 7.8 MB file</a:t>
                      </a:r>
                    </a:p>
                  </a:txBody>
                  <a:tcPr marL="82296" marR="54864" marT="18288" marB="18288" anchor="ctr">
                    <a:solidFill>
                      <a:srgbClr val="F4F0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60" b="0">
                          <a:solidFill>
                            <a:srgbClr val="2A2722"/>
                          </a:solidFill>
                          <a:latin typeface="Arial"/>
                        </a:rPr>
                        <a:t>customers.csv 7.4M</a:t>
                      </a:r>
                    </a:p>
                  </a:txBody>
                  <a:tcPr marL="82296" marR="54864" marT="18288" marB="18288" anchor="ctr">
                    <a:solidFill>
                      <a:srgbClr val="F4F0E8"/>
                    </a:solidFill>
                  </a:tcPr>
                </a:tc>
              </a:tr>
              <a:tr h="361188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60" b="1">
                          <a:solidFill>
                            <a:srgbClr val="141414"/>
                          </a:solidFill>
                          <a:latin typeface="Arial"/>
                        </a:rPr>
                        <a:t>03 Understanding</a:t>
                      </a:r>
                    </a:p>
                  </a:txBody>
                  <a:tcPr marL="82296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60" b="0">
                          <a:solidFill>
                            <a:srgbClr val="2A2722"/>
                          </a:solidFill>
                          <a:latin typeface="Arial"/>
                        </a:rPr>
                        <a:t>up to 3,934 values missing, zero duplicates</a:t>
                      </a:r>
                    </a:p>
                  </a:txBody>
                  <a:tcPr marL="82296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60" b="0">
                          <a:solidFill>
                            <a:srgbClr val="2A2722"/>
                          </a:solidFill>
                          <a:latin typeface="Arial"/>
                        </a:rPr>
                        <a:t>notes on the data</a:t>
                      </a:r>
                    </a:p>
                  </a:txBody>
                  <a:tcPr marL="82296" marR="54864" marT="18288" marB="18288" anchor="ctr">
                    <a:solidFill>
                      <a:srgbClr val="FFFFFF"/>
                    </a:solidFill>
                  </a:tcPr>
                </a:tc>
              </a:tr>
              <a:tr h="361188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60" b="1">
                          <a:solidFill>
                            <a:srgbClr val="141414"/>
                          </a:solidFill>
                          <a:latin typeface="Arial"/>
                        </a:rPr>
                        <a:t>04 Preprocessing</a:t>
                      </a:r>
                    </a:p>
                  </a:txBody>
                  <a:tcPr marL="82296" marR="54864" marT="18288" marB="18288" anchor="ctr">
                    <a:solidFill>
                      <a:srgbClr val="F4F0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60" b="0">
                          <a:solidFill>
                            <a:srgbClr val="2A2722"/>
                          </a:solidFill>
                          <a:latin typeface="Arial"/>
                        </a:rPr>
                        <a:t>12 details in, 16 model-ready columns out</a:t>
                      </a:r>
                    </a:p>
                  </a:txBody>
                  <a:tcPr marL="82296" marR="54864" marT="18288" marB="18288" anchor="ctr">
                    <a:solidFill>
                      <a:srgbClr val="F4F0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60" b="0">
                          <a:solidFill>
                            <a:srgbClr val="2A2722"/>
                          </a:solidFill>
                          <a:latin typeface="Arial"/>
                        </a:rPr>
                        <a:t>cleaning rules 4.4K</a:t>
                      </a:r>
                    </a:p>
                  </a:txBody>
                  <a:tcPr marL="82296" marR="54864" marT="18288" marB="18288" anchor="ctr">
                    <a:solidFill>
                      <a:srgbClr val="F4F0E8"/>
                    </a:solidFill>
                  </a:tcPr>
                </a:tc>
              </a:tr>
              <a:tr h="361188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60" b="1">
                          <a:solidFill>
                            <a:srgbClr val="141414"/>
                          </a:solidFill>
                          <a:latin typeface="Arial"/>
                        </a:rPr>
                        <a:t>05 EDA</a:t>
                      </a:r>
                    </a:p>
                  </a:txBody>
                  <a:tcPr marL="82296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60" b="0">
                          <a:solidFill>
                            <a:srgbClr val="2A2722"/>
                          </a:solidFill>
                          <a:latin typeface="Arial"/>
                        </a:rPr>
                        <a:t>the patterns behind the groups, in charts</a:t>
                      </a:r>
                    </a:p>
                  </a:txBody>
                  <a:tcPr marL="82296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60" b="0">
                          <a:solidFill>
                            <a:srgbClr val="2A2722"/>
                          </a:solidFill>
                          <a:latin typeface="Arial"/>
                        </a:rPr>
                        <a:t>chart set</a:t>
                      </a:r>
                    </a:p>
                  </a:txBody>
                  <a:tcPr marL="82296" marR="54864" marT="18288" marB="18288" anchor="ctr">
                    <a:solidFill>
                      <a:srgbClr val="FFFFFF"/>
                    </a:solidFill>
                  </a:tcPr>
                </a:tc>
              </a:tr>
              <a:tr h="361188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60" b="1">
                          <a:solidFill>
                            <a:srgbClr val="141414"/>
                          </a:solidFill>
                          <a:latin typeface="Arial"/>
                        </a:rPr>
                        <a:t>06 Features</a:t>
                      </a:r>
                    </a:p>
                  </a:txBody>
                  <a:tcPr marL="82296" marR="54864" marT="18288" marB="18288" anchor="ctr">
                    <a:solidFill>
                      <a:srgbClr val="F4F0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60" b="0">
                          <a:solidFill>
                            <a:srgbClr val="2A2722"/>
                          </a:solidFill>
                          <a:latin typeface="Arial"/>
                        </a:rPr>
                        <a:t>spending proves the strongest clue (0.18)</a:t>
                      </a:r>
                    </a:p>
                  </a:txBody>
                  <a:tcPr marL="82296" marR="54864" marT="18288" marB="18288" anchor="ctr">
                    <a:solidFill>
                      <a:srgbClr val="F4F0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60" b="0">
                          <a:solidFill>
                            <a:srgbClr val="2A2722"/>
                          </a:solidFill>
                          <a:latin typeface="Arial"/>
                        </a:rPr>
                        <a:t>feature list 1.2K</a:t>
                      </a:r>
                    </a:p>
                  </a:txBody>
                  <a:tcPr marL="82296" marR="54864" marT="18288" marB="18288" anchor="ctr">
                    <a:solidFill>
                      <a:srgbClr val="F4F0E8"/>
                    </a:solidFill>
                  </a:tcPr>
                </a:tc>
              </a:tr>
              <a:tr h="361188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60" b="1">
                          <a:solidFill>
                            <a:srgbClr val="141414"/>
                          </a:solidFill>
                          <a:latin typeface="Arial"/>
                        </a:rPr>
                        <a:t>07 Split</a:t>
                      </a:r>
                    </a:p>
                  </a:txBody>
                  <a:tcPr marL="82296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60" b="0">
                          <a:solidFill>
                            <a:srgbClr val="2A2722"/>
                          </a:solidFill>
                          <a:latin typeface="Arial"/>
                        </a:rPr>
                        <a:t>35k to learn, 7.5k to practise, 7.5k to prove</a:t>
                      </a:r>
                    </a:p>
                  </a:txBody>
                  <a:tcPr marL="82296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60" b="0">
                          <a:solidFill>
                            <a:srgbClr val="2A2722"/>
                          </a:solidFill>
                          <a:latin typeface="Arial"/>
                        </a:rPr>
                        <a:t>three fair sets</a:t>
                      </a:r>
                    </a:p>
                  </a:txBody>
                  <a:tcPr marL="82296" marR="54864" marT="18288" marB="18288" anchor="ctr">
                    <a:solidFill>
                      <a:srgbClr val="FFFFFF"/>
                    </a:solidFill>
                  </a:tcPr>
                </a:tc>
              </a:tr>
              <a:tr h="361188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60" b="1">
                          <a:solidFill>
                            <a:srgbClr val="141414"/>
                          </a:solidFill>
                          <a:latin typeface="Arial"/>
                        </a:rPr>
                        <a:t>08 Model</a:t>
                      </a:r>
                    </a:p>
                  </a:txBody>
                  <a:tcPr marL="82296" marR="54864" marT="18288" marB="18288" anchor="ctr">
                    <a:solidFill>
                      <a:srgbClr val="F4F0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60" b="0">
                          <a:solidFill>
                            <a:srgbClr val="2A2722"/>
                          </a:solidFill>
                          <a:latin typeface="Arial"/>
                        </a:rPr>
                        <a:t>66.4% right, 0.87 out of 1.00</a:t>
                      </a:r>
                    </a:p>
                  </a:txBody>
                  <a:tcPr marL="82296" marR="54864" marT="18288" marB="18288" anchor="ctr">
                    <a:solidFill>
                      <a:srgbClr val="F4F0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60" b="0">
                          <a:solidFill>
                            <a:srgbClr val="2A2722"/>
                          </a:solidFill>
                          <a:latin typeface="Arial"/>
                        </a:rPr>
                        <a:t>trained model 1.6K</a:t>
                      </a:r>
                    </a:p>
                  </a:txBody>
                  <a:tcPr marL="82296" marR="54864" marT="18288" marB="18288" anchor="ctr">
                    <a:solidFill>
                      <a:srgbClr val="F4F0E8"/>
                    </a:solidFill>
                  </a:tcPr>
                </a:tc>
              </a:tr>
              <a:tr h="361188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60" b="1">
                          <a:solidFill>
                            <a:srgbClr val="141414"/>
                          </a:solidFill>
                          <a:latin typeface="Arial"/>
                        </a:rPr>
                        <a:t>09 Evaluate</a:t>
                      </a:r>
                    </a:p>
                  </a:txBody>
                  <a:tcPr marL="82296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60" b="0">
                          <a:solidFill>
                            <a:srgbClr val="2A2722"/>
                          </a:solidFill>
                          <a:latin typeface="Arial"/>
                        </a:rPr>
                        <a:t>Occasional caught best (82%)</a:t>
                      </a:r>
                    </a:p>
                  </a:txBody>
                  <a:tcPr marL="82296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60" b="0">
                          <a:solidFill>
                            <a:srgbClr val="2A2722"/>
                          </a:solidFill>
                          <a:latin typeface="Arial"/>
                        </a:rPr>
                        <a:t>report card 8K</a:t>
                      </a:r>
                    </a:p>
                  </a:txBody>
                  <a:tcPr marL="82296" marR="54864" marT="18288" marB="18288" anchor="ctr">
                    <a:solidFill>
                      <a:srgbClr val="FFFFFF"/>
                    </a:solidFill>
                  </a:tcPr>
                </a:tc>
              </a:tr>
              <a:tr h="361188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60" b="1">
                          <a:solidFill>
                            <a:srgbClr val="141414"/>
                          </a:solidFill>
                          <a:latin typeface="Arial"/>
                        </a:rPr>
                        <a:t>10 Save</a:t>
                      </a:r>
                    </a:p>
                  </a:txBody>
                  <a:tcPr marL="82296" marR="54864" marT="18288" marB="18288" anchor="ctr">
                    <a:solidFill>
                      <a:srgbClr val="F4F0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60" b="0">
                          <a:solidFill>
                            <a:srgbClr val="2A2722"/>
                          </a:solidFill>
                          <a:latin typeface="Arial"/>
                        </a:rPr>
                        <a:t>six files, 7.6 MB, all labelled v3.0</a:t>
                      </a:r>
                    </a:p>
                  </a:txBody>
                  <a:tcPr marL="82296" marR="54864" marT="18288" marB="18288" anchor="ctr">
                    <a:solidFill>
                      <a:srgbClr val="F4F0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60" b="0">
                          <a:solidFill>
                            <a:srgbClr val="2A2722"/>
                          </a:solidFill>
                          <a:latin typeface="Arial"/>
                        </a:rPr>
                        <a:t>the saved pack</a:t>
                      </a:r>
                    </a:p>
                  </a:txBody>
                  <a:tcPr marL="82296" marR="54864" marT="18288" marB="18288" anchor="ctr">
                    <a:solidFill>
                      <a:srgbClr val="F4F0E8"/>
                    </a:solidFill>
                  </a:tcPr>
                </a:tc>
              </a:tr>
              <a:tr h="361188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60" b="1">
                          <a:solidFill>
                            <a:srgbClr val="141414"/>
                          </a:solidFill>
                          <a:latin typeface="Arial"/>
                        </a:rPr>
                        <a:t>11 Deploy</a:t>
                      </a:r>
                    </a:p>
                  </a:txBody>
                  <a:tcPr marL="82296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60" b="0">
                          <a:solidFill>
                            <a:srgbClr val="2A2722"/>
                          </a:solidFill>
                          <a:latin typeface="Arial"/>
                        </a:rPr>
                        <a:t>live on a website, watched as it runs</a:t>
                      </a:r>
                    </a:p>
                  </a:txBody>
                  <a:tcPr marL="82296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60" b="0">
                          <a:solidFill>
                            <a:srgbClr val="2A2722"/>
                          </a:solidFill>
                          <a:latin typeface="Arial"/>
                        </a:rPr>
                        <a:t>Flask at :5000</a:t>
                      </a:r>
                    </a:p>
                  </a:txBody>
                  <a:tcPr marL="82296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2" name="TextBox 51"/>
          <p:cNvSpPr txBox="1"/>
          <p:nvPr/>
        </p:nvSpPr>
        <p:spPr>
          <a:xfrm>
            <a:off x="566928" y="6492240"/>
            <a:ext cx="6858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750" b="0" i="0" spc="100">
                <a:solidFill>
                  <a:srgbClr val="9A9385"/>
                </a:solidFill>
                <a:latin typeface="Arial"/>
              </a:rPr>
              <a:t>RETAIL OPS  •  KAGGLE 50K REAL  •  LENS v3.0  •  03/18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1018520" y="6272784"/>
            <a:ext cx="8229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6000"/>
              </a:lnSpc>
              <a:spcAft>
                <a:spcPts val="400"/>
              </a:spcAft>
            </a:pPr>
            <a:r>
              <a:rPr sz="2400" b="1" i="0">
                <a:solidFill>
                  <a:srgbClr val="C7C0B1"/>
                </a:solidFill>
                <a:latin typeface="Arial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050" b="1" i="0" spc="140">
                <a:solidFill>
                  <a:srgbClr val="8A8478"/>
                </a:solidFill>
                <a:latin typeface="Arial"/>
              </a:rPr>
              <a:t>STEP 01  •  PROBLEM DEFINITION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49808"/>
            <a:ext cx="1106424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4000" b="1" i="0">
                <a:solidFill>
                  <a:srgbClr val="141414"/>
                </a:solidFill>
                <a:latin typeface="Arial"/>
              </a:rPr>
              <a:t>What, Why, Who, Output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554480"/>
            <a:ext cx="11055096" cy="17780"/>
          </a:xfrm>
          <a:prstGeom prst="rect">
            <a:avLst/>
          </a:prstGeom>
          <a:solidFill>
            <a:srgbClr val="DDD6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66928" y="1783080"/>
            <a:ext cx="2615184" cy="199339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3DD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1911095"/>
            <a:ext cx="50292" cy="1737360"/>
          </a:xfrm>
          <a:prstGeom prst="roundRect">
            <a:avLst>
              <a:gd name="adj" fmla="val 50000"/>
            </a:avLst>
          </a:prstGeom>
          <a:solidFill>
            <a:srgbClr val="6B21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86384" y="1929384"/>
            <a:ext cx="2231136" cy="17190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Aft>
                <a:spcPts val="800"/>
              </a:spcAft>
            </a:pPr>
            <a:r>
              <a:rPr sz="1050" b="1" i="0" spc="90">
                <a:solidFill>
                  <a:srgbClr val="141414"/>
                </a:solidFill>
                <a:latin typeface="Arial"/>
              </a:rPr>
              <a:t>WHAT</a:t>
            </a:r>
          </a:p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980" b="0" i="0">
                <a:solidFill>
                  <a:srgbClr val="2A2722"/>
                </a:solidFill>
                <a:latin typeface="Arial"/>
              </a:rPr>
              <a:t>Given twelve everyday details — age, income, how often someone visits, how much they spend — place them in one of four customer groups.</a:t>
            </a:r>
          </a:p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980" b="0" i="0">
                <a:solidFill>
                  <a:srgbClr val="2A2722"/>
                </a:solidFill>
                <a:latin typeface="Arial"/>
              </a:rPr>
              <a:t>Small demo datasets promise a flattering 89%. This real one keeps us honest at 66%.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10128" y="1783080"/>
            <a:ext cx="2615184" cy="199339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3DD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291840" y="1911095"/>
            <a:ext cx="50292" cy="1737360"/>
          </a:xfrm>
          <a:prstGeom prst="roundRect">
            <a:avLst>
              <a:gd name="adj" fmla="val 50000"/>
            </a:avLst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29584" y="1929384"/>
            <a:ext cx="2231136" cy="17190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Aft>
                <a:spcPts val="800"/>
              </a:spcAft>
            </a:pPr>
            <a:r>
              <a:rPr sz="1050" b="1" i="0" spc="90">
                <a:solidFill>
                  <a:srgbClr val="141414"/>
                </a:solidFill>
                <a:latin typeface="Arial"/>
              </a:rPr>
              <a:t>WHY</a:t>
            </a:r>
          </a:p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980" b="0" i="0">
                <a:solidFill>
                  <a:srgbClr val="2A2722"/>
                </a:solidFill>
                <a:latin typeface="Arial"/>
              </a:rPr>
              <a:t>Because groups make care personal: win back the Occasional, grow the Regular, reward the Loyal, protect the High-Value.</a:t>
            </a:r>
          </a:p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980" b="0" i="0">
                <a:solidFill>
                  <a:srgbClr val="2A2722"/>
                </a:solidFill>
                <a:latin typeface="Arial"/>
              </a:rPr>
              <a:t>One message for everyone mostly reaches the wrong people.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3950208"/>
            <a:ext cx="2615184" cy="199339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3DD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48640" y="4078224"/>
            <a:ext cx="50292" cy="1737360"/>
          </a:xfrm>
          <a:prstGeom prst="roundRect">
            <a:avLst>
              <a:gd name="adj" fmla="val 50000"/>
            </a:avLst>
          </a:prstGeom>
          <a:solidFill>
            <a:srgbClr val="5A54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86384" y="4096512"/>
            <a:ext cx="2231136" cy="17190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Aft>
                <a:spcPts val="800"/>
              </a:spcAft>
            </a:pPr>
            <a:r>
              <a:rPr sz="1050" b="1" i="0" spc="90">
                <a:solidFill>
                  <a:srgbClr val="141414"/>
                </a:solidFill>
                <a:latin typeface="Arial"/>
              </a:rPr>
              <a:t>WHO</a:t>
            </a:r>
          </a:p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980" b="0" i="0">
                <a:solidFill>
                  <a:srgbClr val="2A2722"/>
                </a:solidFill>
                <a:latin typeface="Arial"/>
              </a:rPr>
              <a:t>The people who decide who to call, what to offer, and who is quietly slipping away — sales, marketing and support.</a:t>
            </a:r>
          </a:p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980" b="0" i="0">
                <a:solidFill>
                  <a:srgbClr val="2A2722"/>
                </a:solidFill>
                <a:latin typeface="Arial"/>
              </a:rPr>
              <a:t>The tool gives them a live view of 120 customers each day.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310128" y="3950208"/>
            <a:ext cx="2615184" cy="199339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3DD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3291840" y="4078224"/>
            <a:ext cx="50292" cy="1737360"/>
          </a:xfrm>
          <a:prstGeom prst="roundRect">
            <a:avLst>
              <a:gd name="adj" fmla="val 50000"/>
            </a:avLst>
          </a:prstGeom>
          <a:solidFill>
            <a:srgbClr val="0E8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29584" y="4096512"/>
            <a:ext cx="2231136" cy="17190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Aft>
                <a:spcPts val="800"/>
              </a:spcAft>
            </a:pPr>
            <a:r>
              <a:rPr sz="1050" b="1" i="0" spc="90">
                <a:solidFill>
                  <a:srgbClr val="141414"/>
                </a:solidFill>
                <a:latin typeface="Arial"/>
              </a:rPr>
              <a:t>OUTPUT</a:t>
            </a:r>
          </a:p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980" b="0" i="0">
                <a:solidFill>
                  <a:srgbClr val="2A2722"/>
                </a:solidFill>
                <a:latin typeface="Arial"/>
              </a:rPr>
              <a:t>More than a label: the group, how sure the model is, and the next step worth taking.</a:t>
            </a:r>
          </a:p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980" b="0" i="0">
                <a:solidFill>
                  <a:srgbClr val="2A2722"/>
                </a:solidFill>
                <a:latin typeface="Arial"/>
              </a:rPr>
              <a:t>“High-Value — 78% sure — send the VIP invitation.”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44768" y="1783080"/>
            <a:ext cx="5486400" cy="4160520"/>
          </a:xfrm>
          <a:prstGeom prst="roundRect">
            <a:avLst>
              <a:gd name="adj" fmla="val 5500"/>
            </a:avLst>
          </a:prstGeom>
          <a:solidFill>
            <a:srgbClr val="1212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089904" y="1920240"/>
            <a:ext cx="50292" cy="3886200"/>
          </a:xfrm>
          <a:prstGeom prst="roundRect">
            <a:avLst>
              <a:gd name="adj" fmla="val 50000"/>
            </a:avLst>
          </a:prstGeom>
          <a:solidFill>
            <a:srgbClr val="6B21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0" y="1956816"/>
            <a:ext cx="5029200" cy="3840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Aft>
                <a:spcPts val="600"/>
              </a:spcAft>
            </a:pPr>
            <a:r>
              <a:rPr sz="1050" b="1" i="0" spc="90">
                <a:solidFill>
                  <a:srgbClr val="FFFFFF"/>
                </a:solidFill>
                <a:latin typeface="Arial"/>
              </a:rPr>
              <a:t>THE FULL JOURNEY  •  CO1</a:t>
            </a:r>
          </a:p>
          <a:p>
            <a:pPr algn="l">
              <a:lnSpc>
                <a:spcPct val="118000"/>
              </a:lnSpc>
              <a:spcAft>
                <a:spcPts val="1000"/>
              </a:spcAft>
            </a:pPr>
            <a:r>
              <a:rPr sz="1000" b="0" i="0">
                <a:solidFill>
                  <a:srgbClr val="E8E4DC"/>
                </a:solidFill>
                <a:latin typeface="Arial"/>
              </a:rPr>
              <a:t>Raw data becomes a living product in six moves: collect, clean, train, test, launch, watch. The slides that follow walk that path in order.</a:t>
            </a:r>
          </a:p>
          <a:p>
            <a:pPr algn="l">
              <a:lnSpc>
                <a:spcPct val="106000"/>
              </a:lnSpc>
              <a:spcAft>
                <a:spcPts val="600"/>
              </a:spcAft>
            </a:pPr>
            <a:r>
              <a:rPr sz="1050" b="1" i="0" spc="90">
                <a:solidFill>
                  <a:srgbClr val="FFFFFF"/>
                </a:solidFill>
                <a:latin typeface="Arial"/>
              </a:rPr>
              <a:t>EVERY ANSWER SHOWS ITS PATH</a:t>
            </a:r>
          </a:p>
          <a:p>
            <a:pPr algn="l">
              <a:lnSpc>
                <a:spcPct val="118000"/>
              </a:lnSpc>
              <a:spcAft>
                <a:spcPts val="1000"/>
              </a:spcAft>
            </a:pPr>
            <a:r>
              <a:rPr sz="1000" b="0" i="0">
                <a:solidFill>
                  <a:srgbClr val="E8E4DC"/>
                </a:solidFill>
                <a:latin typeface="Arial"/>
              </a:rPr>
              <a:t>Each prediction carries a receipt of the stages behind it — so months later, anyone can ask “why?” and get the full story. No black boxes.</a:t>
            </a:r>
          </a:p>
          <a:p>
            <a:pPr algn="l">
              <a:lnSpc>
                <a:spcPct val="106000"/>
              </a:lnSpc>
              <a:spcAft>
                <a:spcPts val="600"/>
              </a:spcAft>
            </a:pPr>
            <a:r>
              <a:rPr sz="1050" b="1" i="0" spc="90">
                <a:solidFill>
                  <a:srgbClr val="FFFFFF"/>
                </a:solidFill>
                <a:latin typeface="Arial"/>
              </a:rPr>
              <a:t>WHY REAL DATA MATTERS</a:t>
            </a:r>
          </a:p>
          <a:p>
            <a:pPr algn="l">
              <a:lnSpc>
                <a:spcPct val="106000"/>
              </a:lnSpc>
              <a:spcAft>
                <a:spcPts val="300"/>
              </a:spcAft>
            </a:pPr>
            <a:r>
              <a:rPr sz="980" b="0" i="0">
                <a:solidFill>
                  <a:srgbClr val="E8E4DC"/>
                </a:solidFill>
                <a:latin typeface="Arial"/>
              </a:rPr>
              <a:t>•  50,000 rows, uneven groups, honest gaps — messy the way real life is</a:t>
            </a:r>
          </a:p>
          <a:p>
            <a:pPr algn="l">
              <a:lnSpc>
                <a:spcPct val="106000"/>
              </a:lnSpc>
              <a:spcAft>
                <a:spcPts val="300"/>
              </a:spcAft>
            </a:pPr>
            <a:r>
              <a:rPr sz="980" b="0" i="0">
                <a:solidFill>
                  <a:srgbClr val="E8E4DC"/>
                </a:solidFill>
                <a:latin typeface="Arial"/>
              </a:rPr>
              <a:t>•  7 columns arrive incomplete, so the cleaning work is genuinely tested</a:t>
            </a:r>
          </a:p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980" b="0" i="0">
                <a:solidFill>
                  <a:srgbClr val="E8E4DC"/>
                </a:solidFill>
                <a:latin typeface="Arial"/>
              </a:rPr>
              <a:t>•  Open dataset (CC0) by rohit8527kmr7518, downloaded 1,388 times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6928" y="6492240"/>
            <a:ext cx="6858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750" b="0" i="0" spc="100">
                <a:solidFill>
                  <a:srgbClr val="9A9385"/>
                </a:solidFill>
                <a:latin typeface="Arial"/>
              </a:rPr>
              <a:t>RETAIL OPS  •  KAGGLE 50K REAL  •  LENS v3.0  •  04/18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18520" y="6272784"/>
            <a:ext cx="8229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6000"/>
              </a:lnSpc>
              <a:spcAft>
                <a:spcPts val="400"/>
              </a:spcAft>
            </a:pPr>
            <a:r>
              <a:rPr sz="2400" b="1" i="0">
                <a:solidFill>
                  <a:srgbClr val="C7C0B1"/>
                </a:solidFill>
                <a:latin typeface="Arial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050" b="1" i="0" spc="140">
                <a:solidFill>
                  <a:srgbClr val="8A8478"/>
                </a:solidFill>
                <a:latin typeface="Arial"/>
              </a:rPr>
              <a:t>STEP 02  •  DATASET COLLECTION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49808"/>
            <a:ext cx="1106424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4000" b="1" i="0">
                <a:solidFill>
                  <a:srgbClr val="141414"/>
                </a:solidFill>
                <a:latin typeface="Arial"/>
              </a:rPr>
              <a:t>Kaggle — 50,000 real customers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554480"/>
            <a:ext cx="11055096" cy="17780"/>
          </a:xfrm>
          <a:prstGeom prst="rect">
            <a:avLst/>
          </a:prstGeom>
          <a:solidFill>
            <a:srgbClr val="DDD6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783080"/>
            <a:ext cx="3291840" cy="16916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3DD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0080" y="1911095"/>
            <a:ext cx="50292" cy="1435608"/>
          </a:xfrm>
          <a:prstGeom prst="roundRect">
            <a:avLst>
              <a:gd name="adj" fmla="val 50000"/>
            </a:avLst>
          </a:prstGeom>
          <a:solidFill>
            <a:srgbClr val="6B21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1929384"/>
            <a:ext cx="2889503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Aft>
                <a:spcPts val="800"/>
              </a:spcAft>
            </a:pPr>
            <a:r>
              <a:rPr sz="1050" b="1" i="0" spc="90">
                <a:solidFill>
                  <a:srgbClr val="141414"/>
                </a:solidFill>
                <a:latin typeface="Arial"/>
              </a:rPr>
              <a:t>SOURCE</a:t>
            </a:r>
          </a:p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000" b="0" i="0">
                <a:solidFill>
                  <a:srgbClr val="2A2722"/>
                </a:solidFill>
                <a:latin typeface="Arial"/>
              </a:rPr>
              <a:t>Kaggle: “Online Retail Customer Classification”</a:t>
            </a:r>
          </a:p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000" b="0" i="0">
                <a:solidFill>
                  <a:srgbClr val="2A2722"/>
                </a:solidFill>
                <a:latin typeface="Arial"/>
              </a:rPr>
              <a:t>Public and free to use (CC0 license)</a:t>
            </a:r>
          </a:p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000" b="0" i="0">
                <a:solidFill>
                  <a:srgbClr val="2A2722"/>
                </a:solidFill>
                <a:latin typeface="Arial"/>
              </a:rPr>
              <a:t>Author rohit8527kmr7518  •  1,388 downloads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3703320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050" b="1" i="0" spc="90">
                <a:solidFill>
                  <a:srgbClr val="141414"/>
                </a:solidFill>
                <a:latin typeface="Arial"/>
              </a:rPr>
              <a:t>CLASS DISTRIBUTION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4055364"/>
            <a:ext cx="1051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050" b="0" i="0">
                <a:solidFill>
                  <a:srgbClr val="2A2722"/>
                </a:solidFill>
                <a:latin typeface="Arial"/>
              </a:rPr>
              <a:t>Occasional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801368" y="4096512"/>
            <a:ext cx="1783080" cy="182880"/>
          </a:xfrm>
          <a:prstGeom prst="roundRect">
            <a:avLst>
              <a:gd name="adj" fmla="val 50000"/>
            </a:avLst>
          </a:prstGeom>
          <a:solidFill>
            <a:srgbClr val="ECE6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801368" y="4096512"/>
            <a:ext cx="784555" cy="182880"/>
          </a:xfrm>
          <a:prstGeom prst="roundRect">
            <a:avLst>
              <a:gd name="adj" fmla="val 50000"/>
            </a:avLst>
          </a:prstGeom>
          <a:solidFill>
            <a:srgbClr val="8A7A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94176" y="4014216"/>
            <a:ext cx="56692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100" b="1" i="0">
                <a:solidFill>
                  <a:srgbClr val="141414"/>
                </a:solidFill>
                <a:latin typeface="Arial"/>
              </a:rPr>
              <a:t>44%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4530852"/>
            <a:ext cx="1051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050" b="0" i="0">
                <a:solidFill>
                  <a:srgbClr val="2A2722"/>
                </a:solidFill>
                <a:latin typeface="Arial"/>
              </a:rPr>
              <a:t>Regular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801368" y="4572000"/>
            <a:ext cx="1783080" cy="182880"/>
          </a:xfrm>
          <a:prstGeom prst="roundRect">
            <a:avLst>
              <a:gd name="adj" fmla="val 50000"/>
            </a:avLst>
          </a:prstGeom>
          <a:solidFill>
            <a:srgbClr val="ECE6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1801368" y="4572000"/>
            <a:ext cx="481431" cy="182880"/>
          </a:xfrm>
          <a:prstGeom prst="roundRect">
            <a:avLst>
              <a:gd name="adj" fmla="val 50000"/>
            </a:avLst>
          </a:prstGeom>
          <a:solidFill>
            <a:srgbClr val="4E85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94176" y="4489704"/>
            <a:ext cx="56692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100" b="1" i="0">
                <a:solidFill>
                  <a:srgbClr val="141414"/>
                </a:solidFill>
                <a:latin typeface="Arial"/>
              </a:rPr>
              <a:t>27%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5006340"/>
            <a:ext cx="1051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050" b="0" i="0">
                <a:solidFill>
                  <a:srgbClr val="2A2722"/>
                </a:solidFill>
                <a:latin typeface="Arial"/>
              </a:rPr>
              <a:t>Loyal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801368" y="5047488"/>
            <a:ext cx="1783080" cy="182880"/>
          </a:xfrm>
          <a:prstGeom prst="roundRect">
            <a:avLst>
              <a:gd name="adj" fmla="val 50000"/>
            </a:avLst>
          </a:prstGeom>
          <a:solidFill>
            <a:srgbClr val="ECE6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1801368" y="5047488"/>
            <a:ext cx="320954" cy="182880"/>
          </a:xfrm>
          <a:prstGeom prst="roundRect">
            <a:avLst>
              <a:gd name="adj" fmla="val 50000"/>
            </a:avLst>
          </a:prstGeom>
          <a:solidFill>
            <a:srgbClr val="5170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94176" y="4965192"/>
            <a:ext cx="56692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100" b="1" i="0">
                <a:solidFill>
                  <a:srgbClr val="141414"/>
                </a:solidFill>
                <a:latin typeface="Arial"/>
              </a:rPr>
              <a:t>18%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" y="5481828"/>
            <a:ext cx="1051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050" b="0" i="0">
                <a:solidFill>
                  <a:srgbClr val="2A2722"/>
                </a:solidFill>
                <a:latin typeface="Arial"/>
              </a:rPr>
              <a:t>High-Value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801368" y="5522976"/>
            <a:ext cx="1783080" cy="182880"/>
          </a:xfrm>
          <a:prstGeom prst="roundRect">
            <a:avLst>
              <a:gd name="adj" fmla="val 50000"/>
            </a:avLst>
          </a:prstGeom>
          <a:solidFill>
            <a:srgbClr val="ECE6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1801368" y="5522976"/>
            <a:ext cx="196138" cy="182880"/>
          </a:xfrm>
          <a:prstGeom prst="roundRect">
            <a:avLst>
              <a:gd name="adj" fmla="val 50000"/>
            </a:avLst>
          </a:prstGeom>
          <a:solidFill>
            <a:srgbClr val="6B21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694176" y="5440680"/>
            <a:ext cx="56692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100" b="1" i="0">
                <a:solidFill>
                  <a:srgbClr val="141414"/>
                </a:solidFill>
                <a:latin typeface="Arial"/>
              </a:rPr>
              <a:t>11%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" y="5925312"/>
            <a:ext cx="33832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900" b="0" i="0">
                <a:solidFill>
                  <a:srgbClr val="8A8478"/>
                </a:solidFill>
                <a:latin typeface="Arial"/>
              </a:rPr>
              <a:t>Real shops look like this — many casual buyers, a few VIPs. We kept the natural balance rather than evening it out.</a:t>
            </a:r>
          </a:p>
        </p:txBody>
      </p:sp>
      <p:graphicFrame>
        <p:nvGraphicFramePr>
          <p:cNvPr id="27" name="Table 26"/>
          <p:cNvGraphicFramePr>
            <a:graphicFrameLocks noGrp="1"/>
          </p:cNvGraphicFramePr>
          <p:nvPr/>
        </p:nvGraphicFramePr>
        <p:xfrm>
          <a:off x="4224528" y="1783080"/>
          <a:ext cx="7415782" cy="444581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874519"/>
                <a:gridCol w="1874519"/>
                <a:gridCol w="658368"/>
                <a:gridCol w="3008376"/>
              </a:tblGrid>
              <a:tr h="310896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Column</a:t>
                      </a:r>
                    </a:p>
                  </a:txBody>
                  <a:tcPr marL="82296" marR="54864" marT="18288" marB="18288" anchor="ctr">
                    <a:solidFill>
                      <a:srgbClr val="12121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What it means</a:t>
                      </a:r>
                    </a:p>
                  </a:txBody>
                  <a:tcPr marL="82296" marR="54864" marT="18288" marB="18288" anchor="ctr">
                    <a:solidFill>
                      <a:srgbClr val="12121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Gaps</a:t>
                      </a:r>
                    </a:p>
                  </a:txBody>
                  <a:tcPr marL="82296" marR="54864" marT="18288" marB="18288" anchor="ctr">
                    <a:solidFill>
                      <a:srgbClr val="12121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Typical values</a:t>
                      </a:r>
                    </a:p>
                  </a:txBody>
                  <a:tcPr marL="82296" marR="54864" marT="18288" marB="18288" anchor="ctr">
                    <a:solidFill>
                      <a:srgbClr val="121212"/>
                    </a:solidFill>
                  </a:tcPr>
                </a:tc>
              </a:tr>
              <a:tr h="295351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30" b="1">
                          <a:solidFill>
                            <a:srgbClr val="141414"/>
                          </a:solidFill>
                          <a:latin typeface="Arial"/>
                        </a:rPr>
                        <a:t>customer_id</a:t>
                      </a:r>
                    </a:p>
                  </a:txBody>
                  <a:tcPr marL="82296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30" b="0">
                          <a:solidFill>
                            <a:srgbClr val="2A2722"/>
                          </a:solidFill>
                          <a:latin typeface="Arial"/>
                        </a:rPr>
                        <a:t>an ID label</a:t>
                      </a:r>
                    </a:p>
                  </a:txBody>
                  <a:tcPr marL="82296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30" b="0">
                          <a:solidFill>
                            <a:srgbClr val="2A2722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82296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30" b="0">
                          <a:solidFill>
                            <a:srgbClr val="2A2722"/>
                          </a:solidFill>
                          <a:latin typeface="Arial"/>
                        </a:rPr>
                        <a:t>ignored — not behaviour</a:t>
                      </a:r>
                    </a:p>
                  </a:txBody>
                  <a:tcPr marL="82296" marR="54864" marT="18288" marB="18288" anchor="ctr">
                    <a:solidFill>
                      <a:srgbClr val="FFFFFF"/>
                    </a:solidFill>
                  </a:tcPr>
                </a:tc>
              </a:tr>
              <a:tr h="295351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30" b="1">
                          <a:solidFill>
                            <a:srgbClr val="141414"/>
                          </a:solidFill>
                          <a:latin typeface="Arial"/>
                        </a:rPr>
                        <a:t>age</a:t>
                      </a:r>
                    </a:p>
                  </a:txBody>
                  <a:tcPr marL="82296" marR="54864" marT="18288" marB="18288" anchor="ctr">
                    <a:solidFill>
                      <a:srgbClr val="F4F0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30" b="0">
                          <a:solidFill>
                            <a:srgbClr val="2A2722"/>
                          </a:solidFill>
                          <a:latin typeface="Arial"/>
                        </a:rPr>
                        <a:t>customer age</a:t>
                      </a:r>
                    </a:p>
                  </a:txBody>
                  <a:tcPr marL="82296" marR="54864" marT="18288" marB="18288" anchor="ctr">
                    <a:solidFill>
                      <a:srgbClr val="F4F0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30" b="0">
                          <a:solidFill>
                            <a:srgbClr val="2A2722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82296" marR="54864" marT="18288" marB="18288" anchor="ctr">
                    <a:solidFill>
                      <a:srgbClr val="F4F0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30" b="0">
                          <a:solidFill>
                            <a:srgbClr val="2A2722"/>
                          </a:solidFill>
                          <a:latin typeface="Arial"/>
                        </a:rPr>
                        <a:t>18–70, most 35–50</a:t>
                      </a:r>
                    </a:p>
                  </a:txBody>
                  <a:tcPr marL="82296" marR="54864" marT="18288" marB="18288" anchor="ctr">
                    <a:solidFill>
                      <a:srgbClr val="F4F0E8"/>
                    </a:solidFill>
                  </a:tcPr>
                </a:tc>
              </a:tr>
              <a:tr h="295351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30" b="1">
                          <a:solidFill>
                            <a:srgbClr val="141414"/>
                          </a:solidFill>
                          <a:latin typeface="Arial"/>
                        </a:rPr>
                        <a:t>annual_income</a:t>
                      </a:r>
                    </a:p>
                  </a:txBody>
                  <a:tcPr marL="82296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30" b="0">
                          <a:solidFill>
                            <a:srgbClr val="2A2722"/>
                          </a:solidFill>
                          <a:latin typeface="Arial"/>
                        </a:rPr>
                        <a:t>money earned per year</a:t>
                      </a:r>
                    </a:p>
                  </a:txBody>
                  <a:tcPr marL="82296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30" b="0">
                          <a:solidFill>
                            <a:srgbClr val="2A2722"/>
                          </a:solidFill>
                          <a:latin typeface="Arial"/>
                        </a:rPr>
                        <a:t>3,075</a:t>
                      </a:r>
                    </a:p>
                  </a:txBody>
                  <a:tcPr marL="82296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30" b="0">
                          <a:solidFill>
                            <a:srgbClr val="2A2722"/>
                          </a:solidFill>
                          <a:latin typeface="Arial"/>
                        </a:rPr>
                        <a:t>15k–150k, a few very high</a:t>
                      </a:r>
                    </a:p>
                  </a:txBody>
                  <a:tcPr marL="82296" marR="54864" marT="18288" marB="18288" anchor="ctr">
                    <a:solidFill>
                      <a:srgbClr val="FFFFFF"/>
                    </a:solidFill>
                  </a:tcPr>
                </a:tc>
              </a:tr>
              <a:tr h="295351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30" b="1">
                          <a:solidFill>
                            <a:srgbClr val="141414"/>
                          </a:solidFill>
                          <a:latin typeface="Arial"/>
                        </a:rPr>
                        <a:t>months_active</a:t>
                      </a:r>
                    </a:p>
                  </a:txBody>
                  <a:tcPr marL="82296" marR="54864" marT="18288" marB="18288" anchor="ctr">
                    <a:solidFill>
                      <a:srgbClr val="F4F0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30" b="0">
                          <a:solidFill>
                            <a:srgbClr val="2A2722"/>
                          </a:solidFill>
                          <a:latin typeface="Arial"/>
                        </a:rPr>
                        <a:t>how long a customer</a:t>
                      </a:r>
                    </a:p>
                  </a:txBody>
                  <a:tcPr marL="82296" marR="54864" marT="18288" marB="18288" anchor="ctr">
                    <a:solidFill>
                      <a:srgbClr val="F4F0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30" b="0">
                          <a:solidFill>
                            <a:srgbClr val="2A2722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82296" marR="54864" marT="18288" marB="18288" anchor="ctr">
                    <a:solidFill>
                      <a:srgbClr val="F4F0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30" b="0">
                          <a:solidFill>
                            <a:srgbClr val="2A2722"/>
                          </a:solidFill>
                          <a:latin typeface="Arial"/>
                        </a:rPr>
                        <a:t>1–72 months</a:t>
                      </a:r>
                    </a:p>
                  </a:txBody>
                  <a:tcPr marL="82296" marR="54864" marT="18288" marB="18288" anchor="ctr">
                    <a:solidFill>
                      <a:srgbClr val="F4F0E8"/>
                    </a:solidFill>
                  </a:tcPr>
                </a:tc>
              </a:tr>
              <a:tr h="295351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30" b="1">
                          <a:solidFill>
                            <a:srgbClr val="141414"/>
                          </a:solidFill>
                          <a:latin typeface="Arial"/>
                        </a:rPr>
                        <a:t>avg_monthly_spend</a:t>
                      </a:r>
                    </a:p>
                  </a:txBody>
                  <a:tcPr marL="82296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30" b="0">
                          <a:solidFill>
                            <a:srgbClr val="2A2722"/>
                          </a:solidFill>
                          <a:latin typeface="Arial"/>
                        </a:rPr>
                        <a:t>spent per month</a:t>
                      </a:r>
                    </a:p>
                  </a:txBody>
                  <a:tcPr marL="82296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30" b="0">
                          <a:solidFill>
                            <a:srgbClr val="2A2722"/>
                          </a:solidFill>
                          <a:latin typeface="Arial"/>
                        </a:rPr>
                        <a:t>2,520</a:t>
                      </a:r>
                    </a:p>
                  </a:txBody>
                  <a:tcPr marL="82296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30" b="0">
                          <a:solidFill>
                            <a:srgbClr val="2A2722"/>
                          </a:solidFill>
                          <a:latin typeface="Arial"/>
                        </a:rPr>
                        <a:t>₹20–800, typical ₹320</a:t>
                      </a:r>
                    </a:p>
                  </a:txBody>
                  <a:tcPr marL="82296" marR="54864" marT="18288" marB="18288" anchor="ctr">
                    <a:solidFill>
                      <a:srgbClr val="FFFFFF"/>
                    </a:solidFill>
                  </a:tcPr>
                </a:tc>
              </a:tr>
              <a:tr h="295351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30" b="1">
                          <a:solidFill>
                            <a:srgbClr val="141414"/>
                          </a:solidFill>
                          <a:latin typeface="Arial"/>
                        </a:rPr>
                        <a:t>purchase_frequency</a:t>
                      </a:r>
                    </a:p>
                  </a:txBody>
                  <a:tcPr marL="82296" marR="54864" marT="18288" marB="18288" anchor="ctr">
                    <a:solidFill>
                      <a:srgbClr val="F4F0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30" b="0">
                          <a:solidFill>
                            <a:srgbClr val="2A2722"/>
                          </a:solidFill>
                          <a:latin typeface="Arial"/>
                        </a:rPr>
                        <a:t>shopping trips per month</a:t>
                      </a:r>
                    </a:p>
                  </a:txBody>
                  <a:tcPr marL="82296" marR="54864" marT="18288" marB="18288" anchor="ctr">
                    <a:solidFill>
                      <a:srgbClr val="F4F0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30" b="0">
                          <a:solidFill>
                            <a:srgbClr val="2A2722"/>
                          </a:solidFill>
                          <a:latin typeface="Arial"/>
                        </a:rPr>
                        <a:t>1,979</a:t>
                      </a:r>
                    </a:p>
                  </a:txBody>
                  <a:tcPr marL="82296" marR="54864" marT="18288" marB="18288" anchor="ctr">
                    <a:solidFill>
                      <a:srgbClr val="F4F0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30" b="0">
                          <a:solidFill>
                            <a:srgbClr val="2A2722"/>
                          </a:solidFill>
                          <a:latin typeface="Arial"/>
                        </a:rPr>
                        <a:t>0.1–10, typical 3.2</a:t>
                      </a:r>
                    </a:p>
                  </a:txBody>
                  <a:tcPr marL="82296" marR="54864" marT="18288" marB="18288" anchor="ctr">
                    <a:solidFill>
                      <a:srgbClr val="F4F0E8"/>
                    </a:solidFill>
                  </a:tcPr>
                </a:tc>
              </a:tr>
              <a:tr h="295351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30" b="1">
                          <a:solidFill>
                            <a:srgbClr val="141414"/>
                          </a:solidFill>
                          <a:latin typeface="Arial"/>
                        </a:rPr>
                        <a:t>avg_order_value</a:t>
                      </a:r>
                    </a:p>
                  </a:txBody>
                  <a:tcPr marL="82296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30" b="0">
                          <a:solidFill>
                            <a:srgbClr val="2A2722"/>
                          </a:solidFill>
                          <a:latin typeface="Arial"/>
                        </a:rPr>
                        <a:t>typical basket size</a:t>
                      </a:r>
                    </a:p>
                  </a:txBody>
                  <a:tcPr marL="82296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30" b="0">
                          <a:solidFill>
                            <a:srgbClr val="2A2722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82296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30" b="0">
                          <a:solidFill>
                            <a:srgbClr val="2A2722"/>
                          </a:solidFill>
                          <a:latin typeface="Arial"/>
                        </a:rPr>
                        <a:t>₹20–500</a:t>
                      </a:r>
                    </a:p>
                  </a:txBody>
                  <a:tcPr marL="82296" marR="54864" marT="18288" marB="18288" anchor="ctr">
                    <a:solidFill>
                      <a:srgbClr val="FFFFFF"/>
                    </a:solidFill>
                  </a:tcPr>
                </a:tc>
              </a:tr>
              <a:tr h="295351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30" b="1">
                          <a:solidFill>
                            <a:srgbClr val="141414"/>
                          </a:solidFill>
                          <a:latin typeface="Arial"/>
                        </a:rPr>
                        <a:t>discount_usage_rate</a:t>
                      </a:r>
                    </a:p>
                  </a:txBody>
                  <a:tcPr marL="82296" marR="54864" marT="18288" marB="18288" anchor="ctr">
                    <a:solidFill>
                      <a:srgbClr val="F4F0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30" b="0">
                          <a:solidFill>
                            <a:srgbClr val="2A2722"/>
                          </a:solidFill>
                          <a:latin typeface="Arial"/>
                        </a:rPr>
                        <a:t>how much they use discounts</a:t>
                      </a:r>
                    </a:p>
                  </a:txBody>
                  <a:tcPr marL="82296" marR="54864" marT="18288" marB="18288" anchor="ctr">
                    <a:solidFill>
                      <a:srgbClr val="F4F0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30" b="0">
                          <a:solidFill>
                            <a:srgbClr val="2A2722"/>
                          </a:solidFill>
                          <a:latin typeface="Arial"/>
                        </a:rPr>
                        <a:t>2,549</a:t>
                      </a:r>
                    </a:p>
                  </a:txBody>
                  <a:tcPr marL="82296" marR="54864" marT="18288" marB="18288" anchor="ctr">
                    <a:solidFill>
                      <a:srgbClr val="F4F0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30" b="0">
                          <a:solidFill>
                            <a:srgbClr val="2A2722"/>
                          </a:solidFill>
                          <a:latin typeface="Arial"/>
                        </a:rPr>
                        <a:t>0–1 scale</a:t>
                      </a:r>
                    </a:p>
                  </a:txBody>
                  <a:tcPr marL="82296" marR="54864" marT="18288" marB="18288" anchor="ctr">
                    <a:solidFill>
                      <a:srgbClr val="F4F0E8"/>
                    </a:solidFill>
                  </a:tcPr>
                </a:tc>
              </a:tr>
              <a:tr h="295351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30" b="1">
                          <a:solidFill>
                            <a:srgbClr val="141414"/>
                          </a:solidFill>
                          <a:latin typeface="Arial"/>
                        </a:rPr>
                        <a:t>return_rate</a:t>
                      </a:r>
                    </a:p>
                  </a:txBody>
                  <a:tcPr marL="82296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30" b="0">
                          <a:solidFill>
                            <a:srgbClr val="2A2722"/>
                          </a:solidFill>
                          <a:latin typeface="Arial"/>
                        </a:rPr>
                        <a:t>how often they return items</a:t>
                      </a:r>
                    </a:p>
                  </a:txBody>
                  <a:tcPr marL="82296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30" b="0">
                          <a:solidFill>
                            <a:srgbClr val="2A2722"/>
                          </a:solidFill>
                          <a:latin typeface="Arial"/>
                        </a:rPr>
                        <a:t>2,487</a:t>
                      </a:r>
                    </a:p>
                  </a:txBody>
                  <a:tcPr marL="82296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30" b="0">
                          <a:solidFill>
                            <a:srgbClr val="2A2722"/>
                          </a:solidFill>
                          <a:latin typeface="Arial"/>
                        </a:rPr>
                        <a:t>0–1 scale</a:t>
                      </a:r>
                    </a:p>
                  </a:txBody>
                  <a:tcPr marL="82296" marR="54864" marT="18288" marB="18288" anchor="ctr">
                    <a:solidFill>
                      <a:srgbClr val="FFFFFF"/>
                    </a:solidFill>
                  </a:tcPr>
                </a:tc>
              </a:tr>
              <a:tr h="295351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30" b="1">
                          <a:solidFill>
                            <a:srgbClr val="141414"/>
                          </a:solidFill>
                          <a:latin typeface="Arial"/>
                        </a:rPr>
                        <a:t>browsing_time_minutes</a:t>
                      </a:r>
                    </a:p>
                  </a:txBody>
                  <a:tcPr marL="82296" marR="54864" marT="18288" marB="18288" anchor="ctr">
                    <a:solidFill>
                      <a:srgbClr val="F4F0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30" b="0">
                          <a:solidFill>
                            <a:srgbClr val="2A2722"/>
                          </a:solidFill>
                          <a:latin typeface="Arial"/>
                        </a:rPr>
                        <a:t>time on the website</a:t>
                      </a:r>
                    </a:p>
                  </a:txBody>
                  <a:tcPr marL="82296" marR="54864" marT="18288" marB="18288" anchor="ctr">
                    <a:solidFill>
                      <a:srgbClr val="F4F0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30" b="0">
                          <a:solidFill>
                            <a:srgbClr val="2A2722"/>
                          </a:solidFill>
                          <a:latin typeface="Arial"/>
                        </a:rPr>
                        <a:t>3,934</a:t>
                      </a:r>
                    </a:p>
                  </a:txBody>
                  <a:tcPr marL="82296" marR="54864" marT="18288" marB="18288" anchor="ctr">
                    <a:solidFill>
                      <a:srgbClr val="F4F0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30" b="0">
                          <a:solidFill>
                            <a:srgbClr val="2A2722"/>
                          </a:solidFill>
                          <a:latin typeface="Arial"/>
                        </a:rPr>
                        <a:t>5–200 min (most gaps)</a:t>
                      </a:r>
                    </a:p>
                  </a:txBody>
                  <a:tcPr marL="82296" marR="54864" marT="18288" marB="18288" anchor="ctr">
                    <a:solidFill>
                      <a:srgbClr val="F4F0E8"/>
                    </a:solidFill>
                  </a:tcPr>
                </a:tc>
              </a:tr>
              <a:tr h="295351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30" b="1">
                          <a:solidFill>
                            <a:srgbClr val="141414"/>
                          </a:solidFill>
                          <a:latin typeface="Arial"/>
                        </a:rPr>
                        <a:t>support_interactions</a:t>
                      </a:r>
                    </a:p>
                  </a:txBody>
                  <a:tcPr marL="82296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30" b="0">
                          <a:solidFill>
                            <a:srgbClr val="2A2722"/>
                          </a:solidFill>
                          <a:latin typeface="Arial"/>
                        </a:rPr>
                        <a:t>help calls / chats</a:t>
                      </a:r>
                    </a:p>
                  </a:txBody>
                  <a:tcPr marL="82296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30" b="0">
                          <a:solidFill>
                            <a:srgbClr val="2A2722"/>
                          </a:solidFill>
                          <a:latin typeface="Arial"/>
                        </a:rPr>
                        <a:t>1,988</a:t>
                      </a:r>
                    </a:p>
                  </a:txBody>
                  <a:tcPr marL="82296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30" b="0">
                          <a:solidFill>
                            <a:srgbClr val="2A2722"/>
                          </a:solidFill>
                          <a:latin typeface="Arial"/>
                        </a:rPr>
                        <a:t>0–15</a:t>
                      </a:r>
                    </a:p>
                  </a:txBody>
                  <a:tcPr marL="82296" marR="54864" marT="18288" marB="18288" anchor="ctr">
                    <a:solidFill>
                      <a:srgbClr val="FFFFFF"/>
                    </a:solidFill>
                  </a:tcPr>
                </a:tc>
              </a:tr>
              <a:tr h="295351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30" b="1">
                          <a:solidFill>
                            <a:srgbClr val="141414"/>
                          </a:solidFill>
                          <a:latin typeface="Arial"/>
                        </a:rPr>
                        <a:t>payment_method</a:t>
                      </a:r>
                    </a:p>
                  </a:txBody>
                  <a:tcPr marL="82296" marR="54864" marT="18288" marB="18288" anchor="ctr">
                    <a:solidFill>
                      <a:srgbClr val="F4F0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30" b="0">
                          <a:solidFill>
                            <a:srgbClr val="2A2722"/>
                          </a:solidFill>
                          <a:latin typeface="Arial"/>
                        </a:rPr>
                        <a:t>how they pay</a:t>
                      </a:r>
                    </a:p>
                  </a:txBody>
                  <a:tcPr marL="82296" marR="54864" marT="18288" marB="18288" anchor="ctr">
                    <a:solidFill>
                      <a:srgbClr val="F4F0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30" b="0">
                          <a:solidFill>
                            <a:srgbClr val="2A2722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82296" marR="54864" marT="18288" marB="18288" anchor="ctr">
                    <a:solidFill>
                      <a:srgbClr val="F4F0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30" b="0">
                          <a:solidFill>
                            <a:srgbClr val="2A2722"/>
                          </a:solidFill>
                          <a:latin typeface="Arial"/>
                        </a:rPr>
                        <a:t>Card 40% • Wallet 35% • UPI 25%</a:t>
                      </a:r>
                    </a:p>
                  </a:txBody>
                  <a:tcPr marL="82296" marR="54864" marT="18288" marB="18288" anchor="ctr">
                    <a:solidFill>
                      <a:srgbClr val="F4F0E8"/>
                    </a:solidFill>
                  </a:tcPr>
                </a:tc>
              </a:tr>
              <a:tr h="295351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30" b="1">
                          <a:solidFill>
                            <a:srgbClr val="141414"/>
                          </a:solidFill>
                          <a:latin typeface="Arial"/>
                        </a:rPr>
                        <a:t>region</a:t>
                      </a:r>
                    </a:p>
                  </a:txBody>
                  <a:tcPr marL="82296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30" b="0">
                          <a:solidFill>
                            <a:srgbClr val="2A2722"/>
                          </a:solidFill>
                          <a:latin typeface="Arial"/>
                        </a:rPr>
                        <a:t>where they live</a:t>
                      </a:r>
                    </a:p>
                  </a:txBody>
                  <a:tcPr marL="82296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30" b="0">
                          <a:solidFill>
                            <a:srgbClr val="2A2722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82296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30" b="0">
                          <a:solidFill>
                            <a:srgbClr val="2A2722"/>
                          </a:solidFill>
                          <a:latin typeface="Arial"/>
                        </a:rPr>
                        <a:t>Urban 50% • Semi 30% • Rural 20%</a:t>
                      </a:r>
                    </a:p>
                  </a:txBody>
                  <a:tcPr marL="82296" marR="54864" marT="18288" marB="18288" anchor="ctr">
                    <a:solidFill>
                      <a:srgbClr val="FFFFFF"/>
                    </a:solidFill>
                  </a:tcPr>
                </a:tc>
              </a:tr>
              <a:tr h="295351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30" b="1">
                          <a:solidFill>
                            <a:srgbClr val="141414"/>
                          </a:solidFill>
                          <a:latin typeface="Arial"/>
                        </a:rPr>
                        <a:t>customer_segment</a:t>
                      </a:r>
                    </a:p>
                  </a:txBody>
                  <a:tcPr marL="82296" marR="54864" marT="18288" marB="18288" anchor="ctr">
                    <a:solidFill>
                      <a:srgbClr val="F4F0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30" b="0">
                          <a:solidFill>
                            <a:srgbClr val="2A2722"/>
                          </a:solidFill>
                          <a:latin typeface="Arial"/>
                        </a:rPr>
                        <a:t>THE ANSWER we predict</a:t>
                      </a:r>
                    </a:p>
                  </a:txBody>
                  <a:tcPr marL="82296" marR="54864" marT="18288" marB="18288" anchor="ctr">
                    <a:solidFill>
                      <a:srgbClr val="F4F0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30" b="0">
                          <a:solidFill>
                            <a:srgbClr val="2A2722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82296" marR="54864" marT="18288" marB="18288" anchor="ctr">
                    <a:solidFill>
                      <a:srgbClr val="F4F0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30" b="0">
                          <a:solidFill>
                            <a:srgbClr val="2A2722"/>
                          </a:solidFill>
                          <a:latin typeface="Arial"/>
                        </a:rPr>
                        <a:t>4 groups</a:t>
                      </a:r>
                    </a:p>
                  </a:txBody>
                  <a:tcPr marL="82296" marR="54864" marT="18288" marB="18288" anchor="ctr">
                    <a:solidFill>
                      <a:srgbClr val="F4F0E8"/>
                    </a:solidFill>
                  </a:tcPr>
                </a:tc>
              </a:tr>
            </a:tbl>
          </a:graphicData>
        </a:graphic>
      </p:graphicFrame>
      <p:sp>
        <p:nvSpPr>
          <p:cNvPr id="28" name="TextBox 27"/>
          <p:cNvSpPr txBox="1"/>
          <p:nvPr/>
        </p:nvSpPr>
        <p:spPr>
          <a:xfrm>
            <a:off x="566928" y="6492240"/>
            <a:ext cx="6858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750" b="0" i="0" spc="100">
                <a:solidFill>
                  <a:srgbClr val="9A9385"/>
                </a:solidFill>
                <a:latin typeface="Arial"/>
              </a:rPr>
              <a:t>RETAIL OPS  •  KAGGLE 50K REAL  •  LENS v3.0  •  05/18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18520" y="6272784"/>
            <a:ext cx="8229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6000"/>
              </a:lnSpc>
              <a:spcAft>
                <a:spcPts val="400"/>
              </a:spcAft>
            </a:pPr>
            <a:r>
              <a:rPr sz="2400" b="1" i="0">
                <a:solidFill>
                  <a:srgbClr val="C7C0B1"/>
                </a:solidFill>
                <a:latin typeface="Arial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050" b="1" i="0" spc="140">
                <a:solidFill>
                  <a:srgbClr val="8A8478"/>
                </a:solidFill>
                <a:latin typeface="Arial"/>
              </a:rPr>
              <a:t>STEP 03  •  DATA UNDERSTANDING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49808"/>
            <a:ext cx="1106424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4000" b="1" i="0">
                <a:solidFill>
                  <a:srgbClr val="141414"/>
                </a:solidFill>
                <a:latin typeface="Arial"/>
              </a:rPr>
              <a:t>50k records, 12 details, real gaps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554480"/>
            <a:ext cx="11055096" cy="17780"/>
          </a:xfrm>
          <a:prstGeom prst="rect">
            <a:avLst/>
          </a:prstGeom>
          <a:solidFill>
            <a:srgbClr val="DDD6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66928" y="1783080"/>
            <a:ext cx="1764792" cy="98755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3DD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12648" y="1874519"/>
            <a:ext cx="1673351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100"/>
              </a:spcAft>
            </a:pPr>
            <a:r>
              <a:rPr sz="2600" b="1">
                <a:solidFill>
                  <a:srgbClr val="141414"/>
                </a:solidFill>
                <a:latin typeface="Arial"/>
              </a:rPr>
              <a:t>50,000</a:t>
            </a:r>
          </a:p>
          <a:p>
            <a:pPr algn="ctr">
              <a:lnSpc>
                <a:spcPct val="106000"/>
              </a:lnSpc>
              <a:spcAft>
                <a:spcPts val="0"/>
              </a:spcAft>
            </a:pPr>
            <a:r>
              <a:rPr sz="850" b="1" i="0" spc="80">
                <a:solidFill>
                  <a:srgbClr val="6E685C"/>
                </a:solidFill>
                <a:latin typeface="Arial"/>
              </a:rPr>
              <a:t>ROWS</a:t>
            </a:r>
          </a:p>
          <a:p>
            <a:pPr algn="ctr">
              <a:lnSpc>
                <a:spcPct val="106000"/>
              </a:lnSpc>
              <a:spcAft>
                <a:spcPts val="0"/>
              </a:spcAft>
            </a:pPr>
            <a:r>
              <a:rPr sz="750" b="0" i="0">
                <a:solidFill>
                  <a:srgbClr val="B5AEA0"/>
                </a:solidFill>
                <a:latin typeface="Arial"/>
              </a:rPr>
              <a:t>real customers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432304" y="1783080"/>
            <a:ext cx="1764792" cy="98755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3DD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478024" y="1874519"/>
            <a:ext cx="1673351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100"/>
              </a:spcAft>
            </a:pPr>
            <a:r>
              <a:rPr sz="2600" b="1">
                <a:solidFill>
                  <a:srgbClr val="141414"/>
                </a:solidFill>
                <a:latin typeface="Arial"/>
              </a:rPr>
              <a:t>13</a:t>
            </a:r>
          </a:p>
          <a:p>
            <a:pPr algn="ctr">
              <a:lnSpc>
                <a:spcPct val="106000"/>
              </a:lnSpc>
              <a:spcAft>
                <a:spcPts val="0"/>
              </a:spcAft>
            </a:pPr>
            <a:r>
              <a:rPr sz="850" b="1" i="0" spc="80">
                <a:solidFill>
                  <a:srgbClr val="6E685C"/>
                </a:solidFill>
                <a:latin typeface="Arial"/>
              </a:rPr>
              <a:t>USABLE COLS</a:t>
            </a:r>
          </a:p>
          <a:p>
            <a:pPr algn="ctr">
              <a:lnSpc>
                <a:spcPct val="106000"/>
              </a:lnSpc>
              <a:spcAft>
                <a:spcPts val="0"/>
              </a:spcAft>
            </a:pPr>
            <a:r>
              <a:rPr sz="750" b="0" i="0">
                <a:solidFill>
                  <a:srgbClr val="B5AEA0"/>
                </a:solidFill>
                <a:latin typeface="Arial"/>
              </a:rPr>
              <a:t>12 details + answer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0" y="1783080"/>
            <a:ext cx="1764792" cy="98755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3DD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43400" y="1874519"/>
            <a:ext cx="1673351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100"/>
              </a:spcAft>
            </a:pPr>
            <a:r>
              <a:rPr sz="2600" b="1">
                <a:solidFill>
                  <a:srgbClr val="141414"/>
                </a:solidFill>
                <a:latin typeface="Arial"/>
              </a:rPr>
              <a:t>3,934</a:t>
            </a:r>
          </a:p>
          <a:p>
            <a:pPr algn="ctr">
              <a:lnSpc>
                <a:spcPct val="106000"/>
              </a:lnSpc>
              <a:spcAft>
                <a:spcPts val="0"/>
              </a:spcAft>
            </a:pPr>
            <a:r>
              <a:rPr sz="850" b="1" i="0" spc="80">
                <a:solidFill>
                  <a:srgbClr val="6E685C"/>
                </a:solidFill>
                <a:latin typeface="Arial"/>
              </a:rPr>
              <a:t>MOST MISSING</a:t>
            </a:r>
          </a:p>
          <a:p>
            <a:pPr algn="ctr">
              <a:lnSpc>
                <a:spcPct val="106000"/>
              </a:lnSpc>
              <a:spcAft>
                <a:spcPts val="0"/>
              </a:spcAft>
            </a:pPr>
            <a:r>
              <a:rPr sz="750" b="0" i="0">
                <a:solidFill>
                  <a:srgbClr val="B5AEA0"/>
                </a:solidFill>
                <a:latin typeface="Arial"/>
              </a:rPr>
              <a:t>website minutes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63056" y="1783080"/>
            <a:ext cx="1764792" cy="98755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3DD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08776" y="1874519"/>
            <a:ext cx="1673351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100"/>
              </a:spcAft>
            </a:pPr>
            <a:r>
              <a:rPr sz="2600" b="1">
                <a:solidFill>
                  <a:srgbClr val="141414"/>
                </a:solidFill>
                <a:latin typeface="Arial"/>
              </a:rPr>
              <a:t>4</a:t>
            </a:r>
          </a:p>
          <a:p>
            <a:pPr algn="ctr">
              <a:lnSpc>
                <a:spcPct val="106000"/>
              </a:lnSpc>
              <a:spcAft>
                <a:spcPts val="0"/>
              </a:spcAft>
            </a:pPr>
            <a:r>
              <a:rPr sz="850" b="1" i="0" spc="80">
                <a:solidFill>
                  <a:srgbClr val="6E685C"/>
                </a:solidFill>
                <a:latin typeface="Arial"/>
              </a:rPr>
              <a:t>CLASSES</a:t>
            </a:r>
          </a:p>
          <a:p>
            <a:pPr algn="ctr">
              <a:lnSpc>
                <a:spcPct val="106000"/>
              </a:lnSpc>
              <a:spcAft>
                <a:spcPts val="0"/>
              </a:spcAft>
            </a:pPr>
            <a:r>
              <a:rPr sz="750" b="0" i="0">
                <a:solidFill>
                  <a:srgbClr val="B5AEA0"/>
                </a:solidFill>
                <a:latin typeface="Arial"/>
              </a:rPr>
              <a:t>uneven, like real life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28431" y="1783080"/>
            <a:ext cx="1764792" cy="98755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3DD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74152" y="1874519"/>
            <a:ext cx="1673351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100"/>
              </a:spcAft>
            </a:pPr>
            <a:r>
              <a:rPr sz="2600" b="1">
                <a:solidFill>
                  <a:srgbClr val="141414"/>
                </a:solidFill>
                <a:latin typeface="Arial"/>
              </a:rPr>
              <a:t>7.8 MB</a:t>
            </a:r>
          </a:p>
          <a:p>
            <a:pPr algn="ctr">
              <a:lnSpc>
                <a:spcPct val="106000"/>
              </a:lnSpc>
              <a:spcAft>
                <a:spcPts val="0"/>
              </a:spcAft>
            </a:pPr>
            <a:r>
              <a:rPr sz="850" b="1" i="0" spc="80">
                <a:solidFill>
                  <a:srgbClr val="6E685C"/>
                </a:solidFill>
                <a:latin typeface="Arial"/>
              </a:rPr>
              <a:t>CSV SIZE</a:t>
            </a:r>
          </a:p>
          <a:p>
            <a:pPr algn="ctr">
              <a:lnSpc>
                <a:spcPct val="106000"/>
              </a:lnSpc>
              <a:spcAft>
                <a:spcPts val="0"/>
              </a:spcAft>
            </a:pPr>
            <a:r>
              <a:rPr sz="750" b="0" i="0">
                <a:solidFill>
                  <a:srgbClr val="B5AEA0"/>
                </a:solidFill>
                <a:latin typeface="Arial"/>
              </a:rPr>
              <a:t>opens instantly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893807" y="1783080"/>
            <a:ext cx="1764792" cy="98755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3DD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939528" y="1874519"/>
            <a:ext cx="1673351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100"/>
              </a:spcAft>
            </a:pPr>
            <a:r>
              <a:rPr sz="2600" b="1">
                <a:solidFill>
                  <a:srgbClr val="141414"/>
                </a:solidFill>
                <a:latin typeface="Arial"/>
              </a:rPr>
              <a:t>0</a:t>
            </a:r>
          </a:p>
          <a:p>
            <a:pPr algn="ctr">
              <a:lnSpc>
                <a:spcPct val="106000"/>
              </a:lnSpc>
              <a:spcAft>
                <a:spcPts val="0"/>
              </a:spcAft>
            </a:pPr>
            <a:r>
              <a:rPr sz="850" b="1" i="0" spc="80">
                <a:solidFill>
                  <a:srgbClr val="6E685C"/>
                </a:solidFill>
                <a:latin typeface="Arial"/>
              </a:rPr>
              <a:t>DUPLICATES</a:t>
            </a:r>
          </a:p>
          <a:p>
            <a:pPr algn="ctr">
              <a:lnSpc>
                <a:spcPct val="106000"/>
              </a:lnSpc>
              <a:spcAft>
                <a:spcPts val="0"/>
              </a:spcAft>
            </a:pPr>
            <a:r>
              <a:rPr sz="750" b="0" i="0">
                <a:solidFill>
                  <a:srgbClr val="B5AEA0"/>
                </a:solidFill>
                <a:latin typeface="Arial"/>
              </a:rPr>
              <a:t>nobody counted twice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566928" y="2999232"/>
          <a:ext cx="6501383" cy="319125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874519"/>
                <a:gridCol w="777240"/>
                <a:gridCol w="960120"/>
                <a:gridCol w="685800"/>
                <a:gridCol w="2203704"/>
              </a:tblGrid>
              <a:tr h="310896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Detail</a:t>
                      </a:r>
                    </a:p>
                  </a:txBody>
                  <a:tcPr marL="82296" marR="54864" marT="18288" marB="18288" anchor="ctr">
                    <a:solidFill>
                      <a:srgbClr val="12121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Average</a:t>
                      </a:r>
                    </a:p>
                  </a:txBody>
                  <a:tcPr marL="82296" marR="54864" marT="18288" marB="18288" anchor="ctr">
                    <a:solidFill>
                      <a:srgbClr val="12121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Range</a:t>
                      </a:r>
                    </a:p>
                  </a:txBody>
                  <a:tcPr marL="82296" marR="54864" marT="18288" marB="18288" anchor="ctr">
                    <a:solidFill>
                      <a:srgbClr val="12121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Gaps</a:t>
                      </a:r>
                    </a:p>
                  </a:txBody>
                  <a:tcPr marL="82296" marR="54864" marT="18288" marB="18288" anchor="ctr">
                    <a:solidFill>
                      <a:srgbClr val="12121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What it hints</a:t>
                      </a:r>
                    </a:p>
                  </a:txBody>
                  <a:tcPr marL="82296" marR="54864" marT="18288" marB="18288" anchor="ctr">
                    <a:solidFill>
                      <a:srgbClr val="121212"/>
                    </a:solidFill>
                  </a:tcPr>
                </a:tc>
              </a:tr>
              <a:tr h="288036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30" b="1">
                          <a:solidFill>
                            <a:srgbClr val="141414"/>
                          </a:solidFill>
                          <a:latin typeface="Arial"/>
                        </a:rPr>
                        <a:t>age</a:t>
                      </a:r>
                    </a:p>
                  </a:txBody>
                  <a:tcPr marL="82296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30" b="0">
                          <a:solidFill>
                            <a:srgbClr val="2A2722"/>
                          </a:solidFill>
                          <a:latin typeface="Arial"/>
                        </a:rPr>
                        <a:t>43.5</a:t>
                      </a:r>
                    </a:p>
                  </a:txBody>
                  <a:tcPr marL="82296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30" b="0">
                          <a:solidFill>
                            <a:srgbClr val="2A2722"/>
                          </a:solidFill>
                          <a:latin typeface="Arial"/>
                        </a:rPr>
                        <a:t>18–70</a:t>
                      </a:r>
                    </a:p>
                  </a:txBody>
                  <a:tcPr marL="82296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30" b="0">
                          <a:solidFill>
                            <a:srgbClr val="2A2722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82296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30" b="0">
                          <a:solidFill>
                            <a:srgbClr val="2A2722"/>
                          </a:solidFill>
                          <a:latin typeface="Arial"/>
                        </a:rPr>
                        <a:t>Loyal ~45 vs Occasional ~32</a:t>
                      </a:r>
                    </a:p>
                  </a:txBody>
                  <a:tcPr marL="82296" marR="54864" marT="18288" marB="18288" anchor="ctr">
                    <a:solidFill>
                      <a:srgbClr val="FFFFFF"/>
                    </a:solidFill>
                  </a:tcPr>
                </a:tc>
              </a:tr>
              <a:tr h="288036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30" b="1">
                          <a:solidFill>
                            <a:srgbClr val="141414"/>
                          </a:solidFill>
                          <a:latin typeface="Arial"/>
                        </a:rPr>
                        <a:t>annual_income</a:t>
                      </a:r>
                    </a:p>
                  </a:txBody>
                  <a:tcPr marL="82296" marR="54864" marT="18288" marB="18288" anchor="ctr">
                    <a:solidFill>
                      <a:srgbClr val="F4F0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30" b="0">
                          <a:solidFill>
                            <a:srgbClr val="2A2722"/>
                          </a:solidFill>
                          <a:latin typeface="Arial"/>
                        </a:rPr>
                        <a:t>₹55k</a:t>
                      </a:r>
                    </a:p>
                  </a:txBody>
                  <a:tcPr marL="82296" marR="54864" marT="18288" marB="18288" anchor="ctr">
                    <a:solidFill>
                      <a:srgbClr val="F4F0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30" b="0">
                          <a:solidFill>
                            <a:srgbClr val="2A2722"/>
                          </a:solidFill>
                          <a:latin typeface="Arial"/>
                        </a:rPr>
                        <a:t>15k–150k</a:t>
                      </a:r>
                    </a:p>
                  </a:txBody>
                  <a:tcPr marL="82296" marR="54864" marT="18288" marB="18288" anchor="ctr">
                    <a:solidFill>
                      <a:srgbClr val="F4F0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30" b="0">
                          <a:solidFill>
                            <a:srgbClr val="2A2722"/>
                          </a:solidFill>
                          <a:latin typeface="Arial"/>
                        </a:rPr>
                        <a:t>3,075</a:t>
                      </a:r>
                    </a:p>
                  </a:txBody>
                  <a:tcPr marL="82296" marR="54864" marT="18288" marB="18288" anchor="ctr">
                    <a:solidFill>
                      <a:srgbClr val="F4F0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30" b="0">
                          <a:solidFill>
                            <a:srgbClr val="2A2722"/>
                          </a:solidFill>
                          <a:latin typeface="Arial"/>
                        </a:rPr>
                        <a:t>High-Value ₹95k+ vs Occ ₹38k</a:t>
                      </a:r>
                    </a:p>
                  </a:txBody>
                  <a:tcPr marL="82296" marR="54864" marT="18288" marB="18288" anchor="ctr">
                    <a:solidFill>
                      <a:srgbClr val="F4F0E8"/>
                    </a:solidFill>
                  </a:tcPr>
                </a:tc>
              </a:tr>
              <a:tr h="288036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30" b="1">
                          <a:solidFill>
                            <a:srgbClr val="141414"/>
                          </a:solidFill>
                          <a:latin typeface="Arial"/>
                        </a:rPr>
                        <a:t>months_active</a:t>
                      </a:r>
                    </a:p>
                  </a:txBody>
                  <a:tcPr marL="82296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30" b="0">
                          <a:solidFill>
                            <a:srgbClr val="2A2722"/>
                          </a:solidFill>
                          <a:latin typeface="Arial"/>
                        </a:rPr>
                        <a:t>36 mo</a:t>
                      </a:r>
                    </a:p>
                  </a:txBody>
                  <a:tcPr marL="82296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30" b="0">
                          <a:solidFill>
                            <a:srgbClr val="2A2722"/>
                          </a:solidFill>
                          <a:latin typeface="Arial"/>
                        </a:rPr>
                        <a:t>1–72</a:t>
                      </a:r>
                    </a:p>
                  </a:txBody>
                  <a:tcPr marL="82296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30" b="0">
                          <a:solidFill>
                            <a:srgbClr val="2A2722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82296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30" b="0">
                          <a:solidFill>
                            <a:srgbClr val="2A2722"/>
                          </a:solidFill>
                          <a:latin typeface="Arial"/>
                        </a:rPr>
                        <a:t>Loyal 60+ vs Occasional 18</a:t>
                      </a:r>
                    </a:p>
                  </a:txBody>
                  <a:tcPr marL="82296" marR="54864" marT="18288" marB="18288" anchor="ctr">
                    <a:solidFill>
                      <a:srgbClr val="FFFFFF"/>
                    </a:solidFill>
                  </a:tcPr>
                </a:tc>
              </a:tr>
              <a:tr h="288036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30" b="1">
                          <a:solidFill>
                            <a:srgbClr val="141414"/>
                          </a:solidFill>
                          <a:latin typeface="Arial"/>
                        </a:rPr>
                        <a:t>avg_monthly_spend</a:t>
                      </a:r>
                    </a:p>
                  </a:txBody>
                  <a:tcPr marL="82296" marR="54864" marT="18288" marB="18288" anchor="ctr">
                    <a:solidFill>
                      <a:srgbClr val="F4F0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30" b="0">
                          <a:solidFill>
                            <a:srgbClr val="2A2722"/>
                          </a:solidFill>
                          <a:latin typeface="Arial"/>
                        </a:rPr>
                        <a:t>₹320</a:t>
                      </a:r>
                    </a:p>
                  </a:txBody>
                  <a:tcPr marL="82296" marR="54864" marT="18288" marB="18288" anchor="ctr">
                    <a:solidFill>
                      <a:srgbClr val="F4F0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30" b="0">
                          <a:solidFill>
                            <a:srgbClr val="2A2722"/>
                          </a:solidFill>
                          <a:latin typeface="Arial"/>
                        </a:rPr>
                        <a:t>₹20–800</a:t>
                      </a:r>
                    </a:p>
                  </a:txBody>
                  <a:tcPr marL="82296" marR="54864" marT="18288" marB="18288" anchor="ctr">
                    <a:solidFill>
                      <a:srgbClr val="F4F0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30" b="0">
                          <a:solidFill>
                            <a:srgbClr val="2A2722"/>
                          </a:solidFill>
                          <a:latin typeface="Arial"/>
                        </a:rPr>
                        <a:t>2,520</a:t>
                      </a:r>
                    </a:p>
                  </a:txBody>
                  <a:tcPr marL="82296" marR="54864" marT="18288" marB="18288" anchor="ctr">
                    <a:solidFill>
                      <a:srgbClr val="F4F0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30" b="0">
                          <a:solidFill>
                            <a:srgbClr val="2A2722"/>
                          </a:solidFill>
                          <a:latin typeface="Arial"/>
                        </a:rPr>
                        <a:t>High-Value 650+ vs Occ 120</a:t>
                      </a:r>
                    </a:p>
                  </a:txBody>
                  <a:tcPr marL="82296" marR="54864" marT="18288" marB="18288" anchor="ctr">
                    <a:solidFill>
                      <a:srgbClr val="F4F0E8"/>
                    </a:solidFill>
                  </a:tcPr>
                </a:tc>
              </a:tr>
              <a:tr h="288036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30" b="1">
                          <a:solidFill>
                            <a:srgbClr val="141414"/>
                          </a:solidFill>
                          <a:latin typeface="Arial"/>
                        </a:rPr>
                        <a:t>purchase_frequency</a:t>
                      </a:r>
                    </a:p>
                  </a:txBody>
                  <a:tcPr marL="82296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30" b="0">
                          <a:solidFill>
                            <a:srgbClr val="2A2722"/>
                          </a:solidFill>
                          <a:latin typeface="Arial"/>
                        </a:rPr>
                        <a:t>3.2/mo</a:t>
                      </a:r>
                    </a:p>
                  </a:txBody>
                  <a:tcPr marL="82296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30" b="0">
                          <a:solidFill>
                            <a:srgbClr val="2A2722"/>
                          </a:solidFill>
                          <a:latin typeface="Arial"/>
                        </a:rPr>
                        <a:t>0.1–10</a:t>
                      </a:r>
                    </a:p>
                  </a:txBody>
                  <a:tcPr marL="82296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30" b="0">
                          <a:solidFill>
                            <a:srgbClr val="2A2722"/>
                          </a:solidFill>
                          <a:latin typeface="Arial"/>
                        </a:rPr>
                        <a:t>1,979</a:t>
                      </a:r>
                    </a:p>
                  </a:txBody>
                  <a:tcPr marL="82296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30" b="0">
                          <a:solidFill>
                            <a:srgbClr val="2A2722"/>
                          </a:solidFill>
                          <a:latin typeface="Arial"/>
                        </a:rPr>
                        <a:t>Loyal 4.2 vs Occasional 0.8</a:t>
                      </a:r>
                    </a:p>
                  </a:txBody>
                  <a:tcPr marL="82296" marR="54864" marT="18288" marB="18288" anchor="ctr">
                    <a:solidFill>
                      <a:srgbClr val="FFFFFF"/>
                    </a:solidFill>
                  </a:tcPr>
                </a:tc>
              </a:tr>
              <a:tr h="288036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30" b="1">
                          <a:solidFill>
                            <a:srgbClr val="141414"/>
                          </a:solidFill>
                          <a:latin typeface="Arial"/>
                        </a:rPr>
                        <a:t>avg_order_value</a:t>
                      </a:r>
                    </a:p>
                  </a:txBody>
                  <a:tcPr marL="82296" marR="54864" marT="18288" marB="18288" anchor="ctr">
                    <a:solidFill>
                      <a:srgbClr val="F4F0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30" b="0">
                          <a:solidFill>
                            <a:srgbClr val="2A2722"/>
                          </a:solidFill>
                          <a:latin typeface="Arial"/>
                        </a:rPr>
                        <a:t>₹150</a:t>
                      </a:r>
                    </a:p>
                  </a:txBody>
                  <a:tcPr marL="82296" marR="54864" marT="18288" marB="18288" anchor="ctr">
                    <a:solidFill>
                      <a:srgbClr val="F4F0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30" b="0">
                          <a:solidFill>
                            <a:srgbClr val="2A2722"/>
                          </a:solidFill>
                          <a:latin typeface="Arial"/>
                        </a:rPr>
                        <a:t>₹20–500</a:t>
                      </a:r>
                    </a:p>
                  </a:txBody>
                  <a:tcPr marL="82296" marR="54864" marT="18288" marB="18288" anchor="ctr">
                    <a:solidFill>
                      <a:srgbClr val="F4F0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30" b="0">
                          <a:solidFill>
                            <a:srgbClr val="2A2722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82296" marR="54864" marT="18288" marB="18288" anchor="ctr">
                    <a:solidFill>
                      <a:srgbClr val="F4F0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30" b="0">
                          <a:solidFill>
                            <a:srgbClr val="2A2722"/>
                          </a:solidFill>
                          <a:latin typeface="Arial"/>
                        </a:rPr>
                        <a:t>High-Value ₹280 vs Occ ₹85</a:t>
                      </a:r>
                    </a:p>
                  </a:txBody>
                  <a:tcPr marL="82296" marR="54864" marT="18288" marB="18288" anchor="ctr">
                    <a:solidFill>
                      <a:srgbClr val="F4F0E8"/>
                    </a:solidFill>
                  </a:tcPr>
                </a:tc>
              </a:tr>
              <a:tr h="288036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30" b="1">
                          <a:solidFill>
                            <a:srgbClr val="141414"/>
                          </a:solidFill>
                          <a:latin typeface="Arial"/>
                        </a:rPr>
                        <a:t>discount_usage_rate</a:t>
                      </a:r>
                    </a:p>
                  </a:txBody>
                  <a:tcPr marL="82296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30" b="0">
                          <a:solidFill>
                            <a:srgbClr val="2A2722"/>
                          </a:solidFill>
                          <a:latin typeface="Arial"/>
                        </a:rPr>
                        <a:t>0.22</a:t>
                      </a:r>
                    </a:p>
                  </a:txBody>
                  <a:tcPr marL="82296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30" b="0">
                          <a:solidFill>
                            <a:srgbClr val="2A2722"/>
                          </a:solidFill>
                          <a:latin typeface="Arial"/>
                        </a:rPr>
                        <a:t>0–1</a:t>
                      </a:r>
                    </a:p>
                  </a:txBody>
                  <a:tcPr marL="82296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30" b="0">
                          <a:solidFill>
                            <a:srgbClr val="2A2722"/>
                          </a:solidFill>
                          <a:latin typeface="Arial"/>
                        </a:rPr>
                        <a:t>2,549</a:t>
                      </a:r>
                    </a:p>
                  </a:txBody>
                  <a:tcPr marL="82296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30" b="0">
                          <a:solidFill>
                            <a:srgbClr val="2A2722"/>
                          </a:solidFill>
                          <a:latin typeface="Arial"/>
                        </a:rPr>
                        <a:t>Occasional 0.32 vs High 0.08</a:t>
                      </a:r>
                    </a:p>
                  </a:txBody>
                  <a:tcPr marL="82296" marR="54864" marT="18288" marB="18288" anchor="ctr">
                    <a:solidFill>
                      <a:srgbClr val="FFFFFF"/>
                    </a:solidFill>
                  </a:tcPr>
                </a:tc>
              </a:tr>
              <a:tr h="288036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30" b="1">
                          <a:solidFill>
                            <a:srgbClr val="141414"/>
                          </a:solidFill>
                          <a:latin typeface="Arial"/>
                        </a:rPr>
                        <a:t>return_rate</a:t>
                      </a:r>
                    </a:p>
                  </a:txBody>
                  <a:tcPr marL="82296" marR="54864" marT="18288" marB="18288" anchor="ctr">
                    <a:solidFill>
                      <a:srgbClr val="F4F0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30" b="0">
                          <a:solidFill>
                            <a:srgbClr val="2A2722"/>
                          </a:solidFill>
                          <a:latin typeface="Arial"/>
                        </a:rPr>
                        <a:t>0.15</a:t>
                      </a:r>
                    </a:p>
                  </a:txBody>
                  <a:tcPr marL="82296" marR="54864" marT="18288" marB="18288" anchor="ctr">
                    <a:solidFill>
                      <a:srgbClr val="F4F0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30" b="0">
                          <a:solidFill>
                            <a:srgbClr val="2A2722"/>
                          </a:solidFill>
                          <a:latin typeface="Arial"/>
                        </a:rPr>
                        <a:t>0–1</a:t>
                      </a:r>
                    </a:p>
                  </a:txBody>
                  <a:tcPr marL="82296" marR="54864" marT="18288" marB="18288" anchor="ctr">
                    <a:solidFill>
                      <a:srgbClr val="F4F0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30" b="0">
                          <a:solidFill>
                            <a:srgbClr val="2A2722"/>
                          </a:solidFill>
                          <a:latin typeface="Arial"/>
                        </a:rPr>
                        <a:t>2,487</a:t>
                      </a:r>
                    </a:p>
                  </a:txBody>
                  <a:tcPr marL="82296" marR="54864" marT="18288" marB="18288" anchor="ctr">
                    <a:solidFill>
                      <a:srgbClr val="F4F0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30" b="0">
                          <a:solidFill>
                            <a:srgbClr val="2A2722"/>
                          </a:solidFill>
                          <a:latin typeface="Arial"/>
                        </a:rPr>
                        <a:t>Occasional 0.22 vs High 0.04</a:t>
                      </a:r>
                    </a:p>
                  </a:txBody>
                  <a:tcPr marL="82296" marR="54864" marT="18288" marB="18288" anchor="ctr">
                    <a:solidFill>
                      <a:srgbClr val="F4F0E8"/>
                    </a:solidFill>
                  </a:tcPr>
                </a:tc>
              </a:tr>
              <a:tr h="288036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30" b="1">
                          <a:solidFill>
                            <a:srgbClr val="141414"/>
                          </a:solidFill>
                          <a:latin typeface="Arial"/>
                        </a:rPr>
                        <a:t>browsing_time_minutes</a:t>
                      </a:r>
                    </a:p>
                  </a:txBody>
                  <a:tcPr marL="82296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30" b="0">
                          <a:solidFill>
                            <a:srgbClr val="2A2722"/>
                          </a:solidFill>
                          <a:latin typeface="Arial"/>
                        </a:rPr>
                        <a:t>65 min</a:t>
                      </a:r>
                    </a:p>
                  </a:txBody>
                  <a:tcPr marL="82296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30" b="0">
                          <a:solidFill>
                            <a:srgbClr val="2A2722"/>
                          </a:solidFill>
                          <a:latin typeface="Arial"/>
                        </a:rPr>
                        <a:t>5–200</a:t>
                      </a:r>
                    </a:p>
                  </a:txBody>
                  <a:tcPr marL="82296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30" b="0">
                          <a:solidFill>
                            <a:srgbClr val="2A2722"/>
                          </a:solidFill>
                          <a:latin typeface="Arial"/>
                        </a:rPr>
                        <a:t>3,934</a:t>
                      </a:r>
                    </a:p>
                  </a:txBody>
                  <a:tcPr marL="82296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30" b="0">
                          <a:solidFill>
                            <a:srgbClr val="2A2722"/>
                          </a:solidFill>
                          <a:latin typeface="Arial"/>
                        </a:rPr>
                        <a:t>Loyal 90+ vs Occasional 30</a:t>
                      </a:r>
                    </a:p>
                  </a:txBody>
                  <a:tcPr marL="82296" marR="54864" marT="18288" marB="18288" anchor="ctr">
                    <a:solidFill>
                      <a:srgbClr val="FFFFFF"/>
                    </a:solidFill>
                  </a:tcPr>
                </a:tc>
              </a:tr>
              <a:tr h="288036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30" b="1">
                          <a:solidFill>
                            <a:srgbClr val="141414"/>
                          </a:solidFill>
                          <a:latin typeface="Arial"/>
                        </a:rPr>
                        <a:t>support_interactions</a:t>
                      </a:r>
                    </a:p>
                  </a:txBody>
                  <a:tcPr marL="82296" marR="54864" marT="18288" marB="18288" anchor="ctr">
                    <a:solidFill>
                      <a:srgbClr val="F4F0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30" b="0">
                          <a:solidFill>
                            <a:srgbClr val="2A2722"/>
                          </a:solidFill>
                          <a:latin typeface="Arial"/>
                        </a:rPr>
                        <a:t>1.8</a:t>
                      </a:r>
                    </a:p>
                  </a:txBody>
                  <a:tcPr marL="82296" marR="54864" marT="18288" marB="18288" anchor="ctr">
                    <a:solidFill>
                      <a:srgbClr val="F4F0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30" b="0">
                          <a:solidFill>
                            <a:srgbClr val="2A2722"/>
                          </a:solidFill>
                          <a:latin typeface="Arial"/>
                        </a:rPr>
                        <a:t>0–15</a:t>
                      </a:r>
                    </a:p>
                  </a:txBody>
                  <a:tcPr marL="82296" marR="54864" marT="18288" marB="18288" anchor="ctr">
                    <a:solidFill>
                      <a:srgbClr val="F4F0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30" b="0">
                          <a:solidFill>
                            <a:srgbClr val="2A2722"/>
                          </a:solidFill>
                          <a:latin typeface="Arial"/>
                        </a:rPr>
                        <a:t>1,988</a:t>
                      </a:r>
                    </a:p>
                  </a:txBody>
                  <a:tcPr marL="82296" marR="54864" marT="18288" marB="18288" anchor="ctr">
                    <a:solidFill>
                      <a:srgbClr val="F4F0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30" b="0">
                          <a:solidFill>
                            <a:srgbClr val="2A2722"/>
                          </a:solidFill>
                          <a:latin typeface="Arial"/>
                        </a:rPr>
                        <a:t>Occasional 3.2 vs Loyal 0.8</a:t>
                      </a:r>
                    </a:p>
                  </a:txBody>
                  <a:tcPr marL="82296" marR="54864" marT="18288" marB="18288" anchor="ctr">
                    <a:solidFill>
                      <a:srgbClr val="F4F0E8"/>
                    </a:solidFill>
                  </a:tcPr>
                </a:tc>
              </a:tr>
            </a:tbl>
          </a:graphicData>
        </a:graphic>
      </p:graphicFrame>
      <p:sp>
        <p:nvSpPr>
          <p:cNvPr id="19" name="Rounded Rectangle 18"/>
          <p:cNvSpPr/>
          <p:nvPr/>
        </p:nvSpPr>
        <p:spPr>
          <a:xfrm>
            <a:off x="7333488" y="2999232"/>
            <a:ext cx="4297680" cy="321868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3DD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7315200" y="3127248"/>
            <a:ext cx="50292" cy="2962656"/>
          </a:xfrm>
          <a:prstGeom prst="roundRect">
            <a:avLst>
              <a:gd name="adj" fmla="val 50000"/>
            </a:avLst>
          </a:prstGeom>
          <a:solidFill>
            <a:srgbClr val="0E8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552944" y="3145536"/>
            <a:ext cx="3913632" cy="2944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Aft>
                <a:spcPts val="500"/>
              </a:spcAft>
            </a:pPr>
            <a:r>
              <a:rPr sz="1050" b="1" i="0" spc="90">
                <a:solidFill>
                  <a:srgbClr val="141414"/>
                </a:solidFill>
                <a:latin typeface="Arial"/>
              </a:rPr>
              <a:t>MISSING ANALYSIS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980" b="0" i="0">
                <a:solidFill>
                  <a:srgbClr val="2A2722"/>
                </a:solidFill>
                <a:latin typeface="Arial"/>
              </a:rPr>
              <a:t>7 columns arrive with some answers missing: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980" b="0" i="0">
                <a:solidFill>
                  <a:srgbClr val="2A2722"/>
                </a:solidFill>
                <a:latin typeface="Arial"/>
              </a:rPr>
              <a:t>•  website minutes: 3,934 (7.9%)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980" b="0" i="0">
                <a:solidFill>
                  <a:srgbClr val="2A2722"/>
                </a:solidFill>
                <a:latin typeface="Arial"/>
              </a:rPr>
              <a:t>•  yearly income: 3,075 (6.2%)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980" b="0" i="0">
                <a:solidFill>
                  <a:srgbClr val="2A2722"/>
                </a:solidFill>
                <a:latin typeface="Arial"/>
              </a:rPr>
              <a:t>•  discount use: 2,549 (5.1%)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980" b="0" i="0">
                <a:solidFill>
                  <a:srgbClr val="2A2722"/>
                </a:solidFill>
                <a:latin typeface="Arial"/>
              </a:rPr>
              <a:t>•  monthly spend: 2,520 (5.0%)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980" b="0" i="0">
                <a:solidFill>
                  <a:srgbClr val="2A2722"/>
                </a:solidFill>
                <a:latin typeface="Arial"/>
              </a:rPr>
              <a:t>•  return rate: 2,487 (5.0%)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980" b="0" i="0">
                <a:solidFill>
                  <a:srgbClr val="2A2722"/>
                </a:solidFill>
                <a:latin typeface="Arial"/>
              </a:rPr>
              <a:t>•  support calls: 1,988 (4.0%)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980" b="0" i="0">
                <a:solidFill>
                  <a:srgbClr val="2A2722"/>
                </a:solidFill>
                <a:latin typeface="Arial"/>
              </a:rPr>
              <a:t>•  visit frequency: 1,979 (4.0%)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980" b="0" i="0">
                <a:solidFill>
                  <a:srgbClr val="8A8478"/>
                </a:solidFill>
                <a:latin typeface="Arial"/>
              </a:rPr>
              <a:t>Each gap is filled with the typical customer's value — a choice that stays reliable even with a few extreme spenders around. Categories take the most common answer.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6492240"/>
            <a:ext cx="6858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750" b="0" i="0" spc="100">
                <a:solidFill>
                  <a:srgbClr val="9A9385"/>
                </a:solidFill>
                <a:latin typeface="Arial"/>
              </a:rPr>
              <a:t>RETAIL OPS  •  KAGGLE 50K REAL  •  LENS v3.0  •  06/18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18520" y="6272784"/>
            <a:ext cx="8229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6000"/>
              </a:lnSpc>
              <a:spcAft>
                <a:spcPts val="400"/>
              </a:spcAft>
            </a:pPr>
            <a:r>
              <a:rPr sz="2400" b="1" i="0">
                <a:solidFill>
                  <a:srgbClr val="C7C0B1"/>
                </a:solidFill>
                <a:latin typeface="Arial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050" b="1" i="0" spc="140">
                <a:solidFill>
                  <a:srgbClr val="8A8478"/>
                </a:solidFill>
                <a:latin typeface="Arial"/>
              </a:rPr>
              <a:t>STEP 04  •  DATA PREPROCESSING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49808"/>
            <a:ext cx="1106424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4000" b="1" i="0">
                <a:solidFill>
                  <a:srgbClr val="141414"/>
                </a:solidFill>
                <a:latin typeface="Arial"/>
              </a:rPr>
              <a:t>Clean real gaps, keep signal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554480"/>
            <a:ext cx="11055096" cy="17780"/>
          </a:xfrm>
          <a:prstGeom prst="rect">
            <a:avLst/>
          </a:prstGeom>
          <a:solidFill>
            <a:srgbClr val="DDD6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66928" y="1783080"/>
            <a:ext cx="2395728" cy="1572768"/>
          </a:xfrm>
          <a:prstGeom prst="roundRect">
            <a:avLst>
              <a:gd name="adj" fmla="val 5500"/>
            </a:avLst>
          </a:prstGeom>
          <a:solidFill>
            <a:srgbClr val="FBECEC"/>
          </a:solidFill>
          <a:ln w="12700">
            <a:solidFill>
              <a:srgbClr val="E3DD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1911095"/>
            <a:ext cx="50292" cy="1316736"/>
          </a:xfrm>
          <a:prstGeom prst="roundRect">
            <a:avLst>
              <a:gd name="adj" fmla="val 50000"/>
            </a:avLst>
          </a:prstGeom>
          <a:solidFill>
            <a:srgbClr val="D64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86384" y="1929384"/>
            <a:ext cx="2011679" cy="1298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050" b="1" i="0" spc="90">
                <a:solidFill>
                  <a:srgbClr val="141414"/>
                </a:solidFill>
                <a:latin typeface="Arial"/>
              </a:rPr>
              <a:t>BEFORE</a:t>
            </a:r>
          </a:p>
          <a:p>
            <a:pPr algn="l">
              <a:lnSpc>
                <a:spcPct val="112000"/>
              </a:lnSpc>
              <a:spcAft>
                <a:spcPts val="100"/>
              </a:spcAft>
            </a:pPr>
            <a:r>
              <a:rPr sz="980" b="0" i="0">
                <a:solidFill>
                  <a:srgbClr val="2A2722"/>
                </a:solidFill>
                <a:latin typeface="Arial"/>
              </a:rPr>
              <a:t>50,000 rows, 13 columns</a:t>
            </a:r>
          </a:p>
          <a:p>
            <a:pPr algn="l">
              <a:lnSpc>
                <a:spcPct val="112000"/>
              </a:lnSpc>
              <a:spcAft>
                <a:spcPts val="100"/>
              </a:spcAft>
            </a:pPr>
            <a:r>
              <a:rPr sz="980" b="0" i="0">
                <a:solidFill>
                  <a:srgbClr val="2A2722"/>
                </a:solidFill>
                <a:latin typeface="Arial"/>
              </a:rPr>
              <a:t>7 columns have holes</a:t>
            </a:r>
          </a:p>
          <a:p>
            <a:pPr algn="l">
              <a:lnSpc>
                <a:spcPct val="112000"/>
              </a:lnSpc>
              <a:spcAft>
                <a:spcPts val="100"/>
              </a:spcAft>
            </a:pPr>
            <a:r>
              <a:rPr sz="980" b="0" i="0">
                <a:solidFill>
                  <a:srgbClr val="2A2722"/>
                </a:solidFill>
                <a:latin typeface="Arial"/>
              </a:rPr>
              <a:t>10 numbers + 2 category lists + the answer</a:t>
            </a:r>
          </a:p>
          <a:p>
            <a:pPr algn="l">
              <a:lnSpc>
                <a:spcPct val="112000"/>
              </a:lnSpc>
              <a:spcAft>
                <a:spcPts val="100"/>
              </a:spcAft>
            </a:pPr>
            <a:r>
              <a:rPr sz="980" b="0" i="0">
                <a:solidFill>
                  <a:srgbClr val="2A2722"/>
                </a:solidFill>
                <a:latin typeface="Arial"/>
              </a:rPr>
              <a:t>7.8 MB raw file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17520" y="2331720"/>
            <a:ext cx="320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6000"/>
              </a:lnSpc>
              <a:spcAft>
                <a:spcPts val="400"/>
              </a:spcAft>
            </a:pPr>
            <a:r>
              <a:rPr sz="1700" b="1" i="0">
                <a:solidFill>
                  <a:srgbClr val="6B21A8"/>
                </a:solidFill>
                <a:latin typeface="Arial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01568" y="1783080"/>
            <a:ext cx="2395728" cy="1572768"/>
          </a:xfrm>
          <a:prstGeom prst="roundRect">
            <a:avLst>
              <a:gd name="adj" fmla="val 5500"/>
            </a:avLst>
          </a:prstGeom>
          <a:solidFill>
            <a:srgbClr val="E9F6EF"/>
          </a:solidFill>
          <a:ln w="12700">
            <a:solidFill>
              <a:srgbClr val="E3DD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383280" y="1911095"/>
            <a:ext cx="50292" cy="1316736"/>
          </a:xfrm>
          <a:prstGeom prst="roundRect">
            <a:avLst>
              <a:gd name="adj" fmla="val 50000"/>
            </a:avLst>
          </a:prstGeom>
          <a:solidFill>
            <a:srgbClr val="1F9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21024" y="1929384"/>
            <a:ext cx="2011679" cy="1298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050" b="1" i="0" spc="90">
                <a:solidFill>
                  <a:srgbClr val="141414"/>
                </a:solidFill>
                <a:latin typeface="Arial"/>
              </a:rPr>
              <a:t>AFTER</a:t>
            </a:r>
          </a:p>
          <a:p>
            <a:pPr algn="l">
              <a:lnSpc>
                <a:spcPct val="112000"/>
              </a:lnSpc>
              <a:spcAft>
                <a:spcPts val="100"/>
              </a:spcAft>
            </a:pPr>
            <a:r>
              <a:rPr sz="980" b="0" i="0">
                <a:solidFill>
                  <a:srgbClr val="2A2722"/>
                </a:solidFill>
                <a:latin typeface="Arial"/>
              </a:rPr>
              <a:t>50,000 rows, 16 columns</a:t>
            </a:r>
          </a:p>
          <a:p>
            <a:pPr algn="l">
              <a:lnSpc>
                <a:spcPct val="112000"/>
              </a:lnSpc>
              <a:spcAft>
                <a:spcPts val="100"/>
              </a:spcAft>
            </a:pPr>
            <a:r>
              <a:rPr sz="980" b="0" i="0">
                <a:solidFill>
                  <a:srgbClr val="2A2722"/>
                </a:solidFill>
                <a:latin typeface="Arial"/>
              </a:rPr>
              <a:t>no holes left</a:t>
            </a:r>
          </a:p>
          <a:p>
            <a:pPr algn="l">
              <a:lnSpc>
                <a:spcPct val="112000"/>
              </a:lnSpc>
              <a:spcAft>
                <a:spcPts val="100"/>
              </a:spcAft>
            </a:pPr>
            <a:r>
              <a:rPr sz="980" b="0" i="0">
                <a:solidFill>
                  <a:srgbClr val="2A2722"/>
                </a:solidFill>
                <a:latin typeface="Arial"/>
              </a:rPr>
              <a:t>every column model-ready</a:t>
            </a:r>
          </a:p>
          <a:p>
            <a:pPr algn="l">
              <a:lnSpc>
                <a:spcPct val="112000"/>
              </a:lnSpc>
              <a:spcAft>
                <a:spcPts val="100"/>
              </a:spcAft>
            </a:pPr>
            <a:r>
              <a:rPr sz="980" b="0" i="0">
                <a:solidFill>
                  <a:srgbClr val="2A2722"/>
                </a:solidFill>
                <a:latin typeface="Arial"/>
              </a:rPr>
              <a:t>ready to learn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584448"/>
            <a:ext cx="2651760" cy="26974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3DD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48640" y="3712463"/>
            <a:ext cx="50292" cy="2441448"/>
          </a:xfrm>
          <a:prstGeom prst="roundRect">
            <a:avLst>
              <a:gd name="adj" fmla="val 50000"/>
            </a:avLst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6384" y="3730752"/>
            <a:ext cx="2267712" cy="2423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Aft>
                <a:spcPts val="500"/>
              </a:spcAft>
            </a:pPr>
            <a:r>
              <a:rPr sz="1050" b="1" i="0" spc="90">
                <a:solidFill>
                  <a:srgbClr val="141414"/>
                </a:solidFill>
                <a:latin typeface="Arial"/>
              </a:rPr>
              <a:t>MISSING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930" b="0" i="0">
                <a:solidFill>
                  <a:srgbClr val="2A2722"/>
                </a:solidFill>
                <a:latin typeface="Arial"/>
              </a:rPr>
              <a:t>Numbers with a gap take the typical (middle) value, so one unusual income can't distort the picture. Categories take the most common answer.</a:t>
            </a:r>
          </a:p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000" b="1" i="0" spc="60">
                <a:solidFill>
                  <a:srgbClr val="141414"/>
                </a:solidFill>
                <a:latin typeface="Arial"/>
              </a:rPr>
              <a:t>DUPLICATES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930" b="0" i="0">
                <a:solidFill>
                  <a:srgbClr val="2A2722"/>
                </a:solidFill>
                <a:latin typeface="Arial"/>
              </a:rPr>
              <a:t>Zero across all 50k — the source is clean.</a:t>
            </a:r>
          </a:p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000" b="1" i="0" spc="60">
                <a:solidFill>
                  <a:srgbClr val="141414"/>
                </a:solidFill>
                <a:latin typeface="Arial"/>
              </a:rPr>
              <a:t>OUTLIERS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930" b="0" i="0">
                <a:solidFill>
                  <a:srgbClr val="2A2722"/>
                </a:solidFill>
                <a:latin typeface="Arial"/>
              </a:rPr>
              <a:t>The ₹150k earner and ₹800/month spender are genuine VIPs, not typos — removing them would erase the very people we want to find. A side-check flags ~5% to watch.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401568" y="3584448"/>
            <a:ext cx="2651760" cy="26974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3DD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3383280" y="3712463"/>
            <a:ext cx="50292" cy="2441448"/>
          </a:xfrm>
          <a:prstGeom prst="roundRect">
            <a:avLst>
              <a:gd name="adj" fmla="val 50000"/>
            </a:avLst>
          </a:prstGeom>
          <a:solidFill>
            <a:srgbClr val="6B21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21024" y="3730752"/>
            <a:ext cx="2267712" cy="2423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Aft>
                <a:spcPts val="500"/>
              </a:spcAft>
            </a:pPr>
            <a:r>
              <a:rPr sz="1050" b="1" i="0" spc="90">
                <a:solidFill>
                  <a:srgbClr val="141414"/>
                </a:solidFill>
                <a:latin typeface="Arial"/>
              </a:rPr>
              <a:t>TRANSFORMATIONS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930" b="0" i="0">
                <a:solidFill>
                  <a:srgbClr val="2A2722"/>
                </a:solidFill>
                <a:latin typeface="Arial"/>
              </a:rPr>
              <a:t>•  10 number columns brought to one shared scale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930" b="0" i="0">
                <a:solidFill>
                  <a:srgbClr val="2A2722"/>
                </a:solidFill>
                <a:latin typeface="Arial"/>
              </a:rPr>
              <a:t>•  Card, Wallet, UPI → three yes-or-no columns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930" b="0" i="0">
                <a:solidFill>
                  <a:srgbClr val="2A2722"/>
                </a:solidFill>
                <a:latin typeface="Arial"/>
              </a:rPr>
              <a:t>•  Urban, Semi, Rural → three yes-or-no columns</a:t>
            </a:r>
          </a:p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000" b="1" i="0" spc="60">
                <a:solidFill>
                  <a:srgbClr val="141414"/>
                </a:solidFill>
                <a:latin typeface="Arial"/>
              </a:rPr>
              <a:t>PIPELINE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930" b="0" i="0">
                <a:solidFill>
                  <a:srgbClr val="2A2722"/>
                </a:solidFill>
                <a:latin typeface="Arial"/>
              </a:rPr>
              <a:t>12 details in → gaps filled → scaled &amp; recoded → 16 columns out → the model.</a:t>
            </a:r>
          </a:p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000" b="1" i="0" spc="60">
                <a:solidFill>
                  <a:srgbClr val="141414"/>
                </a:solidFill>
                <a:latin typeface="Arial"/>
              </a:rPr>
              <a:t>SAME RULES FOR EVERYONE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930" b="0" i="0">
                <a:solidFill>
                  <a:srgbClr val="2A2722"/>
                </a:solidFill>
                <a:latin typeface="Arial"/>
              </a:rPr>
              <a:t>Cleaning rules saved once, reused unchanged on the website — new customers prepared like training ones.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27648" y="1783080"/>
            <a:ext cx="5303520" cy="4498848"/>
          </a:xfrm>
          <a:prstGeom prst="roundRect">
            <a:avLst>
              <a:gd name="adj" fmla="val 5500"/>
            </a:avLst>
          </a:prstGeom>
          <a:solidFill>
            <a:srgbClr val="1212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272784" y="1920240"/>
            <a:ext cx="50292" cy="4206240"/>
          </a:xfrm>
          <a:prstGeom prst="roundRect">
            <a:avLst>
              <a:gd name="adj" fmla="val 50000"/>
            </a:avLst>
          </a:prstGeom>
          <a:solidFill>
            <a:srgbClr val="D64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83680" y="1975104"/>
            <a:ext cx="4846320" cy="411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Aft>
                <a:spcPts val="700"/>
              </a:spcAft>
            </a:pPr>
            <a:r>
              <a:rPr sz="1050" b="1" i="0" spc="90">
                <a:solidFill>
                  <a:srgbClr val="FFFFFF"/>
                </a:solidFill>
                <a:latin typeface="Arial"/>
              </a:rPr>
              <a:t>JINJA FIX  •  A REAL BUG, FOUND AND SOLVED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000" b="0" i="0">
                <a:solidFill>
                  <a:srgbClr val="E8E4DC"/>
                </a:solidFill>
                <a:latin typeface="Arial"/>
              </a:rPr>
              <a:t>Late one night the web page simply refused to load — the server crashed with a template error. The cause was subtle: the site's template engine (Jinja) mistook an ordinary piece of web code — a colour list — for one of its own commands.</a:t>
            </a:r>
          </a:p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000" b="0" i="0">
                <a:solidFill>
                  <a:srgbClr val="E8E4DC"/>
                </a:solidFill>
                <a:latin typeface="Arial"/>
              </a:rPr>
              <a:t>The fix was a single tag ({% raw %}) that tells the engine: leave this block alone.</a:t>
            </a:r>
          </a:p>
          <a:p>
            <a:pPr algn="l">
              <a:lnSpc>
                <a:spcPct val="106000"/>
              </a:lnSpc>
              <a:spcAft>
                <a:spcPts val="600"/>
              </a:spcAft>
            </a:pPr>
            <a:r>
              <a:rPr sz="1050" b="1" i="0" spc="90">
                <a:solidFill>
                  <a:srgbClr val="FFFFFF"/>
                </a:solidFill>
                <a:latin typeface="Arial"/>
              </a:rPr>
              <a:t>HOW WE CONFIRMED IT</a:t>
            </a:r>
          </a:p>
          <a:p>
            <a:pPr algn="l">
              <a:lnSpc>
                <a:spcPct val="106000"/>
              </a:lnSpc>
              <a:spcAft>
                <a:spcPts val="300"/>
              </a:spcAft>
            </a:pPr>
            <a:r>
              <a:rPr sz="980" b="0" i="0">
                <a:solidFill>
                  <a:srgbClr val="E8E4DC"/>
                </a:solidFill>
                <a:latin typeface="Arial"/>
              </a:rPr>
              <a:t>•  Reloaded the page → server answered “200 OK”</a:t>
            </a:r>
          </a:p>
          <a:p>
            <a:pPr algn="l">
              <a:lnSpc>
                <a:spcPct val="106000"/>
              </a:lnSpc>
              <a:spcAft>
                <a:spcPts val="800"/>
              </a:spcAft>
            </a:pPr>
            <a:r>
              <a:rPr sz="980" b="0" i="0">
                <a:solidFill>
                  <a:srgbClr val="E8E4DC"/>
                </a:solidFill>
                <a:latin typeface="Arial"/>
              </a:rPr>
              <a:t>•  Asked the model for its numbers → 66.48% accuracy and a 0.868 score came back, exactly as saved</a:t>
            </a:r>
          </a:p>
          <a:p>
            <a:pPr algn="l">
              <a:lnSpc>
                <a:spcPct val="106000"/>
              </a:lnSpc>
              <a:spcAft>
                <a:spcPts val="600"/>
              </a:spcAft>
            </a:pPr>
            <a:r>
              <a:rPr sz="1050" b="1" i="0" spc="90">
                <a:solidFill>
                  <a:srgbClr val="FFFFFF"/>
                </a:solidFill>
                <a:latin typeface="Arial"/>
              </a:rPr>
              <a:t>RUN IT YOURSELF</a:t>
            </a:r>
          </a:p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80" b="0" i="0">
                <a:solidFill>
                  <a:srgbClr val="E8E4DC"/>
                </a:solidFill>
                <a:latin typeface="Arial"/>
              </a:rPr>
              <a:t>python -m venv venv  →  .\venv\Scripts\python.exe app.py  →  open http://127.0.0.1:5000. Lens v3.0 presents as a neutral internal tool — generic Retail Ops branding throughout.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6492240"/>
            <a:ext cx="6858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750" b="0" i="0" spc="100">
                <a:solidFill>
                  <a:srgbClr val="9A9385"/>
                </a:solidFill>
                <a:latin typeface="Arial"/>
              </a:rPr>
              <a:t>RETAIL OPS  •  KAGGLE 50K REAL  •  LENS v3.0  •  07/18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18520" y="6272784"/>
            <a:ext cx="8229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6000"/>
              </a:lnSpc>
              <a:spcAft>
                <a:spcPts val="400"/>
              </a:spcAft>
            </a:pPr>
            <a:r>
              <a:rPr sz="2400" b="1" i="0">
                <a:solidFill>
                  <a:srgbClr val="C7C0B1"/>
                </a:solidFill>
                <a:latin typeface="Arial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050" b="1" i="0" spc="140">
                <a:solidFill>
                  <a:srgbClr val="8A8478"/>
                </a:solidFill>
                <a:latin typeface="Arial"/>
              </a:rPr>
              <a:t>STEP 05  •  EXPLORATORY DATA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49808"/>
            <a:ext cx="1106424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4000" b="1" i="0">
                <a:solidFill>
                  <a:srgbClr val="141414"/>
                </a:solidFill>
                <a:latin typeface="Arial"/>
              </a:rPr>
              <a:t>What 50k real customers look like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554480"/>
            <a:ext cx="11055096" cy="17780"/>
          </a:xfrm>
          <a:prstGeom prst="rect">
            <a:avLst/>
          </a:prstGeom>
          <a:solidFill>
            <a:srgbClr val="DDD6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66928" y="1783080"/>
          <a:ext cx="11055096" cy="272948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234440"/>
                <a:gridCol w="2514600"/>
                <a:gridCol w="7306056"/>
              </a:tblGrid>
              <a:tr h="329184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Plot</a:t>
                      </a:r>
                    </a:p>
                  </a:txBody>
                  <a:tcPr marL="82296" marR="54864" marT="18288" marB="18288" anchor="ctr">
                    <a:solidFill>
                      <a:srgbClr val="12121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What it shows</a:t>
                      </a:r>
                    </a:p>
                  </a:txBody>
                  <a:tcPr marL="82296" marR="54864" marT="18288" marB="18288" anchor="ctr">
                    <a:solidFill>
                      <a:srgbClr val="12121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Key finding from the 50k</a:t>
                      </a:r>
                    </a:p>
                  </a:txBody>
                  <a:tcPr marL="82296" marR="54864" marT="18288" marB="18288" anchor="ctr">
                    <a:solidFill>
                      <a:srgbClr val="121212"/>
                    </a:solidFill>
                  </a:tcPr>
                </a:tc>
              </a:tr>
              <a:tr h="342900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80" b="1">
                          <a:solidFill>
                            <a:srgbClr val="141414"/>
                          </a:solidFill>
                          <a:latin typeface="Arial"/>
                        </a:rPr>
                        <a:t>Histogram</a:t>
                      </a:r>
                    </a:p>
                  </a:txBody>
                  <a:tcPr marL="82296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80" b="0">
                          <a:solidFill>
                            <a:srgbClr val="2A2722"/>
                          </a:solidFill>
                          <a:latin typeface="Arial"/>
                        </a:rPr>
                        <a:t>how each value spreads</a:t>
                      </a:r>
                    </a:p>
                  </a:txBody>
                  <a:tcPr marL="82296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80" b="0">
                          <a:solidFill>
                            <a:srgbClr val="2A2722"/>
                          </a:solidFill>
                          <a:latin typeface="Arial"/>
                        </a:rPr>
                        <a:t>Age centres on 35–50; income and spending stretch far to the right — a small tail of big spenders.</a:t>
                      </a:r>
                    </a:p>
                  </a:txBody>
                  <a:tcPr marL="82296" marR="54864" marT="18288" marB="18288" anchor="ctr"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80" b="1">
                          <a:solidFill>
                            <a:srgbClr val="141414"/>
                          </a:solidFill>
                          <a:latin typeface="Arial"/>
                        </a:rPr>
                        <a:t>Bar</a:t>
                      </a:r>
                    </a:p>
                  </a:txBody>
                  <a:tcPr marL="82296" marR="54864" marT="18288" marB="18288" anchor="ctr">
                    <a:solidFill>
                      <a:srgbClr val="F4F0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80" b="0">
                          <a:solidFill>
                            <a:srgbClr val="2A2722"/>
                          </a:solidFill>
                          <a:latin typeface="Arial"/>
                        </a:rPr>
                        <a:t>sizes of each category</a:t>
                      </a:r>
                    </a:p>
                  </a:txBody>
                  <a:tcPr marL="82296" marR="54864" marT="18288" marB="18288" anchor="ctr">
                    <a:solidFill>
                      <a:srgbClr val="F4F0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80" b="0">
                          <a:solidFill>
                            <a:srgbClr val="2A2722"/>
                          </a:solidFill>
                          <a:latin typeface="Arial"/>
                        </a:rPr>
                        <a:t>Payments split Card 40%, Wallet 35%, UPI 25%; customers split Urban 50%, Semi 30%, Rural 20%.</a:t>
                      </a:r>
                    </a:p>
                  </a:txBody>
                  <a:tcPr marL="82296" marR="54864" marT="18288" marB="18288" anchor="ctr">
                    <a:solidFill>
                      <a:srgbClr val="F4F0E8"/>
                    </a:solidFill>
                  </a:tcPr>
                </a:tc>
              </a:tr>
              <a:tr h="342900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80" b="1">
                          <a:solidFill>
                            <a:srgbClr val="141414"/>
                          </a:solidFill>
                          <a:latin typeface="Arial"/>
                        </a:rPr>
                        <a:t>Bar (target)</a:t>
                      </a:r>
                    </a:p>
                  </a:txBody>
                  <a:tcPr marL="82296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80" b="0">
                          <a:solidFill>
                            <a:srgbClr val="2A2722"/>
                          </a:solidFill>
                          <a:latin typeface="Arial"/>
                        </a:rPr>
                        <a:t>is the answer balanced?</a:t>
                      </a:r>
                    </a:p>
                  </a:txBody>
                  <a:tcPr marL="82296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80" b="0">
                          <a:solidFill>
                            <a:srgbClr val="2A2722"/>
                          </a:solidFill>
                          <a:latin typeface="Arial"/>
                        </a:rPr>
                        <a:t>Occasional 44% (22k) dominate, High-Value 11% (5k) are rare — the natural shape of a real customer base.</a:t>
                      </a:r>
                    </a:p>
                  </a:txBody>
                  <a:tcPr marL="82296" marR="54864" marT="18288" marB="18288" anchor="ctr"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80" b="1">
                          <a:solidFill>
                            <a:srgbClr val="141414"/>
                          </a:solidFill>
                          <a:latin typeface="Arial"/>
                        </a:rPr>
                        <a:t>Box</a:t>
                      </a:r>
                    </a:p>
                  </a:txBody>
                  <a:tcPr marL="82296" marR="54864" marT="18288" marB="18288" anchor="ctr">
                    <a:solidFill>
                      <a:srgbClr val="F4F0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80" b="0">
                          <a:solidFill>
                            <a:srgbClr val="2A2722"/>
                          </a:solidFill>
                          <a:latin typeface="Arial"/>
                        </a:rPr>
                        <a:t>spotting unusual customers</a:t>
                      </a:r>
                    </a:p>
                  </a:txBody>
                  <a:tcPr marL="82296" marR="54864" marT="18288" marB="18288" anchor="ctr">
                    <a:solidFill>
                      <a:srgbClr val="F4F0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80" b="0">
                          <a:solidFill>
                            <a:srgbClr val="2A2722"/>
                          </a:solidFill>
                          <a:latin typeface="Arial"/>
                        </a:rPr>
                        <a:t>Above ₹120k income, customers are almost always High-Value; heavy returners are almost always Occasional.</a:t>
                      </a:r>
                    </a:p>
                  </a:txBody>
                  <a:tcPr marL="82296" marR="54864" marT="18288" marB="18288" anchor="ctr">
                    <a:solidFill>
                      <a:srgbClr val="F4F0E8"/>
                    </a:solidFill>
                  </a:tcPr>
                </a:tc>
              </a:tr>
              <a:tr h="342900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80" b="1">
                          <a:solidFill>
                            <a:srgbClr val="141414"/>
                          </a:solidFill>
                          <a:latin typeface="Arial"/>
                        </a:rPr>
                        <a:t>Scatter</a:t>
                      </a:r>
                    </a:p>
                  </a:txBody>
                  <a:tcPr marL="82296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80" b="0">
                          <a:solidFill>
                            <a:srgbClr val="2A2722"/>
                          </a:solidFill>
                          <a:latin typeface="Arial"/>
                        </a:rPr>
                        <a:t>do two things move together?</a:t>
                      </a:r>
                    </a:p>
                  </a:txBody>
                  <a:tcPr marL="82296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80" b="0">
                          <a:solidFill>
                            <a:srgbClr val="2A2722"/>
                          </a:solidFill>
                          <a:latin typeface="Arial"/>
                        </a:rPr>
                        <a:t>Wealth and spending rise together (0.52); so do membership length and visit frequency (0.45).</a:t>
                      </a:r>
                    </a:p>
                  </a:txBody>
                  <a:tcPr marL="82296" marR="54864" marT="18288" marB="18288" anchor="ctr"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80" b="1">
                          <a:solidFill>
                            <a:srgbClr val="141414"/>
                          </a:solidFill>
                          <a:latin typeface="Arial"/>
                        </a:rPr>
                        <a:t>Heatmap</a:t>
                      </a:r>
                    </a:p>
                  </a:txBody>
                  <a:tcPr marL="82296" marR="54864" marT="18288" marB="18288" anchor="ctr">
                    <a:solidFill>
                      <a:srgbClr val="F4F0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80" b="0">
                          <a:solidFill>
                            <a:srgbClr val="2A2722"/>
                          </a:solidFill>
                          <a:latin typeface="Arial"/>
                        </a:rPr>
                        <a:t>all the links at one glance</a:t>
                      </a:r>
                    </a:p>
                  </a:txBody>
                  <a:tcPr marL="82296" marR="54864" marT="18288" marB="18288" anchor="ctr">
                    <a:solidFill>
                      <a:srgbClr val="F4F0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80" b="0">
                          <a:solidFill>
                            <a:srgbClr val="2A2722"/>
                          </a:solidFill>
                          <a:latin typeface="Arial"/>
                        </a:rPr>
                        <a:t>Strongest pair: spending ↔ visits (0.48). Nothing above 0.6 — every detail brings its own information.</a:t>
                      </a:r>
                    </a:p>
                  </a:txBody>
                  <a:tcPr marL="82296" marR="54864" marT="18288" marB="18288" anchor="ctr">
                    <a:solidFill>
                      <a:srgbClr val="F4F0E8"/>
                    </a:solidFill>
                  </a:tcPr>
                </a:tc>
              </a:tr>
              <a:tr h="342900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80" b="1">
                          <a:solidFill>
                            <a:srgbClr val="141414"/>
                          </a:solidFill>
                          <a:latin typeface="Arial"/>
                        </a:rPr>
                        <a:t>Count</a:t>
                      </a:r>
                    </a:p>
                  </a:txBody>
                  <a:tcPr marL="82296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80" b="0">
                          <a:solidFill>
                            <a:srgbClr val="2A2722"/>
                          </a:solidFill>
                          <a:latin typeface="Arial"/>
                        </a:rPr>
                        <a:t>group balance in each set</a:t>
                      </a:r>
                    </a:p>
                  </a:txBody>
                  <a:tcPr marL="82296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80" b="0">
                          <a:solidFill>
                            <a:srgbClr val="2A2722"/>
                          </a:solidFill>
                          <a:latin typeface="Arial"/>
                        </a:rPr>
                        <a:t>Study, practice and exam sets all mirror the same 44/27/18/11 balance, so comparisons stay fair.</a:t>
                      </a:r>
                    </a:p>
                  </a:txBody>
                  <a:tcPr marL="82296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566928" y="4590288"/>
            <a:ext cx="3584448" cy="166420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3DD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48640" y="4718303"/>
            <a:ext cx="50292" cy="1408176"/>
          </a:xfrm>
          <a:prstGeom prst="roundRect">
            <a:avLst>
              <a:gd name="adj" fmla="val 50000"/>
            </a:avLst>
          </a:prstGeom>
          <a:solidFill>
            <a:srgbClr val="6B21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6384" y="4736592"/>
            <a:ext cx="3200399" cy="1389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050" b="1" i="0" spc="90">
                <a:solidFill>
                  <a:srgbClr val="141414"/>
                </a:solidFill>
                <a:latin typeface="Arial"/>
              </a:rPr>
              <a:t>KEY INSIGHTS</a:t>
            </a:r>
          </a:p>
          <a:p>
            <a:pPr algn="l">
              <a:lnSpc>
                <a:spcPct val="112000"/>
              </a:lnSpc>
              <a:spcAft>
                <a:spcPts val="100"/>
              </a:spcAft>
            </a:pPr>
            <a:r>
              <a:rPr sz="940" b="0" i="0">
                <a:solidFill>
                  <a:srgbClr val="2A2722"/>
                </a:solidFill>
                <a:latin typeface="Arial"/>
              </a:rPr>
              <a:t>•  High income + big baskets = High-Value</a:t>
            </a:r>
          </a:p>
          <a:p>
            <a:pPr algn="l">
              <a:lnSpc>
                <a:spcPct val="112000"/>
              </a:lnSpc>
              <a:spcAft>
                <a:spcPts val="100"/>
              </a:spcAft>
            </a:pPr>
            <a:r>
              <a:rPr sz="940" b="0" i="0">
                <a:solidFill>
                  <a:srgbClr val="2A2722"/>
                </a:solidFill>
                <a:latin typeface="Arial"/>
              </a:rPr>
              <a:t>•  Long membership + frequent visits = Loyal</a:t>
            </a:r>
          </a:p>
          <a:p>
            <a:pPr algn="l">
              <a:lnSpc>
                <a:spcPct val="112000"/>
              </a:lnSpc>
              <a:spcAft>
                <a:spcPts val="100"/>
              </a:spcAft>
            </a:pPr>
            <a:r>
              <a:rPr sz="940" b="0" i="0">
                <a:solidFill>
                  <a:srgbClr val="2A2722"/>
                </a:solidFill>
                <a:latin typeface="Arial"/>
              </a:rPr>
              <a:t>•  Many returns + many support calls = Occasional at risk</a:t>
            </a:r>
          </a:p>
          <a:p>
            <a:pPr algn="l">
              <a:lnSpc>
                <a:spcPct val="112000"/>
              </a:lnSpc>
              <a:spcAft>
                <a:spcPts val="100"/>
              </a:spcAft>
            </a:pPr>
            <a:r>
              <a:rPr sz="940" b="0" i="0">
                <a:solidFill>
                  <a:srgbClr val="2A2722"/>
                </a:solidFill>
                <a:latin typeface="Arial"/>
              </a:rPr>
              <a:t>•  Website time separates too: Loyal 90+ min vs Occasional 30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15968" y="4590288"/>
            <a:ext cx="3584448" cy="166420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3DD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297680" y="4718303"/>
            <a:ext cx="50292" cy="1408176"/>
          </a:xfrm>
          <a:prstGeom prst="roundRect">
            <a:avLst>
              <a:gd name="adj" fmla="val 50000"/>
            </a:avLst>
          </a:prstGeom>
          <a:solidFill>
            <a:srgbClr val="0E8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35424" y="4736592"/>
            <a:ext cx="3200399" cy="1389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050" b="1" i="0" spc="90">
                <a:solidFill>
                  <a:srgbClr val="141414"/>
                </a:solidFill>
                <a:latin typeface="Arial"/>
              </a:rPr>
              <a:t>CORRELATIONS</a:t>
            </a:r>
          </a:p>
          <a:p>
            <a:pPr algn="l">
              <a:lnSpc>
                <a:spcPct val="112000"/>
              </a:lnSpc>
              <a:spcAft>
                <a:spcPts val="100"/>
              </a:spcAft>
            </a:pPr>
            <a:r>
              <a:rPr sz="940" b="0" i="0">
                <a:solidFill>
                  <a:srgbClr val="2A2722"/>
                </a:solidFill>
                <a:latin typeface="Arial"/>
              </a:rPr>
              <a:t>•  spending ↔ visit frequency: 0.48</a:t>
            </a:r>
          </a:p>
          <a:p>
            <a:pPr algn="l">
              <a:lnSpc>
                <a:spcPct val="112000"/>
              </a:lnSpc>
              <a:spcAft>
                <a:spcPts val="100"/>
              </a:spcAft>
            </a:pPr>
            <a:r>
              <a:rPr sz="940" b="0" i="0">
                <a:solidFill>
                  <a:srgbClr val="2A2722"/>
                </a:solidFill>
                <a:latin typeface="Arial"/>
              </a:rPr>
              <a:t>•  income ↔ basket size: 0.44</a:t>
            </a:r>
          </a:p>
          <a:p>
            <a:pPr algn="l">
              <a:lnSpc>
                <a:spcPct val="112000"/>
              </a:lnSpc>
              <a:spcAft>
                <a:spcPts val="100"/>
              </a:spcAft>
            </a:pPr>
            <a:r>
              <a:rPr sz="940" b="0" i="0">
                <a:solidFill>
                  <a:srgbClr val="2A2722"/>
                </a:solidFill>
                <a:latin typeface="Arial"/>
              </a:rPr>
              <a:t>•  membership ↔ frequency: 0.45</a:t>
            </a:r>
          </a:p>
          <a:p>
            <a:pPr algn="l">
              <a:lnSpc>
                <a:spcPct val="112000"/>
              </a:lnSpc>
              <a:spcAft>
                <a:spcPts val="100"/>
              </a:spcAft>
            </a:pPr>
            <a:r>
              <a:rPr sz="940" b="0" i="0">
                <a:solidFill>
                  <a:srgbClr val="8A8478"/>
                </a:solidFill>
                <a:latin typeface="Arial"/>
              </a:rPr>
              <a:t>All under 0.6 — no detail merely repeats another.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65008" y="4590288"/>
            <a:ext cx="3566160" cy="166420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3DD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046720" y="4718303"/>
            <a:ext cx="50292" cy="1408176"/>
          </a:xfrm>
          <a:prstGeom prst="roundRect">
            <a:avLst>
              <a:gd name="adj" fmla="val 50000"/>
            </a:avLst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84464" y="4736592"/>
            <a:ext cx="3182112" cy="1389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050" b="1" i="0" spc="90">
                <a:solidFill>
                  <a:srgbClr val="141414"/>
                </a:solidFill>
                <a:latin typeface="Arial"/>
              </a:rPr>
              <a:t>BUSINESS</a:t>
            </a:r>
          </a:p>
          <a:p>
            <a:pPr algn="l">
              <a:lnSpc>
                <a:spcPct val="112000"/>
              </a:lnSpc>
              <a:spcAft>
                <a:spcPts val="100"/>
              </a:spcAft>
            </a:pPr>
            <a:r>
              <a:rPr sz="940" b="0" i="0">
                <a:solidFill>
                  <a:srgbClr val="2A2722"/>
                </a:solidFill>
                <a:latin typeface="Arial"/>
              </a:rPr>
              <a:t>•  Occasional 44% → win-back offers</a:t>
            </a:r>
          </a:p>
          <a:p>
            <a:pPr algn="l">
              <a:lnSpc>
                <a:spcPct val="112000"/>
              </a:lnSpc>
              <a:spcAft>
                <a:spcPts val="100"/>
              </a:spcAft>
            </a:pPr>
            <a:r>
              <a:rPr sz="940" b="0" i="0">
                <a:solidFill>
                  <a:srgbClr val="2A2722"/>
                </a:solidFill>
                <a:latin typeface="Arial"/>
              </a:rPr>
              <a:t>•  Regular 27% → gently push toward Loyal</a:t>
            </a:r>
          </a:p>
          <a:p>
            <a:pPr algn="l">
              <a:lnSpc>
                <a:spcPct val="112000"/>
              </a:lnSpc>
              <a:spcAft>
                <a:spcPts val="100"/>
              </a:spcAft>
            </a:pPr>
            <a:r>
              <a:rPr sz="940" b="0" i="0">
                <a:solidFill>
                  <a:srgbClr val="2A2722"/>
                </a:solidFill>
                <a:latin typeface="Arial"/>
              </a:rPr>
              <a:t>•  Loyal 18% → early access, keep them happy</a:t>
            </a:r>
          </a:p>
          <a:p>
            <a:pPr algn="l">
              <a:lnSpc>
                <a:spcPct val="112000"/>
              </a:lnSpc>
              <a:spcAft>
                <a:spcPts val="100"/>
              </a:spcAft>
            </a:pPr>
            <a:r>
              <a:rPr sz="940" b="0" i="0">
                <a:solidFill>
                  <a:srgbClr val="2A2722"/>
                </a:solidFill>
                <a:latin typeface="Arial"/>
              </a:rPr>
              <a:t>•  High-Value 11% → VIP treatment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6492240"/>
            <a:ext cx="6858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750" b="0" i="0" spc="100">
                <a:solidFill>
                  <a:srgbClr val="9A9385"/>
                </a:solidFill>
                <a:latin typeface="Arial"/>
              </a:rPr>
              <a:t>RETAIL OPS  •  KAGGLE 50K REAL  •  LENS v3.0  •  08/18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18520" y="6272784"/>
            <a:ext cx="8229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6000"/>
              </a:lnSpc>
              <a:spcAft>
                <a:spcPts val="400"/>
              </a:spcAft>
            </a:pPr>
            <a:r>
              <a:rPr sz="2400" b="1" i="0">
                <a:solidFill>
                  <a:srgbClr val="C7C0B1"/>
                </a:solidFill>
                <a:latin typeface="Arial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050" b="1" i="0" spc="140">
                <a:solidFill>
                  <a:srgbClr val="8A8478"/>
                </a:solidFill>
                <a:latin typeface="Arial"/>
              </a:rPr>
              <a:t>STEP 06  •  FEATURE SELECTION &amp; ENGINEERING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49808"/>
            <a:ext cx="1106424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4000" b="1" i="0">
                <a:solidFill>
                  <a:srgbClr val="141414"/>
                </a:solidFill>
                <a:latin typeface="Arial"/>
              </a:rPr>
              <a:t>12 → 16 details, all with signal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554480"/>
            <a:ext cx="11055096" cy="17780"/>
          </a:xfrm>
          <a:prstGeom prst="rect">
            <a:avLst/>
          </a:prstGeom>
          <a:solidFill>
            <a:srgbClr val="DDD6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783080"/>
            <a:ext cx="5074920" cy="449884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3DD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0080" y="1911095"/>
            <a:ext cx="50292" cy="4242816"/>
          </a:xfrm>
          <a:prstGeom prst="roundRect">
            <a:avLst>
              <a:gd name="adj" fmla="val 50000"/>
            </a:avLst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929384"/>
            <a:ext cx="4654296" cy="42245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Aft>
                <a:spcPts val="500"/>
              </a:spcAft>
            </a:pPr>
            <a:r>
              <a:rPr sz="1050" b="1" i="0" spc="90">
                <a:solidFill>
                  <a:srgbClr val="141414"/>
                </a:solidFill>
                <a:latin typeface="Arial"/>
              </a:rPr>
              <a:t>WHAT EACH DETAIL REVEALS (12 → 16)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000" b="0" i="0">
                <a:solidFill>
                  <a:srgbClr val="2A2722"/>
                </a:solidFill>
                <a:latin typeface="Arial"/>
              </a:rPr>
              <a:t>•  Age: Loyal ~45 vs Occasional ~32 — staying power grows with age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000" b="0" i="0">
                <a:solidFill>
                  <a:srgbClr val="2A2722"/>
                </a:solidFill>
                <a:latin typeface="Arial"/>
              </a:rPr>
              <a:t>•  Income: High-Value ₹95k+ vs Occasional ₹38k — clearest VIP clue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000" b="0" i="0">
                <a:solidFill>
                  <a:srgbClr val="2A2722"/>
                </a:solidFill>
                <a:latin typeface="Arial"/>
              </a:rPr>
              <a:t>•  Months as customer: Loyal 60+ vs Occasional 18 — loyalty takes time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000" b="0" i="0">
                <a:solidFill>
                  <a:srgbClr val="2A2722"/>
                </a:solidFill>
                <a:latin typeface="Arial"/>
              </a:rPr>
              <a:t>•  Monthly spend: High-Value ₹650+ vs Occasional ₹120 — spending power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000" b="0" i="0">
                <a:solidFill>
                  <a:srgbClr val="2A2722"/>
                </a:solidFill>
                <a:latin typeface="Arial"/>
              </a:rPr>
              <a:t>•  Visits per month: Loyal 4.2 vs Occasional 0.8 — engagement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000" b="0" i="0">
                <a:solidFill>
                  <a:srgbClr val="2A2722"/>
                </a:solidFill>
                <a:latin typeface="Arial"/>
              </a:rPr>
              <a:t>•  Basket size: High-Value ₹280 vs Occasional ₹85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000" b="0" i="0">
                <a:solidFill>
                  <a:srgbClr val="2A2722"/>
                </a:solidFill>
                <a:latin typeface="Arial"/>
              </a:rPr>
              <a:t>•  Discount use: Occasional 0.32 vs High-Value 0.08 — VIPs don't wait for sales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000" b="0" i="0">
                <a:solidFill>
                  <a:srgbClr val="2A2722"/>
                </a:solidFill>
                <a:latin typeface="Arial"/>
              </a:rPr>
              <a:t>•  Return rate: Occasional 0.22 vs High-Value 0.04 — quiet dissatisfaction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000" b="0" i="0">
                <a:solidFill>
                  <a:srgbClr val="2A2722"/>
                </a:solidFill>
                <a:latin typeface="Arial"/>
              </a:rPr>
              <a:t>•  Website time: Loyal 90+ min vs Occasional 30 — depth of interest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000" b="0" i="0">
                <a:solidFill>
                  <a:srgbClr val="2A2722"/>
                </a:solidFill>
                <a:latin typeface="Arial"/>
              </a:rPr>
              <a:t>•  Support calls: Occasional 3.2 vs Loyal 0.8 — struggling customers reach out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000" b="0" i="0">
                <a:solidFill>
                  <a:srgbClr val="2A2722"/>
                </a:solidFill>
                <a:latin typeface="Arial"/>
              </a:rPr>
              <a:t>•  Payment: Card covers 60% of High-Value; Wallet 45% of Occasional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000" b="0" i="0">
                <a:solidFill>
                  <a:srgbClr val="2A2722"/>
                </a:solidFill>
                <a:latin typeface="Arial"/>
              </a:rPr>
              <a:t>•  Region: 70% of Urban customers are High-Value; Rural leans Occasional</a:t>
            </a:r>
          </a:p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000" b="1" i="0" spc="60">
                <a:solidFill>
                  <a:srgbClr val="141414"/>
                </a:solidFill>
                <a:latin typeface="Arial"/>
              </a:rPr>
              <a:t>WHAT WAS LEFT OUT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000" b="0" i="0">
                <a:solidFill>
                  <a:srgbClr val="2A2722"/>
                </a:solidFill>
                <a:latin typeface="Arial"/>
              </a:rPr>
              <a:t>Only the ID number — a serial, not a behaviour. All twelve genuine details stayed.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44768" y="1847088"/>
            <a:ext cx="5120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050" b="1" i="0" spc="90">
                <a:solidFill>
                  <a:srgbClr val="141414"/>
                </a:solidFill>
                <a:latin typeface="Arial"/>
              </a:rPr>
              <a:t>WHAT THE MODEL WEIGHS MOST  •  50K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44768" y="2221992"/>
            <a:ext cx="14630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900" b="0" i="0">
                <a:solidFill>
                  <a:srgbClr val="5F594E"/>
                </a:solidFill>
                <a:latin typeface="Arial"/>
              </a:rPr>
              <a:t>avg_monthly_spend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699248" y="2249424"/>
            <a:ext cx="2606040" cy="169164"/>
          </a:xfrm>
          <a:prstGeom prst="roundRect">
            <a:avLst>
              <a:gd name="adj" fmla="val 50000"/>
            </a:avLst>
          </a:prstGeom>
          <a:solidFill>
            <a:srgbClr val="ECE6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699248" y="2249424"/>
            <a:ext cx="469087" cy="169164"/>
          </a:xfrm>
          <a:prstGeom prst="roundRect">
            <a:avLst>
              <a:gd name="adj" fmla="val 50000"/>
            </a:avLst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415016" y="219456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950" b="1" i="0">
                <a:solidFill>
                  <a:srgbClr val="141414"/>
                </a:solidFill>
                <a:latin typeface="Arial"/>
              </a:rPr>
              <a:t>0.18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44768" y="2512771"/>
            <a:ext cx="14630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900" b="0" i="0">
                <a:solidFill>
                  <a:srgbClr val="5F594E"/>
                </a:solidFill>
                <a:latin typeface="Arial"/>
              </a:rPr>
              <a:t>purchase_frequency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699248" y="2540203"/>
            <a:ext cx="2606040" cy="169164"/>
          </a:xfrm>
          <a:prstGeom prst="roundRect">
            <a:avLst>
              <a:gd name="adj" fmla="val 50000"/>
            </a:avLst>
          </a:prstGeom>
          <a:solidFill>
            <a:srgbClr val="ECE6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699248" y="2540203"/>
            <a:ext cx="390906" cy="169164"/>
          </a:xfrm>
          <a:prstGeom prst="roundRect">
            <a:avLst>
              <a:gd name="adj" fmla="val 50000"/>
            </a:avLst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415016" y="2485339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950" b="1" i="0">
                <a:solidFill>
                  <a:srgbClr val="141414"/>
                </a:solidFill>
                <a:latin typeface="Arial"/>
              </a:rPr>
              <a:t>0.15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44768" y="2803550"/>
            <a:ext cx="14630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900" b="0" i="0">
                <a:solidFill>
                  <a:srgbClr val="5F594E"/>
                </a:solidFill>
                <a:latin typeface="Arial"/>
              </a:rPr>
              <a:t>annual_income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699248" y="2830982"/>
            <a:ext cx="2606040" cy="169164"/>
          </a:xfrm>
          <a:prstGeom prst="roundRect">
            <a:avLst>
              <a:gd name="adj" fmla="val 50000"/>
            </a:avLst>
          </a:prstGeom>
          <a:solidFill>
            <a:srgbClr val="ECE6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7699248" y="2830982"/>
            <a:ext cx="364845" cy="169164"/>
          </a:xfrm>
          <a:prstGeom prst="roundRect">
            <a:avLst>
              <a:gd name="adj" fmla="val 50000"/>
            </a:avLst>
          </a:prstGeom>
          <a:solidFill>
            <a:srgbClr val="6B21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415016" y="2776118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950" b="1" i="0">
                <a:solidFill>
                  <a:srgbClr val="141414"/>
                </a:solidFill>
                <a:latin typeface="Arial"/>
              </a:rPr>
              <a:t>0.14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44768" y="3094329"/>
            <a:ext cx="14630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900" b="0" i="0">
                <a:solidFill>
                  <a:srgbClr val="5F594E"/>
                </a:solidFill>
                <a:latin typeface="Arial"/>
              </a:rPr>
              <a:t>months_active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699248" y="3121761"/>
            <a:ext cx="2606040" cy="169164"/>
          </a:xfrm>
          <a:prstGeom prst="roundRect">
            <a:avLst>
              <a:gd name="adj" fmla="val 50000"/>
            </a:avLst>
          </a:prstGeom>
          <a:solidFill>
            <a:srgbClr val="ECE6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7699248" y="3121761"/>
            <a:ext cx="312724" cy="169164"/>
          </a:xfrm>
          <a:prstGeom prst="roundRect">
            <a:avLst>
              <a:gd name="adj" fmla="val 50000"/>
            </a:avLst>
          </a:prstGeom>
          <a:solidFill>
            <a:srgbClr val="4A4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415016" y="3066897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950" b="1" i="0">
                <a:solidFill>
                  <a:srgbClr val="141414"/>
                </a:solidFill>
                <a:latin typeface="Arial"/>
              </a:rPr>
              <a:t>0.12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44768" y="3385108"/>
            <a:ext cx="14630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900" b="0" i="0">
                <a:solidFill>
                  <a:srgbClr val="5F594E"/>
                </a:solidFill>
                <a:latin typeface="Arial"/>
              </a:rPr>
              <a:t>avg_order_value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699248" y="3412540"/>
            <a:ext cx="2606040" cy="169164"/>
          </a:xfrm>
          <a:prstGeom prst="roundRect">
            <a:avLst>
              <a:gd name="adj" fmla="val 50000"/>
            </a:avLst>
          </a:prstGeom>
          <a:solidFill>
            <a:srgbClr val="ECE6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7699248" y="3412540"/>
            <a:ext cx="286664" cy="169164"/>
          </a:xfrm>
          <a:prstGeom prst="roundRect">
            <a:avLst>
              <a:gd name="adj" fmla="val 50000"/>
            </a:avLst>
          </a:prstGeom>
          <a:solidFill>
            <a:srgbClr val="4A4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415016" y="3357676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950" b="1" i="0">
                <a:solidFill>
                  <a:srgbClr val="141414"/>
                </a:solidFill>
                <a:latin typeface="Arial"/>
              </a:rPr>
              <a:t>0.11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44768" y="3675887"/>
            <a:ext cx="14630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900" b="0" i="0">
                <a:solidFill>
                  <a:srgbClr val="5F594E"/>
                </a:solidFill>
                <a:latin typeface="Arial"/>
              </a:rPr>
              <a:t>browsing_time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699248" y="3703320"/>
            <a:ext cx="2606040" cy="169164"/>
          </a:xfrm>
          <a:prstGeom prst="roundRect">
            <a:avLst>
              <a:gd name="adj" fmla="val 50000"/>
            </a:avLst>
          </a:prstGeom>
          <a:solidFill>
            <a:srgbClr val="ECE6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7699248" y="3703320"/>
            <a:ext cx="234543" cy="169164"/>
          </a:xfrm>
          <a:prstGeom prst="roundRect">
            <a:avLst>
              <a:gd name="adj" fmla="val 50000"/>
            </a:avLst>
          </a:prstGeom>
          <a:solidFill>
            <a:srgbClr val="8A7A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415016" y="3648456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950" b="1" i="0">
                <a:solidFill>
                  <a:srgbClr val="141414"/>
                </a:solidFill>
                <a:latin typeface="Arial"/>
              </a:rPr>
              <a:t>0.09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144768" y="3966667"/>
            <a:ext cx="14630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900" b="0" i="0">
                <a:solidFill>
                  <a:srgbClr val="5F594E"/>
                </a:solidFill>
                <a:latin typeface="Arial"/>
              </a:rPr>
              <a:t>discount_usage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699248" y="3994099"/>
            <a:ext cx="2606040" cy="169164"/>
          </a:xfrm>
          <a:prstGeom prst="roundRect">
            <a:avLst>
              <a:gd name="adj" fmla="val 50000"/>
            </a:avLst>
          </a:prstGeom>
          <a:solidFill>
            <a:srgbClr val="ECE6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7699248" y="3994099"/>
            <a:ext cx="182422" cy="169164"/>
          </a:xfrm>
          <a:prstGeom prst="roundRect">
            <a:avLst>
              <a:gd name="adj" fmla="val 50000"/>
            </a:avLst>
          </a:prstGeom>
          <a:solidFill>
            <a:srgbClr val="8A7A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415016" y="3939235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950" b="1" i="0">
                <a:solidFill>
                  <a:srgbClr val="141414"/>
                </a:solidFill>
                <a:latin typeface="Arial"/>
              </a:rPr>
              <a:t>0.07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144768" y="4257446"/>
            <a:ext cx="14630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900" b="0" i="0">
                <a:solidFill>
                  <a:srgbClr val="5F594E"/>
                </a:solidFill>
                <a:latin typeface="Arial"/>
              </a:rPr>
              <a:t>return_rate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699248" y="4284878"/>
            <a:ext cx="2606040" cy="169164"/>
          </a:xfrm>
          <a:prstGeom prst="roundRect">
            <a:avLst>
              <a:gd name="adj" fmla="val 50000"/>
            </a:avLst>
          </a:prstGeom>
          <a:solidFill>
            <a:srgbClr val="ECE6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7699248" y="4284878"/>
            <a:ext cx="156362" cy="169164"/>
          </a:xfrm>
          <a:prstGeom prst="roundRect">
            <a:avLst>
              <a:gd name="adj" fmla="val 50000"/>
            </a:avLst>
          </a:prstGeom>
          <a:solidFill>
            <a:srgbClr val="8A7A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415016" y="4230014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950" b="1" i="0">
                <a:solidFill>
                  <a:srgbClr val="141414"/>
                </a:solidFill>
                <a:latin typeface="Arial"/>
              </a:rPr>
              <a:t>0.06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144768" y="4548225"/>
            <a:ext cx="14630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900" b="0" i="0">
                <a:solidFill>
                  <a:srgbClr val="5F594E"/>
                </a:solidFill>
                <a:latin typeface="Arial"/>
              </a:rPr>
              <a:t>age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7699248" y="4575657"/>
            <a:ext cx="2606040" cy="169164"/>
          </a:xfrm>
          <a:prstGeom prst="roundRect">
            <a:avLst>
              <a:gd name="adj" fmla="val 50000"/>
            </a:avLst>
          </a:prstGeom>
          <a:solidFill>
            <a:srgbClr val="ECE6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7699248" y="4575657"/>
            <a:ext cx="128016" cy="169164"/>
          </a:xfrm>
          <a:prstGeom prst="roundRect">
            <a:avLst>
              <a:gd name="adj" fmla="val 50000"/>
            </a:avLst>
          </a:prstGeom>
          <a:solidFill>
            <a:srgbClr val="A89F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415016" y="4520793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950" b="1" i="0">
                <a:solidFill>
                  <a:srgbClr val="141414"/>
                </a:solidFill>
                <a:latin typeface="Arial"/>
              </a:rPr>
              <a:t>0.04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144768" y="4839004"/>
            <a:ext cx="14630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900" b="0" i="0">
                <a:solidFill>
                  <a:srgbClr val="5F594E"/>
                </a:solidFill>
                <a:latin typeface="Arial"/>
              </a:rPr>
              <a:t>support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699248" y="4866436"/>
            <a:ext cx="2606040" cy="169164"/>
          </a:xfrm>
          <a:prstGeom prst="roundRect">
            <a:avLst>
              <a:gd name="adj" fmla="val 50000"/>
            </a:avLst>
          </a:prstGeom>
          <a:solidFill>
            <a:srgbClr val="ECE6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7699248" y="4866436"/>
            <a:ext cx="128016" cy="169164"/>
          </a:xfrm>
          <a:prstGeom prst="roundRect">
            <a:avLst>
              <a:gd name="adj" fmla="val 50000"/>
            </a:avLst>
          </a:prstGeom>
          <a:solidFill>
            <a:srgbClr val="A89F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0415016" y="4811572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950" b="1" i="0">
                <a:solidFill>
                  <a:srgbClr val="141414"/>
                </a:solidFill>
                <a:latin typeface="Arial"/>
              </a:rPr>
              <a:t>0.03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144768" y="5129784"/>
            <a:ext cx="14630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900" b="0" i="0">
                <a:solidFill>
                  <a:srgbClr val="5F594E"/>
                </a:solidFill>
                <a:latin typeface="Arial"/>
              </a:rPr>
              <a:t>region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7699248" y="5157216"/>
            <a:ext cx="2606040" cy="169164"/>
          </a:xfrm>
          <a:prstGeom prst="roundRect">
            <a:avLst>
              <a:gd name="adj" fmla="val 50000"/>
            </a:avLst>
          </a:prstGeom>
          <a:solidFill>
            <a:srgbClr val="ECE6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ounded Rectangle 51"/>
          <p:cNvSpPr/>
          <p:nvPr/>
        </p:nvSpPr>
        <p:spPr>
          <a:xfrm>
            <a:off x="7699248" y="5157216"/>
            <a:ext cx="128016" cy="169164"/>
          </a:xfrm>
          <a:prstGeom prst="roundRect">
            <a:avLst>
              <a:gd name="adj" fmla="val 50000"/>
            </a:avLst>
          </a:prstGeom>
          <a:solidFill>
            <a:srgbClr val="A89F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0415016" y="5102352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950" b="1" i="0">
                <a:solidFill>
                  <a:srgbClr val="141414"/>
                </a:solidFill>
                <a:latin typeface="Arial"/>
              </a:rPr>
              <a:t>0.02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144768" y="5420563"/>
            <a:ext cx="14630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900" b="0" i="0">
                <a:solidFill>
                  <a:srgbClr val="5F594E"/>
                </a:solidFill>
                <a:latin typeface="Arial"/>
              </a:rPr>
              <a:t>payment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7699248" y="5447995"/>
            <a:ext cx="2606040" cy="169164"/>
          </a:xfrm>
          <a:prstGeom prst="roundRect">
            <a:avLst>
              <a:gd name="adj" fmla="val 50000"/>
            </a:avLst>
          </a:prstGeom>
          <a:solidFill>
            <a:srgbClr val="ECE6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ounded Rectangle 55"/>
          <p:cNvSpPr/>
          <p:nvPr/>
        </p:nvSpPr>
        <p:spPr>
          <a:xfrm>
            <a:off x="7699248" y="5447995"/>
            <a:ext cx="128016" cy="169164"/>
          </a:xfrm>
          <a:prstGeom prst="roundRect">
            <a:avLst>
              <a:gd name="adj" fmla="val 50000"/>
            </a:avLst>
          </a:prstGeom>
          <a:solidFill>
            <a:srgbClr val="A89F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0415016" y="5393131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950" b="1" i="0">
                <a:solidFill>
                  <a:srgbClr val="141414"/>
                </a:solidFill>
                <a:latin typeface="Arial"/>
              </a:rPr>
              <a:t>0.01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6144768" y="5852160"/>
            <a:ext cx="5486400" cy="512064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3DD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ounded Rectangle 58"/>
          <p:cNvSpPr/>
          <p:nvPr/>
        </p:nvSpPr>
        <p:spPr>
          <a:xfrm>
            <a:off x="6126480" y="5980176"/>
            <a:ext cx="50292" cy="256032"/>
          </a:xfrm>
          <a:prstGeom prst="roundRect">
            <a:avLst>
              <a:gd name="adj" fmla="val 50000"/>
            </a:avLst>
          </a:prstGeom>
          <a:solidFill>
            <a:srgbClr val="0E8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345936" y="5998464"/>
            <a:ext cx="51206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19" b="0" i="0">
                <a:solidFill>
                  <a:srgbClr val="2A2722"/>
                </a:solidFill>
                <a:latin typeface="Arial"/>
              </a:rPr>
              <a:t>NEW FEATURES: Card/UPI/Wallet and Rural/Semi/Urban become 6 yes-no columns — that's how 12 details become 16 model-ready columns.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66928" y="6492240"/>
            <a:ext cx="6858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750" b="0" i="0" spc="100">
                <a:solidFill>
                  <a:srgbClr val="9A9385"/>
                </a:solidFill>
                <a:latin typeface="Arial"/>
              </a:rPr>
              <a:t>RETAIL OPS  •  KAGGLE 50K REAL  •  LENS v3.0  •  09/18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1018520" y="6272784"/>
            <a:ext cx="8229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6000"/>
              </a:lnSpc>
              <a:spcAft>
                <a:spcPts val="400"/>
              </a:spcAft>
            </a:pPr>
            <a:r>
              <a:rPr sz="2400" b="1" i="0">
                <a:solidFill>
                  <a:srgbClr val="C7C0B1"/>
                </a:solidFill>
                <a:latin typeface="Arial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050" b="1" i="0" spc="140">
                <a:solidFill>
                  <a:srgbClr val="8A8478"/>
                </a:solidFill>
                <a:latin typeface="Arial"/>
              </a:rPr>
              <a:t>STEP 07  •  TRAIN-TEST SPLIT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49808"/>
            <a:ext cx="1106424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4000" b="1" i="0">
                <a:solidFill>
                  <a:srgbClr val="141414"/>
                </a:solidFill>
                <a:latin typeface="Arial"/>
              </a:rPr>
              <a:t>70% learn, 15% practise, 15% exam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554480"/>
            <a:ext cx="11055096" cy="17780"/>
          </a:xfrm>
          <a:prstGeom prst="rect">
            <a:avLst/>
          </a:prstGeom>
          <a:solidFill>
            <a:srgbClr val="DDD6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66928" y="1783080"/>
            <a:ext cx="2130552" cy="10241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3DD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12648" y="1874519"/>
            <a:ext cx="2039112" cy="8595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100"/>
              </a:spcAft>
            </a:pPr>
            <a:r>
              <a:rPr sz="2600" b="1">
                <a:solidFill>
                  <a:srgbClr val="141414"/>
                </a:solidFill>
                <a:latin typeface="Arial"/>
              </a:rPr>
              <a:t>35,020</a:t>
            </a:r>
          </a:p>
          <a:p>
            <a:pPr algn="ctr">
              <a:lnSpc>
                <a:spcPct val="106000"/>
              </a:lnSpc>
              <a:spcAft>
                <a:spcPts val="0"/>
              </a:spcAft>
            </a:pPr>
            <a:r>
              <a:rPr sz="850" b="1" i="0" spc="80">
                <a:solidFill>
                  <a:srgbClr val="6E685C"/>
                </a:solidFill>
                <a:latin typeface="Arial"/>
              </a:rPr>
              <a:t>TRAIN 70%</a:t>
            </a:r>
          </a:p>
          <a:p>
            <a:pPr algn="ctr">
              <a:lnSpc>
                <a:spcPct val="106000"/>
              </a:lnSpc>
              <a:spcAft>
                <a:spcPts val="0"/>
              </a:spcAft>
            </a:pPr>
            <a:r>
              <a:rPr sz="750" b="0" i="0">
                <a:solidFill>
                  <a:srgbClr val="B5AEA0"/>
                </a:solidFill>
                <a:latin typeface="Arial"/>
              </a:rPr>
              <a:t>where learning happens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98064" y="1783080"/>
            <a:ext cx="2130552" cy="10241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3DD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43784" y="1874519"/>
            <a:ext cx="2039112" cy="8595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100"/>
              </a:spcAft>
            </a:pPr>
            <a:r>
              <a:rPr sz="2600" b="1">
                <a:solidFill>
                  <a:srgbClr val="141414"/>
                </a:solidFill>
                <a:latin typeface="Arial"/>
              </a:rPr>
              <a:t>7,480</a:t>
            </a:r>
          </a:p>
          <a:p>
            <a:pPr algn="ctr">
              <a:lnSpc>
                <a:spcPct val="106000"/>
              </a:lnSpc>
              <a:spcAft>
                <a:spcPts val="0"/>
              </a:spcAft>
            </a:pPr>
            <a:r>
              <a:rPr sz="850" b="1" i="0" spc="80">
                <a:solidFill>
                  <a:srgbClr val="6E685C"/>
                </a:solidFill>
                <a:latin typeface="Arial"/>
              </a:rPr>
              <a:t>VAL 15%</a:t>
            </a:r>
          </a:p>
          <a:p>
            <a:pPr algn="ctr">
              <a:lnSpc>
                <a:spcPct val="106000"/>
              </a:lnSpc>
              <a:spcAft>
                <a:spcPts val="0"/>
              </a:spcAft>
            </a:pPr>
            <a:r>
              <a:rPr sz="750" b="0" i="0">
                <a:solidFill>
                  <a:srgbClr val="B5AEA0"/>
                </a:solidFill>
                <a:latin typeface="Arial"/>
              </a:rPr>
              <a:t>where tuning happens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0" y="1783080"/>
            <a:ext cx="2130552" cy="10241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3DD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74920" y="1874519"/>
            <a:ext cx="2039112" cy="8595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100"/>
              </a:spcAft>
            </a:pPr>
            <a:r>
              <a:rPr sz="2600" b="1">
                <a:solidFill>
                  <a:srgbClr val="141414"/>
                </a:solidFill>
                <a:latin typeface="Arial"/>
              </a:rPr>
              <a:t>7,500</a:t>
            </a:r>
          </a:p>
          <a:p>
            <a:pPr algn="ctr">
              <a:lnSpc>
                <a:spcPct val="106000"/>
              </a:lnSpc>
              <a:spcAft>
                <a:spcPts val="0"/>
              </a:spcAft>
            </a:pPr>
            <a:r>
              <a:rPr sz="850" b="1" i="0" spc="80">
                <a:solidFill>
                  <a:srgbClr val="6E685C"/>
                </a:solidFill>
                <a:latin typeface="Arial"/>
              </a:rPr>
              <a:t>TEST 15%</a:t>
            </a:r>
          </a:p>
          <a:p>
            <a:pPr algn="ctr">
              <a:lnSpc>
                <a:spcPct val="106000"/>
              </a:lnSpc>
              <a:spcAft>
                <a:spcPts val="0"/>
              </a:spcAft>
            </a:pPr>
            <a:r>
              <a:rPr sz="750" b="0" i="0">
                <a:solidFill>
                  <a:srgbClr val="B5AEA0"/>
                </a:solidFill>
                <a:latin typeface="Arial"/>
              </a:rPr>
              <a:t>seen only once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260336" y="1783080"/>
            <a:ext cx="2130552" cy="10241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3DD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06056" y="1874519"/>
            <a:ext cx="2039112" cy="8595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100"/>
              </a:spcAft>
            </a:pPr>
            <a:r>
              <a:rPr sz="2600" b="1">
                <a:solidFill>
                  <a:srgbClr val="141414"/>
                </a:solidFill>
                <a:latin typeface="Arial"/>
              </a:rPr>
              <a:t>50K</a:t>
            </a:r>
          </a:p>
          <a:p>
            <a:pPr algn="ctr">
              <a:lnSpc>
                <a:spcPct val="106000"/>
              </a:lnSpc>
              <a:spcAft>
                <a:spcPts val="0"/>
              </a:spcAft>
            </a:pPr>
            <a:r>
              <a:rPr sz="850" b="1" i="0" spc="80">
                <a:solidFill>
                  <a:srgbClr val="6E685C"/>
                </a:solidFill>
                <a:latin typeface="Arial"/>
              </a:rPr>
              <a:t>TOTAL</a:t>
            </a:r>
          </a:p>
          <a:p>
            <a:pPr algn="ctr">
              <a:lnSpc>
                <a:spcPct val="106000"/>
              </a:lnSpc>
              <a:spcAft>
                <a:spcPts val="0"/>
              </a:spcAft>
            </a:pPr>
            <a:r>
              <a:rPr sz="750" b="0" i="0">
                <a:solidFill>
                  <a:srgbClr val="B5AEA0"/>
                </a:solidFill>
                <a:latin typeface="Arial"/>
              </a:rPr>
              <a:t>real Kaggle customers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491472" y="1783080"/>
            <a:ext cx="2130552" cy="10241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3DD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537192" y="1874519"/>
            <a:ext cx="2039112" cy="8595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100"/>
              </a:spcAft>
            </a:pPr>
            <a:r>
              <a:rPr sz="2600" b="1">
                <a:solidFill>
                  <a:srgbClr val="141414"/>
                </a:solidFill>
                <a:latin typeface="Arial"/>
              </a:rPr>
              <a:t>66.6%</a:t>
            </a:r>
          </a:p>
          <a:p>
            <a:pPr algn="ctr">
              <a:lnSpc>
                <a:spcPct val="106000"/>
              </a:lnSpc>
              <a:spcAft>
                <a:spcPts val="0"/>
              </a:spcAft>
            </a:pPr>
            <a:r>
              <a:rPr sz="850" b="1" i="0" spc="80">
                <a:solidFill>
                  <a:srgbClr val="6E685C"/>
                </a:solidFill>
                <a:latin typeface="Arial"/>
              </a:rPr>
              <a:t>CV MEAN</a:t>
            </a:r>
          </a:p>
          <a:p>
            <a:pPr algn="ctr">
              <a:lnSpc>
                <a:spcPct val="106000"/>
              </a:lnSpc>
              <a:spcAft>
                <a:spcPts val="0"/>
              </a:spcAft>
            </a:pPr>
            <a:r>
              <a:rPr sz="750" b="0" i="0">
                <a:solidFill>
                  <a:srgbClr val="B5AEA0"/>
                </a:solidFill>
                <a:latin typeface="Arial"/>
              </a:rPr>
              <a:t>same answer, 5 rounds</a:t>
            </a:r>
          </a:p>
        </p:txBody>
      </p: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566928" y="3090672"/>
          <a:ext cx="6217920" cy="17373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868680"/>
                <a:gridCol w="914400"/>
                <a:gridCol w="731520"/>
                <a:gridCol w="822960"/>
                <a:gridCol w="2880360"/>
              </a:tblGrid>
              <a:tr h="329184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Set</a:t>
                      </a:r>
                    </a:p>
                  </a:txBody>
                  <a:tcPr marL="82296" marR="54864" marT="18288" marB="18288" anchor="ctr">
                    <a:solidFill>
                      <a:srgbClr val="12121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Rows</a:t>
                      </a:r>
                    </a:p>
                  </a:txBody>
                  <a:tcPr marL="82296" marR="54864" marT="18288" marB="18288" anchor="ctr">
                    <a:solidFill>
                      <a:srgbClr val="12121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Cols</a:t>
                      </a:r>
                    </a:p>
                  </a:txBody>
                  <a:tcPr marL="82296" marR="54864" marT="18288" marB="18288" anchor="ctr">
                    <a:solidFill>
                      <a:srgbClr val="12121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Share</a:t>
                      </a:r>
                    </a:p>
                  </a:txBody>
                  <a:tcPr marL="82296" marR="54864" marT="18288" marB="18288" anchor="ctr">
                    <a:solidFill>
                      <a:srgbClr val="12121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Purpose</a:t>
                      </a:r>
                    </a:p>
                  </a:txBody>
                  <a:tcPr marL="82296" marR="54864" marT="18288" marB="18288" anchor="ctr">
                    <a:solidFill>
                      <a:srgbClr val="121212"/>
                    </a:solidFill>
                  </a:tcPr>
                </a:tc>
              </a:tr>
              <a:tr h="352044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80" b="1">
                          <a:solidFill>
                            <a:srgbClr val="141414"/>
                          </a:solidFill>
                          <a:latin typeface="Arial"/>
                        </a:rPr>
                        <a:t>Full</a:t>
                      </a:r>
                    </a:p>
                  </a:txBody>
                  <a:tcPr marL="82296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80" b="0">
                          <a:solidFill>
                            <a:srgbClr val="2A2722"/>
                          </a:solidFill>
                          <a:latin typeface="Arial"/>
                        </a:rPr>
                        <a:t>50,000</a:t>
                      </a:r>
                    </a:p>
                  </a:txBody>
                  <a:tcPr marL="82296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80" b="0">
                          <a:solidFill>
                            <a:srgbClr val="2A2722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82296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80" b="0">
                          <a:solidFill>
                            <a:srgbClr val="2A2722"/>
                          </a:solidFill>
                          <a:latin typeface="Arial"/>
                        </a:rPr>
                        <a:t>100%</a:t>
                      </a:r>
                    </a:p>
                  </a:txBody>
                  <a:tcPr marL="82296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80" b="0">
                          <a:solidFill>
                            <a:srgbClr val="2A2722"/>
                          </a:solidFill>
                          <a:latin typeface="Arial"/>
                        </a:rPr>
                        <a:t>everything, minus the ID column</a:t>
                      </a:r>
                    </a:p>
                  </a:txBody>
                  <a:tcPr marL="82296" marR="54864" marT="18288" marB="18288" anchor="ctr">
                    <a:solidFill>
                      <a:srgbClr val="FFFFFF"/>
                    </a:solidFill>
                  </a:tcPr>
                </a:tc>
              </a:tr>
              <a:tr h="352044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80" b="1">
                          <a:solidFill>
                            <a:srgbClr val="141414"/>
                          </a:solidFill>
                          <a:latin typeface="Arial"/>
                        </a:rPr>
                        <a:t>Train</a:t>
                      </a:r>
                    </a:p>
                  </a:txBody>
                  <a:tcPr marL="82296" marR="54864" marT="18288" marB="18288" anchor="ctr">
                    <a:solidFill>
                      <a:srgbClr val="F4F0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80" b="0">
                          <a:solidFill>
                            <a:srgbClr val="2A2722"/>
                          </a:solidFill>
                          <a:latin typeface="Arial"/>
                        </a:rPr>
                        <a:t>35,020</a:t>
                      </a:r>
                    </a:p>
                  </a:txBody>
                  <a:tcPr marL="82296" marR="54864" marT="18288" marB="18288" anchor="ctr">
                    <a:solidFill>
                      <a:srgbClr val="F4F0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80" b="0">
                          <a:solidFill>
                            <a:srgbClr val="2A2722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82296" marR="54864" marT="18288" marB="18288" anchor="ctr">
                    <a:solidFill>
                      <a:srgbClr val="F4F0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80" b="0">
                          <a:solidFill>
                            <a:srgbClr val="2A2722"/>
                          </a:solidFill>
                          <a:latin typeface="Arial"/>
                        </a:rPr>
                        <a:t>70%</a:t>
                      </a:r>
                    </a:p>
                  </a:txBody>
                  <a:tcPr marL="82296" marR="54864" marT="18288" marB="18288" anchor="ctr">
                    <a:solidFill>
                      <a:srgbClr val="F4F0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80" b="0">
                          <a:solidFill>
                            <a:srgbClr val="2A2722"/>
                          </a:solidFill>
                          <a:latin typeface="Arial"/>
                        </a:rPr>
                        <a:t>the model studies this</a:t>
                      </a:r>
                    </a:p>
                  </a:txBody>
                  <a:tcPr marL="82296" marR="54864" marT="18288" marB="18288" anchor="ctr">
                    <a:solidFill>
                      <a:srgbClr val="F4F0E8"/>
                    </a:solidFill>
                  </a:tcPr>
                </a:tc>
              </a:tr>
              <a:tr h="352044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80" b="1">
                          <a:solidFill>
                            <a:srgbClr val="141414"/>
                          </a:solidFill>
                          <a:latin typeface="Arial"/>
                        </a:rPr>
                        <a:t>Val</a:t>
                      </a:r>
                    </a:p>
                  </a:txBody>
                  <a:tcPr marL="82296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80" b="0">
                          <a:solidFill>
                            <a:srgbClr val="2A2722"/>
                          </a:solidFill>
                          <a:latin typeface="Arial"/>
                        </a:rPr>
                        <a:t>7,480</a:t>
                      </a:r>
                    </a:p>
                  </a:txBody>
                  <a:tcPr marL="82296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80" b="0">
                          <a:solidFill>
                            <a:srgbClr val="2A2722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82296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80" b="0">
                          <a:solidFill>
                            <a:srgbClr val="2A2722"/>
                          </a:solidFill>
                          <a:latin typeface="Arial"/>
                        </a:rPr>
                        <a:t>15%</a:t>
                      </a:r>
                    </a:p>
                  </a:txBody>
                  <a:tcPr marL="82296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80" b="0">
                          <a:solidFill>
                            <a:srgbClr val="2A2722"/>
                          </a:solidFill>
                          <a:latin typeface="Arial"/>
                        </a:rPr>
                        <a:t>tune settings (a mock test)</a:t>
                      </a:r>
                    </a:p>
                  </a:txBody>
                  <a:tcPr marL="82296" marR="54864" marT="18288" marB="18288" anchor="ctr">
                    <a:solidFill>
                      <a:srgbClr val="FFFFFF"/>
                    </a:solidFill>
                  </a:tcPr>
                </a:tc>
              </a:tr>
              <a:tr h="352044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80" b="1">
                          <a:solidFill>
                            <a:srgbClr val="141414"/>
                          </a:solidFill>
                          <a:latin typeface="Arial"/>
                        </a:rPr>
                        <a:t>Test</a:t>
                      </a:r>
                    </a:p>
                  </a:txBody>
                  <a:tcPr marL="82296" marR="54864" marT="18288" marB="18288" anchor="ctr">
                    <a:solidFill>
                      <a:srgbClr val="F4F0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80" b="0">
                          <a:solidFill>
                            <a:srgbClr val="2A2722"/>
                          </a:solidFill>
                          <a:latin typeface="Arial"/>
                        </a:rPr>
                        <a:t>7,500</a:t>
                      </a:r>
                    </a:p>
                  </a:txBody>
                  <a:tcPr marL="82296" marR="54864" marT="18288" marB="18288" anchor="ctr">
                    <a:solidFill>
                      <a:srgbClr val="F4F0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80" b="0">
                          <a:solidFill>
                            <a:srgbClr val="2A2722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82296" marR="54864" marT="18288" marB="18288" anchor="ctr">
                    <a:solidFill>
                      <a:srgbClr val="F4F0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80" b="0">
                          <a:solidFill>
                            <a:srgbClr val="2A2722"/>
                          </a:solidFill>
                          <a:latin typeface="Arial"/>
                        </a:rPr>
                        <a:t>15%</a:t>
                      </a:r>
                    </a:p>
                  </a:txBody>
                  <a:tcPr marL="82296" marR="54864" marT="18288" marB="18288" anchor="ctr">
                    <a:solidFill>
                      <a:srgbClr val="F4F0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80" b="0">
                          <a:solidFill>
                            <a:srgbClr val="2A2722"/>
                          </a:solidFill>
                          <a:latin typeface="Arial"/>
                        </a:rPr>
                        <a:t>the final exam, graded once</a:t>
                      </a:r>
                    </a:p>
                  </a:txBody>
                  <a:tcPr marL="82296" marR="54864" marT="18288" marB="18288" anchor="ctr">
                    <a:solidFill>
                      <a:srgbClr val="F4F0E8"/>
                    </a:solidFill>
                  </a:tcPr>
                </a:tc>
              </a:tr>
            </a:tbl>
          </a:graphicData>
        </a:graphic>
      </p:graphicFrame>
      <p:sp>
        <p:nvSpPr>
          <p:cNvPr id="17" name="Rounded Rectangle 16"/>
          <p:cNvSpPr/>
          <p:nvPr/>
        </p:nvSpPr>
        <p:spPr>
          <a:xfrm>
            <a:off x="566928" y="4892040"/>
            <a:ext cx="6355080" cy="138988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3DD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48640" y="5020055"/>
            <a:ext cx="50292" cy="1133856"/>
          </a:xfrm>
          <a:prstGeom prst="roundRect">
            <a:avLst>
              <a:gd name="adj" fmla="val 50000"/>
            </a:avLst>
          </a:prstGeom>
          <a:solidFill>
            <a:srgbClr val="6B21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6384" y="5038344"/>
            <a:ext cx="5971032" cy="11155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Aft>
                <a:spcPts val="300"/>
              </a:spcAft>
            </a:pPr>
            <a:r>
              <a:rPr sz="1050" b="1" i="0" spc="90">
                <a:solidFill>
                  <a:srgbClr val="141414"/>
                </a:solidFill>
                <a:latin typeface="Arial"/>
              </a:rPr>
              <a:t>WHY 70/15/15 AND NOT 80/20?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69" b="0" i="0">
                <a:solidFill>
                  <a:srgbClr val="2A2722"/>
                </a:solidFill>
                <a:latin typeface="Arial"/>
              </a:rPr>
              <a:t>50k is enough to afford three sets. The practice set lets us tune settings without ever touching the exam; every set mirrors the same group mix; and every cleaning rule is learned from the train set alone — the exam never leaks in.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150608" y="3090672"/>
            <a:ext cx="4480560" cy="17373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3DD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132320" y="3218688"/>
            <a:ext cx="50292" cy="1481328"/>
          </a:xfrm>
          <a:prstGeom prst="roundRect">
            <a:avLst>
              <a:gd name="adj" fmla="val 50000"/>
            </a:avLst>
          </a:prstGeom>
          <a:solidFill>
            <a:srgbClr val="0E8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70064" y="3236976"/>
            <a:ext cx="4096512" cy="14630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Aft>
                <a:spcPts val="500"/>
              </a:spcAft>
            </a:pPr>
            <a:r>
              <a:rPr sz="1050" b="1" i="0" spc="90">
                <a:solidFill>
                  <a:srgbClr val="141414"/>
                </a:solidFill>
                <a:latin typeface="Arial"/>
              </a:rPr>
              <a:t>LEAKAGE PREVENTION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960" b="0" i="0">
                <a:solidFill>
                  <a:srgbClr val="2A2722"/>
                </a:solidFill>
                <a:latin typeface="Arial"/>
              </a:rPr>
              <a:t>Every average, scale and category used in cleaning comes from the 35k train set, then applies unchanged to val and test.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960" b="0" i="0">
                <a:solidFill>
                  <a:srgbClr val="2A2722"/>
                </a:solidFill>
                <a:latin typeface="Arial"/>
              </a:rPr>
              <a:t>The 7,500 exam answers stay locked away until the final grade.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150608" y="5047488"/>
            <a:ext cx="4480560" cy="1234440"/>
          </a:xfrm>
          <a:prstGeom prst="roundRect">
            <a:avLst>
              <a:gd name="adj" fmla="val 5500"/>
            </a:avLst>
          </a:prstGeom>
          <a:solidFill>
            <a:srgbClr val="1212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7095744" y="5184648"/>
            <a:ext cx="50292" cy="960120"/>
          </a:xfrm>
          <a:prstGeom prst="roundRect">
            <a:avLst>
              <a:gd name="adj" fmla="val 50000"/>
            </a:avLst>
          </a:prstGeom>
          <a:solidFill>
            <a:srgbClr val="6B21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406640" y="5212080"/>
            <a:ext cx="406908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000" b="1" i="0" spc="80">
                <a:solidFill>
                  <a:srgbClr val="FFFFFF"/>
                </a:solidFill>
                <a:latin typeface="Arial"/>
              </a:rPr>
              <a:t>WHAT THE SITE USES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40" b="0" i="0">
                <a:solidFill>
                  <a:srgbClr val="E8E4DC"/>
                </a:solidFill>
                <a:latin typeface="Arial"/>
              </a:rPr>
              <a:t>The same 6 saved files power the website — 7.6 MB total, loaded in seconds at start-up.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6928" y="6492240"/>
            <a:ext cx="6858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750" b="0" i="0" spc="100">
                <a:solidFill>
                  <a:srgbClr val="9A9385"/>
                </a:solidFill>
                <a:latin typeface="Arial"/>
              </a:rPr>
              <a:t>RETAIL OPS  •  KAGGLE 50K REAL  •  LENS v3.0  •  10/18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018520" y="6272784"/>
            <a:ext cx="8229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6000"/>
              </a:lnSpc>
              <a:spcAft>
                <a:spcPts val="400"/>
              </a:spcAft>
            </a:pPr>
            <a:r>
              <a:rPr sz="2400" b="1" i="0">
                <a:solidFill>
                  <a:srgbClr val="C7C0B1"/>
                </a:solidFill>
                <a:latin typeface="Arial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050" b="1" i="0" spc="140">
                <a:solidFill>
                  <a:srgbClr val="8A8478"/>
                </a:solidFill>
                <a:latin typeface="Arial"/>
              </a:rPr>
              <a:t>STEP 08  •  MODEL BUILDING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49808"/>
            <a:ext cx="1106424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4000" b="1" i="0">
                <a:solidFill>
                  <a:srgbClr val="141414"/>
                </a:solidFill>
                <a:latin typeface="Arial"/>
              </a:rPr>
              <a:t>The model we chose, plus what we tried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517904"/>
            <a:ext cx="11055096" cy="17780"/>
          </a:xfrm>
          <a:prstGeom prst="rect">
            <a:avLst/>
          </a:prstGeom>
          <a:solidFill>
            <a:srgbClr val="DDD6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1645920"/>
            <a:ext cx="10515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950" b="1" i="0" spc="120">
                <a:solidFill>
                  <a:srgbClr val="8A8478"/>
                </a:solidFill>
                <a:latin typeface="Arial"/>
              </a:rPr>
              <a:t>ONE CUSTOMER IN  →  CLEAN UP  →  ADD THE POINTS  →  GROUP OUT   •   REAL KAGGLE 50K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993392"/>
            <a:ext cx="2542032" cy="14813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3DD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2121408"/>
            <a:ext cx="224028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Aft>
                <a:spcPts val="500"/>
              </a:spcAft>
            </a:pPr>
            <a:r>
              <a:rPr sz="1000" b="1" i="0" spc="70">
                <a:solidFill>
                  <a:srgbClr val="141414"/>
                </a:solidFill>
                <a:latin typeface="Arial"/>
              </a:rPr>
              <a:t>INPUT</a:t>
            </a:r>
          </a:p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930" b="0" i="0">
                <a:solidFill>
                  <a:srgbClr val="2A2722"/>
                </a:solidFill>
                <a:latin typeface="Arial"/>
              </a:rPr>
              <a:t>12 raw details</a:t>
            </a:r>
          </a:p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930" b="0" i="0">
                <a:solidFill>
                  <a:srgbClr val="2A2722"/>
                </a:solidFill>
                <a:latin typeface="Arial"/>
              </a:rPr>
              <a:t>50k Kaggle</a:t>
            </a:r>
          </a:p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930" b="0" i="0">
                <a:solidFill>
                  <a:srgbClr val="2A2722"/>
                </a:solidFill>
                <a:latin typeface="Arial"/>
              </a:rPr>
              <a:t>10 numbers + 2 lists</a:t>
            </a:r>
          </a:p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930" b="0" i="0">
                <a:solidFill>
                  <a:srgbClr val="2A2722"/>
                </a:solidFill>
                <a:latin typeface="Arial"/>
              </a:rPr>
              <a:t>ID dropped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27248" y="2514600"/>
            <a:ext cx="320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6000"/>
              </a:lnSpc>
              <a:spcAft>
                <a:spcPts val="400"/>
              </a:spcAft>
            </a:pPr>
            <a:r>
              <a:rPr sz="1700" b="1" i="0">
                <a:solidFill>
                  <a:srgbClr val="6B21A8"/>
                </a:solidFill>
                <a:latin typeface="Arial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06140" y="1993392"/>
            <a:ext cx="2542032" cy="14813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3DD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89020" y="2121408"/>
            <a:ext cx="224028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Aft>
                <a:spcPts val="500"/>
              </a:spcAft>
            </a:pPr>
            <a:r>
              <a:rPr sz="1000" b="1" i="0" spc="70">
                <a:solidFill>
                  <a:srgbClr val="141414"/>
                </a:solidFill>
                <a:latin typeface="Arial"/>
              </a:rPr>
              <a:t>STEP 1  •  CLEAN UP</a:t>
            </a:r>
          </a:p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930" b="0" i="0">
                <a:solidFill>
                  <a:srgbClr val="2A2722"/>
                </a:solidFill>
                <a:latin typeface="Arial"/>
              </a:rPr>
              <a:t>fill 7 gappy columns</a:t>
            </a:r>
          </a:p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930" b="0" i="0">
                <a:solidFill>
                  <a:srgbClr val="2A2722"/>
                </a:solidFill>
                <a:latin typeface="Arial"/>
              </a:rPr>
              <a:t>2 lists → 6 yes-no cols</a:t>
            </a:r>
          </a:p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930" b="0" i="0">
                <a:solidFill>
                  <a:srgbClr val="2A2722"/>
                </a:solidFill>
                <a:latin typeface="Arial"/>
              </a:rPr>
              <a:t>numbers on one scale</a:t>
            </a:r>
          </a:p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930" b="0" i="0">
                <a:solidFill>
                  <a:srgbClr val="2A2722"/>
                </a:solidFill>
                <a:latin typeface="Arial"/>
              </a:rPr>
              <a:t>12 → 16 columns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66460" y="2514600"/>
            <a:ext cx="320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6000"/>
              </a:lnSpc>
              <a:spcAft>
                <a:spcPts val="400"/>
              </a:spcAft>
            </a:pPr>
            <a:r>
              <a:rPr sz="1700" b="1" i="0">
                <a:solidFill>
                  <a:srgbClr val="6B21A8"/>
                </a:solidFill>
                <a:latin typeface="Arial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45352" y="1993392"/>
            <a:ext cx="2542032" cy="1481328"/>
          </a:xfrm>
          <a:prstGeom prst="roundRect">
            <a:avLst>
              <a:gd name="adj" fmla="val 5500"/>
            </a:avLst>
          </a:prstGeom>
          <a:solidFill>
            <a:srgbClr val="EF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28232" y="2121408"/>
            <a:ext cx="224028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Aft>
                <a:spcPts val="500"/>
              </a:spcAft>
            </a:pPr>
            <a:r>
              <a:rPr sz="1000" b="1" i="0" spc="70">
                <a:solidFill>
                  <a:srgbClr val="6B21A8"/>
                </a:solidFill>
                <a:latin typeface="Arial"/>
              </a:rPr>
              <a:t>STEP 2  •  SCORE POINTS</a:t>
            </a:r>
          </a:p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930" b="0" i="0">
                <a:solidFill>
                  <a:srgbClr val="4A3F55"/>
                </a:solidFill>
                <a:latin typeface="Arial"/>
              </a:rPr>
              <a:t>each group keeps a tally</a:t>
            </a:r>
          </a:p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930" b="0" i="0">
                <a:solidFill>
                  <a:srgbClr val="4A3F55"/>
                </a:solidFill>
                <a:latin typeface="Arial"/>
              </a:rPr>
              <a:t>details add or subtract</a:t>
            </a:r>
          </a:p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930" b="0" i="0">
                <a:solidFill>
                  <a:srgbClr val="4A3F55"/>
                </a:solidFill>
                <a:latin typeface="Arial"/>
              </a:rPr>
              <a:t>highest tally wins</a:t>
            </a:r>
          </a:p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930" b="0" i="0">
                <a:solidFill>
                  <a:srgbClr val="4A3F55"/>
                </a:solidFill>
                <a:latin typeface="Arial"/>
              </a:rPr>
              <a:t>four tallies = 100%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05672" y="2514600"/>
            <a:ext cx="320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6000"/>
              </a:lnSpc>
              <a:spcAft>
                <a:spcPts val="400"/>
              </a:spcAft>
            </a:pPr>
            <a:r>
              <a:rPr sz="1700" b="1" i="0">
                <a:solidFill>
                  <a:srgbClr val="6B21A8"/>
                </a:solidFill>
                <a:latin typeface="Arial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84564" y="1993392"/>
            <a:ext cx="2542032" cy="1481328"/>
          </a:xfrm>
          <a:prstGeom prst="roundRect">
            <a:avLst>
              <a:gd name="adj" fmla="val 5500"/>
            </a:avLst>
          </a:prstGeom>
          <a:solidFill>
            <a:srgbClr val="1212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267444" y="2121408"/>
            <a:ext cx="224028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Aft>
                <a:spcPts val="500"/>
              </a:spcAft>
            </a:pPr>
            <a:r>
              <a:rPr sz="1000" b="1" i="0" spc="70">
                <a:solidFill>
                  <a:srgbClr val="FFFFFF"/>
                </a:solidFill>
                <a:latin typeface="Arial"/>
              </a:rPr>
              <a:t>OUTPUT</a:t>
            </a:r>
          </a:p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930" b="0" i="0">
                <a:solidFill>
                  <a:srgbClr val="E8E4DC"/>
                </a:solidFill>
                <a:latin typeface="Arial"/>
              </a:rPr>
              <a:t>4 chances, adding</a:t>
            </a:r>
          </a:p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930" b="0" i="0">
                <a:solidFill>
                  <a:srgbClr val="E8E4DC"/>
                </a:solidFill>
                <a:latin typeface="Arial"/>
              </a:rPr>
              <a:t>to 100%</a:t>
            </a:r>
          </a:p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930" b="0" i="0">
                <a:solidFill>
                  <a:srgbClr val="E8E4DC"/>
                </a:solidFill>
                <a:latin typeface="Arial"/>
              </a:rPr>
              <a:t>e.g. High-Value 78%</a:t>
            </a:r>
          </a:p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930" b="0" i="0">
                <a:solidFill>
                  <a:srgbClr val="E8E4DC"/>
                </a:solidFill>
                <a:latin typeface="Arial"/>
              </a:rPr>
              <a:t>→ VIP treatment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3767328"/>
            <a:ext cx="5440680" cy="25146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3DD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48640" y="3895344"/>
            <a:ext cx="50292" cy="2258568"/>
          </a:xfrm>
          <a:prstGeom prst="roundRect">
            <a:avLst>
              <a:gd name="adj" fmla="val 50000"/>
            </a:avLst>
          </a:prstGeom>
          <a:solidFill>
            <a:srgbClr val="6B21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86384" y="3913632"/>
            <a:ext cx="5056632" cy="2240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050" b="1" i="0" spc="90">
                <a:solidFill>
                  <a:srgbClr val="141414"/>
                </a:solidFill>
                <a:latin typeface="Arial"/>
              </a:rPr>
              <a:t>LINEAR MODELS (CO2)</a:t>
            </a:r>
          </a:p>
          <a:p>
            <a:pPr algn="l">
              <a:lnSpc>
                <a:spcPct val="112000"/>
              </a:lnSpc>
              <a:spcAft>
                <a:spcPts val="100"/>
              </a:spcAft>
            </a:pPr>
            <a:r>
              <a:rPr sz="919" b="0" i="0">
                <a:solidFill>
                  <a:srgbClr val="2A2722"/>
                </a:solidFill>
                <a:latin typeface="Arial"/>
              </a:rPr>
              <a:t>Our winner works like a scorecard — formally, multinomial logistic regression. For every group, each detail quietly adds or subtracts points; the highest tally wins. Because the arithmetic is visible, every decision can be explained.</a:t>
            </a:r>
          </a:p>
          <a:p>
            <a:pPr algn="l">
              <a:lnSpc>
                <a:spcPct val="112000"/>
              </a:lnSpc>
              <a:spcAft>
                <a:spcPts val="100"/>
              </a:spcAft>
            </a:pPr>
            <a:r>
              <a:rPr sz="919" b="0" i="0">
                <a:solidFill>
                  <a:srgbClr val="2A2722"/>
                </a:solidFill>
                <a:latin typeface="Arial"/>
              </a:rPr>
              <a:t>The strength dial matters: too loose and it turns lazy (64%), too tight and it starts memorising (1.2% gap). The best middle setting scored 66.7% in practice rounds.</a:t>
            </a:r>
          </a:p>
          <a:p>
            <a:pPr algn="l">
              <a:lnSpc>
                <a:spcPct val="112000"/>
              </a:lnSpc>
              <a:spcAft>
                <a:spcPts val="100"/>
              </a:spcAft>
            </a:pPr>
            <a:r>
              <a:rPr sz="919" b="0" i="0">
                <a:solidFill>
                  <a:srgbClr val="2A2722"/>
                </a:solidFill>
                <a:latin typeface="Arial"/>
              </a:rPr>
              <a:t>Study 66.7% vs practice 66.0% — a 0.7% gap that says: patterns learned, not answers memorised. Values share one scale first, so income doesn't drown age.</a:t>
            </a:r>
          </a:p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000" b="1" i="0" spc="60">
                <a:solidFill>
                  <a:srgbClr val="141414"/>
                </a:solidFill>
                <a:latin typeface="Arial"/>
              </a:rPr>
              <a:t>TREE MODELS (CO3)</a:t>
            </a:r>
          </a:p>
          <a:p>
            <a:pPr algn="l">
              <a:lnSpc>
                <a:spcPct val="112000"/>
              </a:lnSpc>
              <a:spcAft>
                <a:spcPts val="100"/>
              </a:spcAft>
            </a:pPr>
            <a:r>
              <a:rPr sz="919" b="0" i="0">
                <a:solidFill>
                  <a:srgbClr val="2A2722"/>
                </a:solidFill>
                <a:latin typeface="Arial"/>
              </a:rPr>
              <a:t>•  A single question tree: 62% — transparent but too simple</a:t>
            </a:r>
          </a:p>
          <a:p>
            <a:pPr algn="l">
              <a:lnSpc>
                <a:spcPct val="112000"/>
              </a:lnSpc>
              <a:spcAft>
                <a:spcPts val="100"/>
              </a:spcAft>
            </a:pPr>
            <a:r>
              <a:rPr sz="919" b="0" i="0">
                <a:solidFill>
                  <a:srgbClr val="2A2722"/>
                </a:solidFill>
                <a:latin typeface="Arial"/>
              </a:rPr>
              <a:t>•  A forest of 100 trees voting together: 75.1% — the best marks, though it can't explain itself; it agrees spending is the top clue (0.18)</a:t>
            </a:r>
          </a:p>
          <a:p>
            <a:pPr algn="l">
              <a:lnSpc>
                <a:spcPct val="112000"/>
              </a:lnSpc>
              <a:spcAft>
                <a:spcPts val="100"/>
              </a:spcAft>
            </a:pPr>
            <a:r>
              <a:rPr sz="919" b="0" i="0">
                <a:solidFill>
                  <a:srgbClr val="2A2722"/>
                </a:solidFill>
                <a:latin typeface="Arial"/>
              </a:rPr>
              <a:t>•  Boosted trees (XGBoost/LightGBM): 76% — stronger, but even more of a black box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63640" y="3767328"/>
            <a:ext cx="5367528" cy="25146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3DD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245352" y="3895344"/>
            <a:ext cx="50292" cy="2258568"/>
          </a:xfrm>
          <a:prstGeom prst="roundRect">
            <a:avLst>
              <a:gd name="adj" fmla="val 50000"/>
            </a:avLst>
          </a:prstGeom>
          <a:solidFill>
            <a:srgbClr val="0E8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83096" y="3913632"/>
            <a:ext cx="4983480" cy="2240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050" b="1" i="0" spc="90">
                <a:solidFill>
                  <a:srgbClr val="141414"/>
                </a:solidFill>
                <a:latin typeface="Arial"/>
              </a:rPr>
              <a:t>UNSUPERVISED (CO4) — 3K SAMPLE OF THE 50K</a:t>
            </a:r>
          </a:p>
          <a:p>
            <a:pPr algn="l">
              <a:lnSpc>
                <a:spcPct val="112000"/>
              </a:lnSpc>
              <a:spcAft>
                <a:spcPts val="100"/>
              </a:spcAft>
            </a:pPr>
            <a:r>
              <a:rPr sz="919" b="0" i="0">
                <a:solidFill>
                  <a:srgbClr val="2A2722"/>
                </a:solidFill>
                <a:latin typeface="Arial"/>
              </a:rPr>
              <a:t>•  Left alone, the data re-found the same four groups (KMeans) — independent proof the groups are real</a:t>
            </a:r>
          </a:p>
          <a:p>
            <a:pPr algn="l">
              <a:lnSpc>
                <a:spcPct val="112000"/>
              </a:lnSpc>
              <a:spcAft>
                <a:spcPts val="100"/>
              </a:spcAft>
            </a:pPr>
            <a:r>
              <a:rPr sz="919" b="0" i="0">
                <a:solidFill>
                  <a:srgbClr val="2A2722"/>
                </a:solidFill>
                <a:latin typeface="Arial"/>
              </a:rPr>
              <a:t>•  A family-tree view (hierarchical) draws the same four-way split</a:t>
            </a:r>
          </a:p>
          <a:p>
            <a:pPr algn="l">
              <a:lnSpc>
                <a:spcPct val="112000"/>
              </a:lnSpc>
              <a:spcAft>
                <a:spcPts val="100"/>
              </a:spcAft>
            </a:pPr>
            <a:r>
              <a:rPr sz="919" b="0" i="0">
                <a:solidFill>
                  <a:srgbClr val="2A2722"/>
                </a:solidFill>
                <a:latin typeface="Arial"/>
              </a:rPr>
              <a:t>•  The oddball finder (DBSCAN) marks ~8% loners — high returns, high support</a:t>
            </a:r>
          </a:p>
          <a:p>
            <a:pPr algn="l">
              <a:lnSpc>
                <a:spcPct val="112000"/>
              </a:lnSpc>
              <a:spcAft>
                <a:spcPts val="100"/>
              </a:spcAft>
            </a:pPr>
            <a:r>
              <a:rPr sz="919" b="0" i="0">
                <a:solidFill>
                  <a:srgbClr val="2A2722"/>
                </a:solidFill>
                <a:latin typeface="Arial"/>
              </a:rPr>
              <a:t>•  An anomaly check flags ~5% (2,500 customers) worth watching</a:t>
            </a:r>
          </a:p>
          <a:p>
            <a:pPr algn="l">
              <a:lnSpc>
                <a:spcPct val="112000"/>
              </a:lnSpc>
              <a:spcAft>
                <a:spcPts val="100"/>
              </a:spcAft>
            </a:pPr>
            <a:r>
              <a:rPr sz="919" b="0" i="0">
                <a:solidFill>
                  <a:srgbClr val="2A2722"/>
                </a:solidFill>
                <a:latin typeface="Arial"/>
              </a:rPr>
              <a:t>•  Flattened to two dimensions (PCA, t-SNE), the VIPs stand clearly apart</a:t>
            </a:r>
          </a:p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000" b="1" i="0" spc="60">
                <a:solidFill>
                  <a:srgbClr val="141414"/>
                </a:solidFill>
                <a:latin typeface="Arial"/>
              </a:rPr>
              <a:t>EVALUATION (CO5)</a:t>
            </a:r>
          </a:p>
          <a:p>
            <a:pPr algn="l">
              <a:lnSpc>
                <a:spcPct val="112000"/>
              </a:lnSpc>
              <a:spcAft>
                <a:spcPts val="100"/>
              </a:spcAft>
            </a:pPr>
            <a:r>
              <a:rPr sz="919" b="0" i="0">
                <a:solidFill>
                  <a:srgbClr val="2A2722"/>
                </a:solidFill>
                <a:latin typeface="Arial"/>
              </a:rPr>
              <a:t>•  Five re-tests, one answer: 66.6% every time (±0.3) — stable</a:t>
            </a:r>
          </a:p>
          <a:p>
            <a:pPr algn="l">
              <a:lnSpc>
                <a:spcPct val="112000"/>
              </a:lnSpc>
              <a:spcAft>
                <a:spcPts val="100"/>
              </a:spcAft>
            </a:pPr>
            <a:r>
              <a:rPr sz="919" b="0" i="0">
                <a:solidFill>
                  <a:srgbClr val="2A2722"/>
                </a:solidFill>
                <a:latin typeface="Arial"/>
              </a:rPr>
              <a:t>•  Settings tuned by grid, random and Bayesian search</a:t>
            </a:r>
          </a:p>
          <a:p>
            <a:pPr algn="l">
              <a:lnSpc>
                <a:spcPct val="112000"/>
              </a:lnSpc>
              <a:spcAft>
                <a:spcPts val="100"/>
              </a:spcAft>
            </a:pPr>
            <a:r>
              <a:rPr sz="919" b="0" i="0">
                <a:solidFill>
                  <a:srgbClr val="2A2722"/>
                </a:solidFill>
                <a:latin typeface="Arial"/>
              </a:rPr>
              <a:t>•  Final exam 66.4%, model score 0.87, confidence that means what it says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6928" y="6492240"/>
            <a:ext cx="6858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750" b="0" i="0" spc="100">
                <a:solidFill>
                  <a:srgbClr val="9A9385"/>
                </a:solidFill>
                <a:latin typeface="Arial"/>
              </a:rPr>
              <a:t>RETAIL OPS  •  KAGGLE 50K REAL  •  LENS v3.0  •  11/18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18520" y="6272784"/>
            <a:ext cx="8229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6000"/>
              </a:lnSpc>
              <a:spcAft>
                <a:spcPts val="400"/>
              </a:spcAft>
            </a:pPr>
            <a:r>
              <a:rPr sz="2400" b="1" i="0">
                <a:solidFill>
                  <a:srgbClr val="C7C0B1"/>
                </a:solidFill>
                <a:latin typeface="Arial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050" b="1" i="0" spc="140">
                <a:solidFill>
                  <a:srgbClr val="8A8478"/>
                </a:solidFill>
                <a:latin typeface="Arial"/>
              </a:rPr>
              <a:t>STEP 09  •  MODEL EVALUATION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49808"/>
            <a:ext cx="1106424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4000" b="1" i="0">
                <a:solidFill>
                  <a:srgbClr val="141414"/>
                </a:solidFill>
                <a:latin typeface="Arial"/>
              </a:rPr>
              <a:t>66.4% accuracy, 0.87 score — on real people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554480"/>
            <a:ext cx="11055096" cy="17780"/>
          </a:xfrm>
          <a:prstGeom prst="rect">
            <a:avLst/>
          </a:prstGeom>
          <a:solidFill>
            <a:srgbClr val="DDD6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66928" y="1783080"/>
            <a:ext cx="1764792" cy="10241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3DD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12648" y="1874519"/>
            <a:ext cx="1673351" cy="8595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100"/>
              </a:spcAft>
            </a:pPr>
            <a:r>
              <a:rPr sz="2600" b="1">
                <a:solidFill>
                  <a:srgbClr val="141414"/>
                </a:solidFill>
                <a:latin typeface="Arial"/>
              </a:rPr>
              <a:t>66.4%</a:t>
            </a:r>
          </a:p>
          <a:p>
            <a:pPr algn="ctr">
              <a:lnSpc>
                <a:spcPct val="106000"/>
              </a:lnSpc>
              <a:spcAft>
                <a:spcPts val="0"/>
              </a:spcAft>
            </a:pPr>
            <a:r>
              <a:rPr sz="850" b="1" i="0" spc="80">
                <a:solidFill>
                  <a:srgbClr val="6E685C"/>
                </a:solidFill>
                <a:latin typeface="Arial"/>
              </a:rPr>
              <a:t>ACCURACY</a:t>
            </a:r>
          </a:p>
          <a:p>
            <a:pPr algn="ctr">
              <a:lnSpc>
                <a:spcPct val="106000"/>
              </a:lnSpc>
              <a:spcAft>
                <a:spcPts val="0"/>
              </a:spcAft>
            </a:pPr>
            <a:r>
              <a:rPr sz="750" b="0" i="0">
                <a:solidFill>
                  <a:srgbClr val="B5AEA0"/>
                </a:solidFill>
                <a:latin typeface="Arial"/>
              </a:rPr>
              <a:t>7,500 tested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432304" y="1783080"/>
            <a:ext cx="1764792" cy="10241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3DD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478024" y="1874519"/>
            <a:ext cx="1673351" cy="8595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100"/>
              </a:spcAft>
            </a:pPr>
            <a:r>
              <a:rPr sz="2600" b="1">
                <a:solidFill>
                  <a:srgbClr val="141414"/>
                </a:solidFill>
                <a:latin typeface="Arial"/>
              </a:rPr>
              <a:t>0.87</a:t>
            </a:r>
          </a:p>
          <a:p>
            <a:pPr algn="ctr">
              <a:lnSpc>
                <a:spcPct val="106000"/>
              </a:lnSpc>
              <a:spcAft>
                <a:spcPts val="0"/>
              </a:spcAft>
            </a:pPr>
            <a:r>
              <a:rPr sz="850" b="1" i="0" spc="80">
                <a:solidFill>
                  <a:srgbClr val="6E685C"/>
                </a:solidFill>
                <a:latin typeface="Arial"/>
              </a:rPr>
              <a:t>MODEL SCORE</a:t>
            </a:r>
          </a:p>
          <a:p>
            <a:pPr algn="ctr">
              <a:lnSpc>
                <a:spcPct val="106000"/>
              </a:lnSpc>
              <a:spcAft>
                <a:spcPts val="0"/>
              </a:spcAft>
            </a:pPr>
            <a:r>
              <a:rPr sz="750" b="0" i="0">
                <a:solidFill>
                  <a:srgbClr val="B5AEA0"/>
                </a:solidFill>
                <a:latin typeface="Arial"/>
              </a:rPr>
              <a:t>out of 1.00 — strong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0" y="1783080"/>
            <a:ext cx="1764792" cy="10241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3DD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43400" y="1874519"/>
            <a:ext cx="1673351" cy="8595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100"/>
              </a:spcAft>
            </a:pPr>
            <a:r>
              <a:rPr sz="2600" b="1">
                <a:solidFill>
                  <a:srgbClr val="141414"/>
                </a:solidFill>
                <a:latin typeface="Arial"/>
              </a:rPr>
              <a:t>66.6%</a:t>
            </a:r>
          </a:p>
          <a:p>
            <a:pPr algn="ctr">
              <a:lnSpc>
                <a:spcPct val="106000"/>
              </a:lnSpc>
              <a:spcAft>
                <a:spcPts val="0"/>
              </a:spcAft>
            </a:pPr>
            <a:r>
              <a:rPr sz="850" b="1" i="0" spc="80">
                <a:solidFill>
                  <a:srgbClr val="6E685C"/>
                </a:solidFill>
                <a:latin typeface="Arial"/>
              </a:rPr>
              <a:t>CV MEAN</a:t>
            </a:r>
          </a:p>
          <a:p>
            <a:pPr algn="ctr">
              <a:lnSpc>
                <a:spcPct val="106000"/>
              </a:lnSpc>
              <a:spcAft>
                <a:spcPts val="0"/>
              </a:spcAft>
            </a:pPr>
            <a:r>
              <a:rPr sz="750" b="0" i="0">
                <a:solidFill>
                  <a:srgbClr val="B5AEA0"/>
                </a:solidFill>
                <a:latin typeface="Arial"/>
              </a:rPr>
              <a:t>same, 5 rounds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63056" y="1783080"/>
            <a:ext cx="1764792" cy="10241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3DD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08776" y="1874519"/>
            <a:ext cx="1673351" cy="8595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100"/>
              </a:spcAft>
            </a:pPr>
            <a:r>
              <a:rPr sz="2600" b="1">
                <a:solidFill>
                  <a:srgbClr val="141414"/>
                </a:solidFill>
                <a:latin typeface="Arial"/>
              </a:rPr>
              <a:t>50K</a:t>
            </a:r>
          </a:p>
          <a:p>
            <a:pPr algn="ctr">
              <a:lnSpc>
                <a:spcPct val="106000"/>
              </a:lnSpc>
              <a:spcAft>
                <a:spcPts val="0"/>
              </a:spcAft>
            </a:pPr>
            <a:r>
              <a:rPr sz="850" b="1" i="0" spc="80">
                <a:solidFill>
                  <a:srgbClr val="6E685C"/>
                </a:solidFill>
                <a:latin typeface="Arial"/>
              </a:rPr>
              <a:t>REAL DATA</a:t>
            </a:r>
          </a:p>
          <a:p>
            <a:pPr algn="ctr">
              <a:lnSpc>
                <a:spcPct val="106000"/>
              </a:lnSpc>
              <a:spcAft>
                <a:spcPts val="0"/>
              </a:spcAft>
            </a:pPr>
            <a:r>
              <a:rPr sz="750" b="0" i="0">
                <a:solidFill>
                  <a:srgbClr val="B5AEA0"/>
                </a:solidFill>
                <a:latin typeface="Arial"/>
              </a:rPr>
              <a:t>not easy demo data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28431" y="1783080"/>
            <a:ext cx="1764792" cy="10241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3DD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74152" y="1874519"/>
            <a:ext cx="1673351" cy="8595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100"/>
              </a:spcAft>
            </a:pPr>
            <a:r>
              <a:rPr sz="2600" b="1">
                <a:solidFill>
                  <a:srgbClr val="141414"/>
                </a:solidFill>
                <a:latin typeface="Arial"/>
              </a:rPr>
              <a:t>82%</a:t>
            </a:r>
          </a:p>
          <a:p>
            <a:pPr algn="ctr">
              <a:lnSpc>
                <a:spcPct val="106000"/>
              </a:lnSpc>
              <a:spcAft>
                <a:spcPts val="0"/>
              </a:spcAft>
            </a:pPr>
            <a:r>
              <a:rPr sz="850" b="1" i="0" spc="80">
                <a:solidFill>
                  <a:srgbClr val="6E685C"/>
                </a:solidFill>
                <a:latin typeface="Arial"/>
              </a:rPr>
              <a:t>BEST CAUGHT</a:t>
            </a:r>
          </a:p>
          <a:p>
            <a:pPr algn="ctr">
              <a:lnSpc>
                <a:spcPct val="106000"/>
              </a:lnSpc>
              <a:spcAft>
                <a:spcPts val="0"/>
              </a:spcAft>
            </a:pPr>
            <a:r>
              <a:rPr sz="750" b="0" i="0">
                <a:solidFill>
                  <a:srgbClr val="B5AEA0"/>
                </a:solidFill>
                <a:latin typeface="Arial"/>
              </a:rPr>
              <a:t>Occasional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893807" y="1783080"/>
            <a:ext cx="1764792" cy="10241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3DD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939528" y="1874519"/>
            <a:ext cx="1673351" cy="8595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100"/>
              </a:spcAft>
            </a:pPr>
            <a:r>
              <a:rPr sz="2600" b="1">
                <a:solidFill>
                  <a:srgbClr val="141414"/>
                </a:solidFill>
                <a:latin typeface="Arial"/>
              </a:rPr>
              <a:t>43%</a:t>
            </a:r>
          </a:p>
          <a:p>
            <a:pPr algn="ctr">
              <a:lnSpc>
                <a:spcPct val="106000"/>
              </a:lnSpc>
              <a:spcAft>
                <a:spcPts val="0"/>
              </a:spcAft>
            </a:pPr>
            <a:r>
              <a:rPr sz="850" b="1" i="0" spc="80">
                <a:solidFill>
                  <a:srgbClr val="6E685C"/>
                </a:solidFill>
                <a:latin typeface="Arial"/>
              </a:rPr>
              <a:t>HARDEST</a:t>
            </a:r>
          </a:p>
          <a:p>
            <a:pPr algn="ctr">
              <a:lnSpc>
                <a:spcPct val="106000"/>
              </a:lnSpc>
              <a:spcAft>
                <a:spcPts val="0"/>
              </a:spcAft>
            </a:pPr>
            <a:r>
              <a:rPr sz="750" b="0" i="0">
                <a:solidFill>
                  <a:srgbClr val="B5AEA0"/>
                </a:solidFill>
                <a:latin typeface="Arial"/>
              </a:rPr>
              <a:t>Regular, in the middle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566928" y="3108960"/>
          <a:ext cx="6492240" cy="179222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463040"/>
                <a:gridCol w="777240"/>
                <a:gridCol w="777240"/>
                <a:gridCol w="640080"/>
                <a:gridCol w="777240"/>
                <a:gridCol w="2057400"/>
              </a:tblGrid>
              <a:tr h="329184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Class</a:t>
                      </a:r>
                    </a:p>
                  </a:txBody>
                  <a:tcPr marL="82296" marR="54864" marT="18288" marB="18288" anchor="ctr">
                    <a:solidFill>
                      <a:srgbClr val="12121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Precise</a:t>
                      </a:r>
                    </a:p>
                  </a:txBody>
                  <a:tcPr marL="82296" marR="54864" marT="18288" marB="18288" anchor="ctr">
                    <a:solidFill>
                      <a:srgbClr val="12121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Caught</a:t>
                      </a:r>
                    </a:p>
                  </a:txBody>
                  <a:tcPr marL="82296" marR="54864" marT="18288" marB="18288" anchor="ctr">
                    <a:solidFill>
                      <a:srgbClr val="12121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F1</a:t>
                      </a:r>
                    </a:p>
                  </a:txBody>
                  <a:tcPr marL="82296" marR="54864" marT="18288" marB="18288" anchor="ctr">
                    <a:solidFill>
                      <a:srgbClr val="12121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Tested</a:t>
                      </a:r>
                    </a:p>
                  </a:txBody>
                  <a:tcPr marL="82296" marR="54864" marT="18288" marB="18288" anchor="ctr">
                    <a:solidFill>
                      <a:srgbClr val="12121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Insight</a:t>
                      </a:r>
                    </a:p>
                  </a:txBody>
                  <a:tcPr marL="82296" marR="54864" marT="18288" marB="18288" anchor="ctr">
                    <a:solidFill>
                      <a:srgbClr val="121212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60" b="1">
                          <a:solidFill>
                            <a:srgbClr val="141414"/>
                          </a:solidFill>
                          <a:latin typeface="Arial"/>
                        </a:rPr>
                        <a:t>Occasional 44%</a:t>
                      </a:r>
                    </a:p>
                  </a:txBody>
                  <a:tcPr marL="82296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60" b="0">
                          <a:solidFill>
                            <a:srgbClr val="2A2722"/>
                          </a:solidFill>
                          <a:latin typeface="Arial"/>
                        </a:rPr>
                        <a:t>72%</a:t>
                      </a:r>
                    </a:p>
                  </a:txBody>
                  <a:tcPr marL="82296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60" b="0">
                          <a:solidFill>
                            <a:srgbClr val="2A2722"/>
                          </a:solidFill>
                          <a:latin typeface="Arial"/>
                        </a:rPr>
                        <a:t>82%</a:t>
                      </a:r>
                    </a:p>
                  </a:txBody>
                  <a:tcPr marL="82296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60" b="0">
                          <a:solidFill>
                            <a:srgbClr val="2A2722"/>
                          </a:solidFill>
                          <a:latin typeface="Arial"/>
                        </a:rPr>
                        <a:t>77%</a:t>
                      </a:r>
                    </a:p>
                  </a:txBody>
                  <a:tcPr marL="82296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60" b="0">
                          <a:solidFill>
                            <a:srgbClr val="2A2722"/>
                          </a:solidFill>
                          <a:latin typeface="Arial"/>
                        </a:rPr>
                        <a:t>3,316</a:t>
                      </a:r>
                    </a:p>
                  </a:txBody>
                  <a:tcPr marL="82296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60" b="0">
                          <a:solidFill>
                            <a:srgbClr val="2A2722"/>
                          </a:solidFill>
                          <a:latin typeface="Arial"/>
                        </a:rPr>
                        <a:t>easiest — spends little, visits rarely</a:t>
                      </a:r>
                    </a:p>
                  </a:txBody>
                  <a:tcPr marL="82296" marR="54864" marT="18288" marB="18288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60" b="1">
                          <a:solidFill>
                            <a:srgbClr val="141414"/>
                          </a:solidFill>
                          <a:latin typeface="Arial"/>
                        </a:rPr>
                        <a:t>Regular 27%</a:t>
                      </a:r>
                    </a:p>
                  </a:txBody>
                  <a:tcPr marL="82296" marR="54864" marT="18288" marB="18288" anchor="ctr">
                    <a:solidFill>
                      <a:srgbClr val="F4F0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60" b="0">
                          <a:solidFill>
                            <a:srgbClr val="2A2722"/>
                          </a:solidFill>
                          <a:latin typeface="Arial"/>
                        </a:rPr>
                        <a:t>55%</a:t>
                      </a:r>
                    </a:p>
                  </a:txBody>
                  <a:tcPr marL="82296" marR="54864" marT="18288" marB="18288" anchor="ctr">
                    <a:solidFill>
                      <a:srgbClr val="F4F0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60" b="0">
                          <a:solidFill>
                            <a:srgbClr val="2A2722"/>
                          </a:solidFill>
                          <a:latin typeface="Arial"/>
                        </a:rPr>
                        <a:t>43%</a:t>
                      </a:r>
                    </a:p>
                  </a:txBody>
                  <a:tcPr marL="82296" marR="54864" marT="18288" marB="18288" anchor="ctr">
                    <a:solidFill>
                      <a:srgbClr val="F4F0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60" b="0">
                          <a:solidFill>
                            <a:srgbClr val="2A2722"/>
                          </a:solidFill>
                          <a:latin typeface="Arial"/>
                        </a:rPr>
                        <a:t>48%</a:t>
                      </a:r>
                    </a:p>
                  </a:txBody>
                  <a:tcPr marL="82296" marR="54864" marT="18288" marB="18288" anchor="ctr">
                    <a:solidFill>
                      <a:srgbClr val="F4F0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60" b="0">
                          <a:solidFill>
                            <a:srgbClr val="2A2722"/>
                          </a:solidFill>
                          <a:latin typeface="Arial"/>
                        </a:rPr>
                        <a:t>2,018</a:t>
                      </a:r>
                    </a:p>
                  </a:txBody>
                  <a:tcPr marL="82296" marR="54864" marT="18288" marB="18288" anchor="ctr">
                    <a:solidFill>
                      <a:srgbClr val="F4F0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60" b="0">
                          <a:solidFill>
                            <a:srgbClr val="2A2722"/>
                          </a:solidFill>
                          <a:latin typeface="Arial"/>
                        </a:rPr>
                        <a:t>hardest — sits between two groups</a:t>
                      </a:r>
                    </a:p>
                  </a:txBody>
                  <a:tcPr marL="82296" marR="54864" marT="18288" marB="18288" anchor="ctr">
                    <a:solidFill>
                      <a:srgbClr val="F4F0E8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60" b="1">
                          <a:solidFill>
                            <a:srgbClr val="141414"/>
                          </a:solidFill>
                          <a:latin typeface="Arial"/>
                        </a:rPr>
                        <a:t>Loyal 18%</a:t>
                      </a:r>
                    </a:p>
                  </a:txBody>
                  <a:tcPr marL="82296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60" b="0">
                          <a:solidFill>
                            <a:srgbClr val="2A2722"/>
                          </a:solidFill>
                          <a:latin typeface="Arial"/>
                        </a:rPr>
                        <a:t>60%</a:t>
                      </a:r>
                    </a:p>
                  </a:txBody>
                  <a:tcPr marL="82296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60" b="0">
                          <a:solidFill>
                            <a:srgbClr val="2A2722"/>
                          </a:solidFill>
                          <a:latin typeface="Arial"/>
                        </a:rPr>
                        <a:t>65%</a:t>
                      </a:r>
                    </a:p>
                  </a:txBody>
                  <a:tcPr marL="82296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60" b="0">
                          <a:solidFill>
                            <a:srgbClr val="2A2722"/>
                          </a:solidFill>
                          <a:latin typeface="Arial"/>
                        </a:rPr>
                        <a:t>63%</a:t>
                      </a:r>
                    </a:p>
                  </a:txBody>
                  <a:tcPr marL="82296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60" b="0">
                          <a:solidFill>
                            <a:srgbClr val="2A2722"/>
                          </a:solidFill>
                          <a:latin typeface="Arial"/>
                        </a:rPr>
                        <a:t>1,375</a:t>
                      </a:r>
                    </a:p>
                  </a:txBody>
                  <a:tcPr marL="82296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60" b="0">
                          <a:solidFill>
                            <a:srgbClr val="2A2722"/>
                          </a:solidFill>
                          <a:latin typeface="Arial"/>
                        </a:rPr>
                        <a:t>decent — long membership stands out</a:t>
                      </a:r>
                    </a:p>
                  </a:txBody>
                  <a:tcPr marL="82296" marR="54864" marT="18288" marB="18288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60" b="1">
                          <a:solidFill>
                            <a:srgbClr val="141414"/>
                          </a:solidFill>
                          <a:latin typeface="Arial"/>
                        </a:rPr>
                        <a:t>High-Value 11%</a:t>
                      </a:r>
                    </a:p>
                  </a:txBody>
                  <a:tcPr marL="82296" marR="54864" marT="18288" marB="18288" anchor="ctr">
                    <a:solidFill>
                      <a:srgbClr val="F4F0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60" b="0">
                          <a:solidFill>
                            <a:srgbClr val="2A2722"/>
                          </a:solidFill>
                          <a:latin typeface="Arial"/>
                        </a:rPr>
                        <a:t>70%</a:t>
                      </a:r>
                    </a:p>
                  </a:txBody>
                  <a:tcPr marL="82296" marR="54864" marT="18288" marB="18288" anchor="ctr">
                    <a:solidFill>
                      <a:srgbClr val="F4F0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60" b="0">
                          <a:solidFill>
                            <a:srgbClr val="2A2722"/>
                          </a:solidFill>
                          <a:latin typeface="Arial"/>
                        </a:rPr>
                        <a:t>61%</a:t>
                      </a:r>
                    </a:p>
                  </a:txBody>
                  <a:tcPr marL="82296" marR="54864" marT="18288" marB="18288" anchor="ctr">
                    <a:solidFill>
                      <a:srgbClr val="F4F0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60" b="0">
                          <a:solidFill>
                            <a:srgbClr val="2A2722"/>
                          </a:solidFill>
                          <a:latin typeface="Arial"/>
                        </a:rPr>
                        <a:t>65%</a:t>
                      </a:r>
                    </a:p>
                  </a:txBody>
                  <a:tcPr marL="82296" marR="54864" marT="18288" marB="18288" anchor="ctr">
                    <a:solidFill>
                      <a:srgbClr val="F4F0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60" b="0">
                          <a:solidFill>
                            <a:srgbClr val="2A2722"/>
                          </a:solidFill>
                          <a:latin typeface="Arial"/>
                        </a:rPr>
                        <a:t>791</a:t>
                      </a:r>
                    </a:p>
                  </a:txBody>
                  <a:tcPr marL="82296" marR="54864" marT="18288" marB="18288" anchor="ctr">
                    <a:solidFill>
                      <a:srgbClr val="F4F0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60" b="0">
                          <a:solidFill>
                            <a:srgbClr val="2A2722"/>
                          </a:solidFill>
                          <a:latin typeface="Arial"/>
                        </a:rPr>
                        <a:t>careful — never miss a real VIP</a:t>
                      </a:r>
                    </a:p>
                  </a:txBody>
                  <a:tcPr marL="82296" marR="54864" marT="18288" marB="18288" anchor="ctr">
                    <a:solidFill>
                      <a:srgbClr val="F4F0E8"/>
                    </a:solidFill>
                  </a:tcPr>
                </a:tc>
              </a:tr>
            </a:tbl>
          </a:graphicData>
        </a:graphic>
      </p:graphicFrame>
      <p:sp>
        <p:nvSpPr>
          <p:cNvPr id="19" name="Rounded Rectangle 18"/>
          <p:cNvSpPr/>
          <p:nvPr/>
        </p:nvSpPr>
        <p:spPr>
          <a:xfrm>
            <a:off x="566928" y="4956048"/>
            <a:ext cx="6355080" cy="13258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3DD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548640" y="5084064"/>
            <a:ext cx="50292" cy="1069848"/>
          </a:xfrm>
          <a:prstGeom prst="roundRect">
            <a:avLst>
              <a:gd name="adj" fmla="val 50000"/>
            </a:avLst>
          </a:prstGeom>
          <a:solidFill>
            <a:srgbClr val="6B21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86384" y="5102352"/>
            <a:ext cx="5971032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Aft>
                <a:spcPts val="300"/>
              </a:spcAft>
            </a:pPr>
            <a:r>
              <a:rPr sz="1050" b="1" i="0" spc="90">
                <a:solidFill>
                  <a:srgbClr val="141414"/>
                </a:solidFill>
                <a:latin typeface="Arial"/>
              </a:rPr>
              <a:t>WHY 66% AND NOT 89%?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60" b="0" i="0">
                <a:solidFill>
                  <a:srgbClr val="2A2722"/>
                </a:solidFill>
                <a:latin typeface="Arial"/>
              </a:rPr>
              <a:t>The old demo dataset was deceptively easy — 89%. Real shoppers overlap: a Regular and a Loyal can spend identically, differing only in how long they've stayed. Chance scores 25%; always answering “Occasional” scores 44%. At 66%, we clear both with room to spare — an honest grade on honest data.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150608" y="3108960"/>
            <a:ext cx="4480560" cy="3172968"/>
          </a:xfrm>
          <a:prstGeom prst="roundRect">
            <a:avLst>
              <a:gd name="adj" fmla="val 5500"/>
            </a:avLst>
          </a:prstGeom>
          <a:solidFill>
            <a:srgbClr val="1212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7095744" y="3246120"/>
            <a:ext cx="50292" cy="2880360"/>
          </a:xfrm>
          <a:prstGeom prst="roundRect">
            <a:avLst>
              <a:gd name="adj" fmla="val 50000"/>
            </a:avLst>
          </a:prstGeom>
          <a:solidFill>
            <a:srgbClr val="6B21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406640" y="3273552"/>
            <a:ext cx="4069080" cy="2834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Aft>
                <a:spcPts val="600"/>
              </a:spcAft>
            </a:pPr>
            <a:r>
              <a:rPr sz="1050" b="1" i="0" spc="90">
                <a:solidFill>
                  <a:srgbClr val="FFFFFF"/>
                </a:solidFill>
                <a:latin typeface="Arial"/>
              </a:rPr>
              <a:t>CONFUSION MATRIX INSIGHTS</a:t>
            </a:r>
          </a:p>
          <a:p>
            <a:pPr algn="l">
              <a:lnSpc>
                <a:spcPct val="116000"/>
              </a:lnSpc>
              <a:spcAft>
                <a:spcPts val="800"/>
              </a:spcAft>
            </a:pPr>
            <a:r>
              <a:rPr sz="960" b="0" i="0">
                <a:solidFill>
                  <a:srgbClr val="E8E4DC"/>
                </a:solidFill>
                <a:latin typeface="Arial"/>
              </a:rPr>
              <a:t>Occasional easiest: 82% caught. Regular hardest: 43% — it genuinely resembles both neighbours. High-Value: 61% caught, and a true VIP is almost never called cheap — the costly mistake is the rare one.</a:t>
            </a:r>
          </a:p>
          <a:p>
            <a:pPr algn="l">
              <a:lnSpc>
                <a:spcPct val="106000"/>
              </a:lnSpc>
              <a:spcAft>
                <a:spcPts val="500"/>
              </a:spcAft>
            </a:pPr>
            <a:r>
              <a:rPr sz="1050" b="1" i="0" spc="90">
                <a:solidFill>
                  <a:srgbClr val="FFFFFF"/>
                </a:solidFill>
                <a:latin typeface="Arial"/>
              </a:rPr>
              <a:t>MODEL SCORE 0.87 OUT OF 1.00</a:t>
            </a:r>
          </a:p>
          <a:p>
            <a:pPr algn="l">
              <a:lnSpc>
                <a:spcPct val="116000"/>
              </a:lnSpc>
              <a:spcAft>
                <a:spcPts val="800"/>
              </a:spcAft>
            </a:pPr>
            <a:r>
              <a:rPr sz="960" b="0" i="0">
                <a:solidFill>
                  <a:srgbClr val="E8E4DC"/>
                </a:solidFill>
                <a:latin typeface="Arial"/>
              </a:rPr>
              <a:t>It ranks customers very well — and it's calibrated: when it says 70% sure, it's right about 70% of the time. The confidence number can be trusted.</a:t>
            </a:r>
          </a:p>
          <a:p>
            <a:pPr algn="l">
              <a:lnSpc>
                <a:spcPct val="106000"/>
              </a:lnSpc>
              <a:spcAft>
                <a:spcPts val="500"/>
              </a:spcAft>
            </a:pPr>
            <a:r>
              <a:rPr sz="1050" b="1" i="0" spc="90">
                <a:solidFill>
                  <a:srgbClr val="FFFFFF"/>
                </a:solidFill>
                <a:latin typeface="Arial"/>
              </a:rPr>
              <a:t>NOT MEMORISING</a:t>
            </a:r>
          </a:p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960" b="0" i="0">
                <a:solidFill>
                  <a:srgbClr val="E8E4DC"/>
                </a:solidFill>
                <a:latin typeface="Arial"/>
              </a:rPr>
              <a:t>Study 66.7% vs practice 66.0% — a tiny gap. With 50k examples, the model learned behaviour, not the answer sheet.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6928" y="6492240"/>
            <a:ext cx="6858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750" b="0" i="0" spc="100">
                <a:solidFill>
                  <a:srgbClr val="9A9385"/>
                </a:solidFill>
                <a:latin typeface="Arial"/>
              </a:rPr>
              <a:t>RETAIL OPS  •  KAGGLE 50K REAL  •  LENS v3.0  •  12/18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018520" y="6272784"/>
            <a:ext cx="8229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6000"/>
              </a:lnSpc>
              <a:spcAft>
                <a:spcPts val="400"/>
              </a:spcAft>
            </a:pPr>
            <a:r>
              <a:rPr sz="2400" b="1" i="0">
                <a:solidFill>
                  <a:srgbClr val="C7C0B1"/>
                </a:solidFill>
                <a:latin typeface="Arial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050" b="1" i="0" spc="140">
                <a:solidFill>
                  <a:srgbClr val="8A8478"/>
                </a:solidFill>
                <a:latin typeface="Arial"/>
              </a:rPr>
              <a:t>STEP 10  •  SAVE FINAL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49808"/>
            <a:ext cx="1106424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4000" b="1" i="0">
                <a:solidFill>
                  <a:srgbClr val="141414"/>
                </a:solidFill>
                <a:latin typeface="Arial"/>
              </a:rPr>
              <a:t>Pack model, cleaning rules, report card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554480"/>
            <a:ext cx="11055096" cy="17780"/>
          </a:xfrm>
          <a:prstGeom prst="rect">
            <a:avLst/>
          </a:prstGeom>
          <a:solidFill>
            <a:srgbClr val="DDD6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66928" y="1783080"/>
          <a:ext cx="6217920" cy="239572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103120"/>
                <a:gridCol w="640080"/>
                <a:gridCol w="2651760"/>
                <a:gridCol w="822960"/>
              </a:tblGrid>
              <a:tr h="310896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File</a:t>
                      </a:r>
                    </a:p>
                  </a:txBody>
                  <a:tcPr marL="82296" marR="54864" marT="18288" marB="18288" anchor="ctr">
                    <a:solidFill>
                      <a:srgbClr val="12121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Size</a:t>
                      </a:r>
                    </a:p>
                  </a:txBody>
                  <a:tcPr marL="82296" marR="54864" marT="18288" marB="18288" anchor="ctr">
                    <a:solidFill>
                      <a:srgbClr val="12121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What's inside</a:t>
                      </a:r>
                    </a:p>
                  </a:txBody>
                  <a:tcPr marL="82296" marR="54864" marT="18288" marB="18288" anchor="ctr">
                    <a:solidFill>
                      <a:srgbClr val="12121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Version</a:t>
                      </a:r>
                    </a:p>
                  </a:txBody>
                  <a:tcPr marL="82296" marR="54864" marT="18288" marB="18288" anchor="ctr">
                    <a:solidFill>
                      <a:srgbClr val="121212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19" b="1">
                          <a:solidFill>
                            <a:srgbClr val="141414"/>
                          </a:solidFill>
                          <a:latin typeface="Arial"/>
                        </a:rPr>
                        <a:t>customers.csv</a:t>
                      </a:r>
                    </a:p>
                  </a:txBody>
                  <a:tcPr marL="82296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19" b="0">
                          <a:solidFill>
                            <a:srgbClr val="2A2722"/>
                          </a:solidFill>
                          <a:latin typeface="Arial"/>
                        </a:rPr>
                        <a:t>7.4 MB</a:t>
                      </a:r>
                    </a:p>
                  </a:txBody>
                  <a:tcPr marL="82296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19" b="0">
                          <a:solidFill>
                            <a:srgbClr val="2A2722"/>
                          </a:solidFill>
                          <a:latin typeface="Arial"/>
                        </a:rPr>
                        <a:t>the 50,000 real customers</a:t>
                      </a:r>
                    </a:p>
                  </a:txBody>
                  <a:tcPr marL="82296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19" b="0">
                          <a:solidFill>
                            <a:srgbClr val="2A2722"/>
                          </a:solidFill>
                          <a:latin typeface="Arial"/>
                        </a:rPr>
                        <a:t>Kaggle 50k</a:t>
                      </a:r>
                    </a:p>
                  </a:txBody>
                  <a:tcPr marL="82296" marR="54864" marT="18288" marB="18288"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19" b="1">
                          <a:solidFill>
                            <a:srgbClr val="141414"/>
                          </a:solidFill>
                          <a:latin typeface="Arial"/>
                        </a:rPr>
                        <a:t>preprocessor.pkl</a:t>
                      </a:r>
                    </a:p>
                  </a:txBody>
                  <a:tcPr marL="82296" marR="54864" marT="18288" marB="18288" anchor="ctr">
                    <a:solidFill>
                      <a:srgbClr val="F4F0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19" b="0">
                          <a:solidFill>
                            <a:srgbClr val="2A2722"/>
                          </a:solidFill>
                          <a:latin typeface="Arial"/>
                        </a:rPr>
                        <a:t>4.4 KB</a:t>
                      </a:r>
                    </a:p>
                  </a:txBody>
                  <a:tcPr marL="82296" marR="54864" marT="18288" marB="18288" anchor="ctr">
                    <a:solidFill>
                      <a:srgbClr val="F4F0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19" b="0">
                          <a:solidFill>
                            <a:srgbClr val="2A2722"/>
                          </a:solidFill>
                          <a:latin typeface="Arial"/>
                        </a:rPr>
                        <a:t>cleaning rules, learned from train only</a:t>
                      </a:r>
                    </a:p>
                  </a:txBody>
                  <a:tcPr marL="82296" marR="54864" marT="18288" marB="18288" anchor="ctr">
                    <a:solidFill>
                      <a:srgbClr val="F4F0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19" b="0">
                          <a:solidFill>
                            <a:srgbClr val="2A2722"/>
                          </a:solidFill>
                          <a:latin typeface="Arial"/>
                        </a:rPr>
                        <a:t>v3.0-kaggle</a:t>
                      </a:r>
                    </a:p>
                  </a:txBody>
                  <a:tcPr marL="82296" marR="54864" marT="18288" marB="18288" anchor="ctr">
                    <a:solidFill>
                      <a:srgbClr val="F4F0E8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19" b="1">
                          <a:solidFill>
                            <a:srgbClr val="141414"/>
                          </a:solidFill>
                          <a:latin typeface="Arial"/>
                        </a:rPr>
                        <a:t>model_multinomial_logreg.pkl</a:t>
                      </a:r>
                    </a:p>
                  </a:txBody>
                  <a:tcPr marL="82296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19" b="0">
                          <a:solidFill>
                            <a:srgbClr val="2A2722"/>
                          </a:solidFill>
                          <a:latin typeface="Arial"/>
                        </a:rPr>
                        <a:t>1.6 KB</a:t>
                      </a:r>
                    </a:p>
                  </a:txBody>
                  <a:tcPr marL="82296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19" b="0">
                          <a:solidFill>
                            <a:srgbClr val="2A2722"/>
                          </a:solidFill>
                          <a:latin typeface="Arial"/>
                        </a:rPr>
                        <a:t>the trained scorecard model</a:t>
                      </a:r>
                    </a:p>
                  </a:txBody>
                  <a:tcPr marL="82296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19" b="0">
                          <a:solidFill>
                            <a:srgbClr val="2A2722"/>
                          </a:solidFill>
                          <a:latin typeface="Arial"/>
                        </a:rPr>
                        <a:t>v3.0-kaggle</a:t>
                      </a:r>
                    </a:p>
                  </a:txBody>
                  <a:tcPr marL="82296" marR="54864" marT="18288" marB="18288"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19" b="1">
                          <a:solidFill>
                            <a:srgbClr val="141414"/>
                          </a:solidFill>
                          <a:latin typeface="Arial"/>
                        </a:rPr>
                        <a:t>feature_store.pkl</a:t>
                      </a:r>
                    </a:p>
                  </a:txBody>
                  <a:tcPr marL="82296" marR="54864" marT="18288" marB="18288" anchor="ctr">
                    <a:solidFill>
                      <a:srgbClr val="F4F0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19" b="0">
                          <a:solidFill>
                            <a:srgbClr val="2A2722"/>
                          </a:solidFill>
                          <a:latin typeface="Arial"/>
                        </a:rPr>
                        <a:t>1.2 KB</a:t>
                      </a:r>
                    </a:p>
                  </a:txBody>
                  <a:tcPr marL="82296" marR="54864" marT="18288" marB="18288" anchor="ctr">
                    <a:solidFill>
                      <a:srgbClr val="F4F0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19" b="0">
                          <a:solidFill>
                            <a:srgbClr val="2A2722"/>
                          </a:solidFill>
                          <a:latin typeface="Arial"/>
                        </a:rPr>
                        <a:t>which details we use + 6 safety checks</a:t>
                      </a:r>
                    </a:p>
                  </a:txBody>
                  <a:tcPr marL="82296" marR="54864" marT="18288" marB="18288" anchor="ctr">
                    <a:solidFill>
                      <a:srgbClr val="F4F0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19" b="0">
                          <a:solidFill>
                            <a:srgbClr val="2A2722"/>
                          </a:solidFill>
                          <a:latin typeface="Arial"/>
                        </a:rPr>
                        <a:t>v3.0-kaggle</a:t>
                      </a:r>
                    </a:p>
                  </a:txBody>
                  <a:tcPr marL="82296" marR="54864" marT="18288" marB="18288" anchor="ctr">
                    <a:solidFill>
                      <a:srgbClr val="F4F0E8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19" b="1">
                          <a:solidFill>
                            <a:srgbClr val="141414"/>
                          </a:solidFill>
                          <a:latin typeface="Arial"/>
                        </a:rPr>
                        <a:t>metrics.json</a:t>
                      </a:r>
                    </a:p>
                  </a:txBody>
                  <a:tcPr marL="82296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19" b="0">
                          <a:solidFill>
                            <a:srgbClr val="2A2722"/>
                          </a:solidFill>
                          <a:latin typeface="Arial"/>
                        </a:rPr>
                        <a:t>8 KB</a:t>
                      </a:r>
                    </a:p>
                  </a:txBody>
                  <a:tcPr marL="82296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19" b="0">
                          <a:solidFill>
                            <a:srgbClr val="2A2722"/>
                          </a:solidFill>
                          <a:latin typeface="Arial"/>
                        </a:rPr>
                        <a:t>66.4% accuracy, 0.87, full test results</a:t>
                      </a:r>
                    </a:p>
                  </a:txBody>
                  <a:tcPr marL="82296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19" b="0">
                          <a:solidFill>
                            <a:srgbClr val="2A2722"/>
                          </a:solidFill>
                          <a:latin typeface="Arial"/>
                        </a:rPr>
                        <a:t>v3.0</a:t>
                      </a:r>
                    </a:p>
                  </a:txBody>
                  <a:tcPr marL="82296" marR="54864" marT="18288" marB="18288"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19" b="1">
                          <a:solidFill>
                            <a:srgbClr val="141414"/>
                          </a:solidFill>
                          <a:latin typeface="Arial"/>
                        </a:rPr>
                        <a:t>unsupervised.json</a:t>
                      </a:r>
                    </a:p>
                  </a:txBody>
                  <a:tcPr marL="82296" marR="54864" marT="18288" marB="18288" anchor="ctr">
                    <a:solidFill>
                      <a:srgbClr val="F4F0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19" b="0">
                          <a:solidFill>
                            <a:srgbClr val="2A2722"/>
                          </a:solidFill>
                          <a:latin typeface="Arial"/>
                        </a:rPr>
                        <a:t>194 KB</a:t>
                      </a:r>
                    </a:p>
                  </a:txBody>
                  <a:tcPr marL="82296" marR="54864" marT="18288" marB="18288" anchor="ctr">
                    <a:solidFill>
                      <a:srgbClr val="F4F0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19" b="0">
                          <a:solidFill>
                            <a:srgbClr val="2A2722"/>
                          </a:solidFill>
                          <a:latin typeface="Arial"/>
                        </a:rPr>
                        <a:t>the hidden-group and oddball studies</a:t>
                      </a:r>
                    </a:p>
                  </a:txBody>
                  <a:tcPr marL="82296" marR="54864" marT="18288" marB="18288" anchor="ctr">
                    <a:solidFill>
                      <a:srgbClr val="F4F0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19" b="0">
                          <a:solidFill>
                            <a:srgbClr val="2A2722"/>
                          </a:solidFill>
                          <a:latin typeface="Arial"/>
                        </a:rPr>
                        <a:t>v3.0</a:t>
                      </a:r>
                    </a:p>
                  </a:txBody>
                  <a:tcPr marL="82296" marR="54864" marT="18288" marB="18288" anchor="ctr">
                    <a:solidFill>
                      <a:srgbClr val="F4F0E8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566928" y="4434840"/>
            <a:ext cx="6172200" cy="184708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3DD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48640" y="4562855"/>
            <a:ext cx="50292" cy="1591056"/>
          </a:xfrm>
          <a:prstGeom prst="roundRect">
            <a:avLst>
              <a:gd name="adj" fmla="val 50000"/>
            </a:avLst>
          </a:prstGeom>
          <a:solidFill>
            <a:srgbClr val="6B21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6384" y="4581144"/>
            <a:ext cx="5788152" cy="15727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Aft>
                <a:spcPts val="700"/>
              </a:spcAft>
            </a:pPr>
            <a:r>
              <a:rPr sz="1050" b="1" i="0" spc="90">
                <a:solidFill>
                  <a:srgbClr val="141414"/>
                </a:solidFill>
                <a:latin typeface="Arial"/>
              </a:rPr>
              <a:t>WHY SAVE THE PIECES SEPARATELY?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969" b="0" i="0">
                <a:solidFill>
                  <a:srgbClr val="2A2722"/>
                </a:solidFill>
                <a:latin typeface="Arial"/>
              </a:rPr>
              <a:t>The cleaning rules and the trained model travel as a pair — the website loads both at start-up, so every new customer is prepared exactly the way training prepared its own: same fills, same scale, same order.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969" b="0" i="0">
                <a:solidFill>
                  <a:srgbClr val="2A2722"/>
                </a:solidFill>
                <a:latin typeface="Arial"/>
              </a:rPr>
              <a:t>Rebuild the whole thing from scratch and the files come out identical — a fixed random seed leaves nothing to chance.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967728" y="1783080"/>
            <a:ext cx="4663440" cy="21488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3DD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949440" y="1911095"/>
            <a:ext cx="50292" cy="1892808"/>
          </a:xfrm>
          <a:prstGeom prst="roundRect">
            <a:avLst>
              <a:gd name="adj" fmla="val 50000"/>
            </a:avLst>
          </a:prstGeom>
          <a:solidFill>
            <a:srgbClr val="0E8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87184" y="1929384"/>
            <a:ext cx="4279392" cy="1874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Aft>
                <a:spcPts val="600"/>
              </a:spcAft>
            </a:pPr>
            <a:r>
              <a:rPr sz="1050" b="1" i="0" spc="90">
                <a:solidFill>
                  <a:srgbClr val="141414"/>
                </a:solidFill>
                <a:latin typeface="Arial"/>
              </a:rPr>
              <a:t>DEPLOYMENT READY</a:t>
            </a:r>
          </a:p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969" b="0" i="0">
                <a:solidFill>
                  <a:srgbClr val="2A2722"/>
                </a:solidFill>
                <a:latin typeface="Arial"/>
              </a:rPr>
              <a:t>6 files, 7.6 MB total — loads in seconds.</a:t>
            </a:r>
          </a:p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969" b="0" i="0">
                <a:solidFill>
                  <a:srgbClr val="2A2722"/>
                </a:solidFill>
                <a:latin typeface="Arial"/>
              </a:rPr>
              <a:t>Everything is labelled v3.0-kaggle, so we always know which data and which model produced which result.</a:t>
            </a:r>
          </a:p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969" b="0" i="0">
                <a:solidFill>
                  <a:srgbClr val="2A2722"/>
                </a:solidFill>
                <a:latin typeface="Arial"/>
              </a:rPr>
              <a:t>If the saved files are ever missing, the site quietly retrains itself from the CSV.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967728" y="4160520"/>
            <a:ext cx="4663440" cy="2121408"/>
          </a:xfrm>
          <a:prstGeom prst="roundRect">
            <a:avLst>
              <a:gd name="adj" fmla="val 5500"/>
            </a:avLst>
          </a:prstGeom>
          <a:solidFill>
            <a:srgbClr val="1212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912864" y="4297680"/>
            <a:ext cx="50292" cy="1828800"/>
          </a:xfrm>
          <a:prstGeom prst="roundRect">
            <a:avLst>
              <a:gd name="adj" fmla="val 50000"/>
            </a:avLst>
          </a:prstGeom>
          <a:solidFill>
            <a:srgbClr val="D64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223760" y="4334256"/>
            <a:ext cx="425196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Aft>
                <a:spcPts val="600"/>
              </a:spcAft>
            </a:pPr>
            <a:r>
              <a:rPr sz="1050" b="1" i="0" spc="90">
                <a:solidFill>
                  <a:srgbClr val="FFFFFF"/>
                </a:solidFill>
                <a:latin typeface="Arial"/>
              </a:rPr>
              <a:t>SAME RULES FOR TRAINING AND REAL USE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69" b="0" i="0">
                <a:solidFill>
                  <a:srgbClr val="E8E4DC"/>
                </a:solidFill>
                <a:latin typeface="Arial"/>
              </a:rPr>
              <a:t>The exact cleaning file used in training is reused at serving time — same typical values, same scale, same yes-no columns, same order, ID ignored. If the two ever disagreed on preparation, predictions would quietly go wrong; pairing the files is our standing guard against that.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6492240"/>
            <a:ext cx="6858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750" b="0" i="0" spc="100">
                <a:solidFill>
                  <a:srgbClr val="9A9385"/>
                </a:solidFill>
                <a:latin typeface="Arial"/>
              </a:rPr>
              <a:t>RETAIL OPS  •  KAGGLE 50K REAL  •  LENS v3.0  •  13/18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18520" y="6272784"/>
            <a:ext cx="8229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6000"/>
              </a:lnSpc>
              <a:spcAft>
                <a:spcPts val="400"/>
              </a:spcAft>
            </a:pPr>
            <a:r>
              <a:rPr sz="2400" b="1" i="0">
                <a:solidFill>
                  <a:srgbClr val="C7C0B1"/>
                </a:solidFill>
                <a:latin typeface="Arial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050" b="1" i="0" spc="140">
                <a:solidFill>
                  <a:srgbClr val="8A8478"/>
                </a:solidFill>
                <a:latin typeface="Arial"/>
              </a:rPr>
              <a:t>STEP 11  •  DEPLOYMENT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49808"/>
            <a:ext cx="1106424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4000" b="1" i="0">
                <a:solidFill>
                  <a:srgbClr val="141414"/>
                </a:solidFill>
                <a:latin typeface="Arial"/>
              </a:rPr>
              <a:t>Flask REST, live at :5000  •  Lens v3.0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554480"/>
            <a:ext cx="11055096" cy="17780"/>
          </a:xfrm>
          <a:prstGeom prst="rect">
            <a:avLst/>
          </a:prstGeom>
          <a:solidFill>
            <a:srgbClr val="DDD6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66928" y="1810512"/>
            <a:ext cx="566928" cy="384048"/>
          </a:xfrm>
          <a:prstGeom prst="roundRect">
            <a:avLst>
              <a:gd name="adj" fmla="val 50000"/>
            </a:avLst>
          </a:prstGeom>
          <a:solidFill>
            <a:srgbClr val="1212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5720" rIns="4572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GET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17320" y="1860804"/>
            <a:ext cx="2148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050" b="1" i="0">
                <a:solidFill>
                  <a:srgbClr val="141414"/>
                </a:solidFill>
                <a:latin typeface="Arial"/>
              </a:rPr>
              <a:t>/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11880" y="1874519"/>
            <a:ext cx="30632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930" b="0" i="0">
                <a:solidFill>
                  <a:srgbClr val="8A8478"/>
                </a:solidFill>
                <a:latin typeface="Arial"/>
              </a:rPr>
              <a:t>the workspace itself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2386584"/>
            <a:ext cx="566928" cy="384048"/>
          </a:xfrm>
          <a:prstGeom prst="roundRect">
            <a:avLst>
              <a:gd name="adj" fmla="val 50000"/>
            </a:avLst>
          </a:prstGeom>
          <a:solidFill>
            <a:srgbClr val="1212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5720" rIns="4572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GET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20" y="2436876"/>
            <a:ext cx="2148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050" b="1" i="0">
                <a:solidFill>
                  <a:srgbClr val="141414"/>
                </a:solidFill>
                <a:latin typeface="Arial"/>
              </a:rPr>
              <a:t>/api/customers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11880" y="2450591"/>
            <a:ext cx="30632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930" b="0" i="0">
                <a:solidFill>
                  <a:srgbClr val="8A8478"/>
                </a:solidFill>
                <a:latin typeface="Arial"/>
              </a:rPr>
              <a:t>120 real customers as a table, filterable by group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62656"/>
            <a:ext cx="685800" cy="384048"/>
          </a:xfrm>
          <a:prstGeom prst="roundRect">
            <a:avLst>
              <a:gd name="adj" fmla="val 50000"/>
            </a:avLst>
          </a:prstGeom>
          <a:solidFill>
            <a:srgbClr val="6B21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5720" rIns="4572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POST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36192" y="3012948"/>
            <a:ext cx="2148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050" b="1" i="0">
                <a:solidFill>
                  <a:srgbClr val="141414"/>
                </a:solidFill>
                <a:latin typeface="Arial"/>
              </a:rPr>
              <a:t>/api/predict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11880" y="3026664"/>
            <a:ext cx="30632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930" b="0" i="0">
                <a:solidFill>
                  <a:srgbClr val="8A8478"/>
                </a:solidFill>
                <a:latin typeface="Arial"/>
              </a:rPr>
              <a:t>send 12 details → four chances, an action, a receipt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8728"/>
            <a:ext cx="566928" cy="384048"/>
          </a:xfrm>
          <a:prstGeom prst="roundRect">
            <a:avLst>
              <a:gd name="adj" fmla="val 50000"/>
            </a:avLst>
          </a:prstGeom>
          <a:solidFill>
            <a:srgbClr val="1212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5720" rIns="4572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GET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17320" y="3589020"/>
            <a:ext cx="2148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050" b="1" i="0">
                <a:solidFill>
                  <a:srgbClr val="141414"/>
                </a:solidFill>
                <a:latin typeface="Arial"/>
              </a:rPr>
              <a:t>/api/metrics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11880" y="3602736"/>
            <a:ext cx="30632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930" b="0" i="0">
                <a:solidFill>
                  <a:srgbClr val="8A8478"/>
                </a:solidFill>
                <a:latin typeface="Arial"/>
              </a:rPr>
              <a:t>66.4% accuracy, 0.87 score, the full report card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4114800"/>
            <a:ext cx="566928" cy="384048"/>
          </a:xfrm>
          <a:prstGeom prst="roundRect">
            <a:avLst>
              <a:gd name="adj" fmla="val 50000"/>
            </a:avLst>
          </a:prstGeom>
          <a:solidFill>
            <a:srgbClr val="1212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5720" rIns="4572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GET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17320" y="4165091"/>
            <a:ext cx="2148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050" b="1" i="0">
                <a:solidFill>
                  <a:srgbClr val="141414"/>
                </a:solidFill>
                <a:latin typeface="Arial"/>
              </a:rPr>
              <a:t>/api/monitoring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11880" y="4178808"/>
            <a:ext cx="30632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930" b="0" i="0">
                <a:solidFill>
                  <a:srgbClr val="8A8478"/>
                </a:solidFill>
                <a:latin typeface="Arial"/>
              </a:rPr>
              <a:t>is live data drifting? answer speed, last 500 calls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4690872"/>
            <a:ext cx="566928" cy="384048"/>
          </a:xfrm>
          <a:prstGeom prst="roundRect">
            <a:avLst>
              <a:gd name="adj" fmla="val 50000"/>
            </a:avLst>
          </a:prstGeom>
          <a:solidFill>
            <a:srgbClr val="1212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5720" rIns="4572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GET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17320" y="4741164"/>
            <a:ext cx="2148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050" b="1" i="0">
                <a:solidFill>
                  <a:srgbClr val="141414"/>
                </a:solidFill>
                <a:latin typeface="Arial"/>
              </a:rPr>
              <a:t>/api/unsupervised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11880" y="4754880"/>
            <a:ext cx="30632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930" b="0" i="0">
                <a:solidFill>
                  <a:srgbClr val="8A8478"/>
                </a:solidFill>
                <a:latin typeface="Arial"/>
              </a:rPr>
              <a:t>the hidden-group maps (KMeans, PCA, t-SNE, DBSCAN)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266944"/>
            <a:ext cx="566928" cy="384048"/>
          </a:xfrm>
          <a:prstGeom prst="roundRect">
            <a:avLst>
              <a:gd name="adj" fmla="val 50000"/>
            </a:avLst>
          </a:prstGeom>
          <a:solidFill>
            <a:srgbClr val="1212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5720" rIns="4572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GET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17320" y="5317236"/>
            <a:ext cx="2148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050" b="1" i="0">
                <a:solidFill>
                  <a:srgbClr val="141414"/>
                </a:solidFill>
                <a:latin typeface="Arial"/>
              </a:rPr>
              <a:t>/debug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11880" y="5330952"/>
            <a:ext cx="30632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930" b="0" i="0">
                <a:solidFill>
                  <a:srgbClr val="8A8478"/>
                </a:solidFill>
                <a:latin typeface="Arial"/>
              </a:rPr>
              <a:t>a page that proves every button works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66928" y="5989320"/>
            <a:ext cx="6035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930" b="0" i="0">
                <a:solidFill>
                  <a:srgbClr val="6E685C"/>
                </a:solidFill>
                <a:latin typeface="Arial"/>
              </a:rPr>
              <a:t>Run it: python app.py  →  open http://127.0.0.1:5000 — the whole team can open it at once.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903720" y="1783080"/>
            <a:ext cx="4727448" cy="20116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3DD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885432" y="1911095"/>
            <a:ext cx="50292" cy="1755648"/>
          </a:xfrm>
          <a:prstGeom prst="roundRect">
            <a:avLst>
              <a:gd name="adj" fmla="val 50000"/>
            </a:avLst>
          </a:prstGeom>
          <a:solidFill>
            <a:srgbClr val="0E8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123176" y="1929384"/>
            <a:ext cx="434340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Aft>
                <a:spcPts val="500"/>
              </a:spcAft>
            </a:pPr>
            <a:r>
              <a:rPr sz="1050" b="1" i="0" spc="90">
                <a:solidFill>
                  <a:srgbClr val="141414"/>
                </a:solidFill>
                <a:latin typeface="Arial"/>
              </a:rPr>
              <a:t>FRONTEND — HOW IT FEELS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950" b="0" i="0">
                <a:solidFill>
                  <a:srgbClr val="2A2722"/>
                </a:solidFill>
                <a:latin typeface="Arial"/>
              </a:rPr>
              <a:t>Feels like a real internal tool, not a demo: a sidebar, a filterable customer table, click a row to predict.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950" b="0" i="0">
                <a:solidFill>
                  <a:srgbClr val="2A2722"/>
                </a:solidFill>
                <a:latin typeface="Arial"/>
              </a:rPr>
              <a:t>Answers update live as you type — % bars for all four groups and a one-line reason.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950" b="0" i="0">
                <a:solidFill>
                  <a:srgbClr val="2A2722"/>
                </a:solidFill>
                <a:latin typeface="Arial"/>
              </a:rPr>
              <a:t>Soft shadows, smooth motion — considered, not stiff.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903720" y="3977639"/>
            <a:ext cx="4727448" cy="2304288"/>
          </a:xfrm>
          <a:prstGeom prst="roundRect">
            <a:avLst>
              <a:gd name="adj" fmla="val 5500"/>
            </a:avLst>
          </a:prstGeom>
          <a:solidFill>
            <a:srgbClr val="1212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6848856" y="4114800"/>
            <a:ext cx="50292" cy="2011680"/>
          </a:xfrm>
          <a:prstGeom prst="roundRect">
            <a:avLst>
              <a:gd name="adj" fmla="val 50000"/>
            </a:avLst>
          </a:prstGeom>
          <a:solidFill>
            <a:srgbClr val="6B21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178040" y="4151376"/>
            <a:ext cx="429768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Aft>
                <a:spcPts val="600"/>
              </a:spcAft>
            </a:pPr>
            <a:r>
              <a:rPr sz="1050" b="1" i="0" spc="90">
                <a:solidFill>
                  <a:srgbClr val="FFFFFF"/>
                </a:solidFill>
                <a:latin typeface="Arial"/>
              </a:rPr>
              <a:t>MONITORING &amp; DRIFT</a:t>
            </a:r>
          </a:p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969" b="0" i="0">
                <a:solidFill>
                  <a:srgbClr val="E8E4DC"/>
                </a:solidFill>
                <a:latin typeface="Arial"/>
              </a:rPr>
              <a:t>•  Every prediction is logged (last 500 kept)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969" b="0" i="0">
                <a:solidFill>
                  <a:srgbClr val="E8E4DC"/>
                </a:solidFill>
                <a:latin typeface="Arial"/>
              </a:rPr>
              <a:t>•  If new customers stop resembling the training crowd → drift flag → time to retrain</a:t>
            </a:r>
          </a:p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969" b="0" i="0">
                <a:solidFill>
                  <a:srgbClr val="E8E4DC"/>
                </a:solidFill>
                <a:latin typeface="Arial"/>
              </a:rPr>
              <a:t>•  Answer speed is timed on every request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69" b="0" i="0">
                <a:solidFill>
                  <a:srgbClr val="E8E4DC"/>
                </a:solidFill>
                <a:latin typeface="Arial"/>
              </a:rPr>
              <a:t>•  Each answer carries its full path — any prediction can be audited later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66928" y="6492240"/>
            <a:ext cx="6858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750" b="0" i="0" spc="100">
                <a:solidFill>
                  <a:srgbClr val="9A9385"/>
                </a:solidFill>
                <a:latin typeface="Arial"/>
              </a:rPr>
              <a:t>RETAIL OPS  •  KAGGLE 50K REAL  •  LENS v3.0  •  14/18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018520" y="6272784"/>
            <a:ext cx="8229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6000"/>
              </a:lnSpc>
              <a:spcAft>
                <a:spcPts val="400"/>
              </a:spcAft>
            </a:pPr>
            <a:r>
              <a:rPr sz="2400" b="1" i="0">
                <a:solidFill>
                  <a:srgbClr val="C7C0B1"/>
                </a:solidFill>
                <a:latin typeface="Arial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050" b="1" i="0" spc="140">
                <a:solidFill>
                  <a:srgbClr val="8A8478"/>
                </a:solidFill>
                <a:latin typeface="Arial"/>
              </a:rPr>
              <a:t>DEEP DIVE  •  WHAT THE MODEL LEARNED (REAL 50K)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49808"/>
            <a:ext cx="1106424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4000" b="1" i="0">
                <a:solidFill>
                  <a:srgbClr val="141414"/>
                </a:solidFill>
                <a:latin typeface="Arial"/>
              </a:rPr>
              <a:t>Real points tell a real story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554480"/>
            <a:ext cx="11055096" cy="17780"/>
          </a:xfrm>
          <a:prstGeom prst="rect">
            <a:avLst/>
          </a:prstGeom>
          <a:solidFill>
            <a:srgbClr val="DDD6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66928" y="1783080"/>
          <a:ext cx="6629400" cy="267004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325880"/>
                <a:gridCol w="2331720"/>
                <a:gridCol w="1554480"/>
                <a:gridCol w="1417320"/>
              </a:tblGrid>
              <a:tr h="329184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80" b="1">
                          <a:solidFill>
                            <a:srgbClr val="FFFFFF"/>
                          </a:solidFill>
                          <a:latin typeface="Arial"/>
                        </a:rPr>
                        <a:t>Class</a:t>
                      </a:r>
                    </a:p>
                  </a:txBody>
                  <a:tcPr marL="82296" marR="54864" marT="18288" marB="18288" anchor="ctr">
                    <a:solidFill>
                      <a:srgbClr val="12121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80" b="1">
                          <a:solidFill>
                            <a:srgbClr val="FFFFFF"/>
                          </a:solidFill>
                          <a:latin typeface="Arial"/>
                        </a:rPr>
                        <a:t>Points added by</a:t>
                      </a:r>
                    </a:p>
                  </a:txBody>
                  <a:tcPr marL="82296" marR="54864" marT="18288" marB="18288" anchor="ctr">
                    <a:solidFill>
                      <a:srgbClr val="12121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80" b="1">
                          <a:solidFill>
                            <a:srgbClr val="FFFFFF"/>
                          </a:solidFill>
                          <a:latin typeface="Arial"/>
                        </a:rPr>
                        <a:t>Points cut by</a:t>
                      </a:r>
                    </a:p>
                  </a:txBody>
                  <a:tcPr marL="82296" marR="54864" marT="18288" marB="18288" anchor="ctr">
                    <a:solidFill>
                      <a:srgbClr val="12121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80" b="1">
                          <a:solidFill>
                            <a:srgbClr val="FFFFFF"/>
                          </a:solidFill>
                          <a:latin typeface="Arial"/>
                        </a:rPr>
                        <a:t>Reads like</a:t>
                      </a:r>
                    </a:p>
                  </a:txBody>
                  <a:tcPr marL="82296" marR="54864" marT="18288" marB="18288" anchor="ctr">
                    <a:solidFill>
                      <a:srgbClr val="121212"/>
                    </a:solidFill>
                  </a:tcPr>
                </a:tc>
              </a:tr>
              <a:tr h="585216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80" b="1">
                          <a:solidFill>
                            <a:srgbClr val="141414"/>
                          </a:solidFill>
                          <a:latin typeface="Arial"/>
                        </a:rPr>
                        <a:t>Occasional 44%</a:t>
                      </a:r>
                    </a:p>
                  </a:txBody>
                  <a:tcPr marL="82296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80" b="0">
                          <a:solidFill>
                            <a:srgbClr val="2A2722"/>
                          </a:solidFill>
                          <a:latin typeface="Arial"/>
                        </a:rPr>
                        <a:t>support calls +0.42, discount use +0.38, returns +0.35</a:t>
                      </a:r>
                    </a:p>
                  </a:txBody>
                  <a:tcPr marL="82296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80" b="0">
                          <a:solidFill>
                            <a:srgbClr val="2A2722"/>
                          </a:solidFill>
                          <a:latin typeface="Arial"/>
                        </a:rPr>
                        <a:t>spend −0.82, visits −0.75</a:t>
                      </a:r>
                    </a:p>
                  </a:txBody>
                  <a:tcPr marL="82296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80" b="0">
                          <a:solidFill>
                            <a:srgbClr val="2A2722"/>
                          </a:solidFill>
                          <a:latin typeface="Arial"/>
                        </a:rPr>
                        <a:t>“rarely visits, spends little, needs lots of help”</a:t>
                      </a:r>
                    </a:p>
                  </a:txBody>
                  <a:tcPr marL="82296" marR="54864" marT="18288" marB="18288" anchor="ctr">
                    <a:solidFill>
                      <a:srgbClr val="FFFFFF"/>
                    </a:solidFill>
                  </a:tcPr>
                </a:tc>
              </a:tr>
              <a:tr h="585216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80" b="1">
                          <a:solidFill>
                            <a:srgbClr val="141414"/>
                          </a:solidFill>
                          <a:latin typeface="Arial"/>
                        </a:rPr>
                        <a:t>Regular 27%</a:t>
                      </a:r>
                    </a:p>
                  </a:txBody>
                  <a:tcPr marL="82296" marR="54864" marT="18288" marB="18288" anchor="ctr">
                    <a:solidFill>
                      <a:srgbClr val="F4F0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80" b="0">
                          <a:solidFill>
                            <a:srgbClr val="2A2722"/>
                          </a:solidFill>
                          <a:latin typeface="Arial"/>
                        </a:rPr>
                        <a:t>only small hints (nothing above +0.18)</a:t>
                      </a:r>
                    </a:p>
                  </a:txBody>
                  <a:tcPr marL="82296" marR="54864" marT="18288" marB="18288" anchor="ctr">
                    <a:solidFill>
                      <a:srgbClr val="F4F0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80" b="0">
                          <a:solidFill>
                            <a:srgbClr val="2A2722"/>
                          </a:solidFill>
                          <a:latin typeface="Arial"/>
                        </a:rPr>
                        <a:t>only small hints</a:t>
                      </a:r>
                    </a:p>
                  </a:txBody>
                  <a:tcPr marL="82296" marR="54864" marT="18288" marB="18288" anchor="ctr">
                    <a:solidFill>
                      <a:srgbClr val="F4F0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80" b="0">
                          <a:solidFill>
                            <a:srgbClr val="2A2722"/>
                          </a:solidFill>
                          <a:latin typeface="Arial"/>
                        </a:rPr>
                        <a:t>“in between — honestly hard to label”</a:t>
                      </a:r>
                    </a:p>
                  </a:txBody>
                  <a:tcPr marL="82296" marR="54864" marT="18288" marB="18288" anchor="ctr">
                    <a:solidFill>
                      <a:srgbClr val="F4F0E8"/>
                    </a:solidFill>
                  </a:tcPr>
                </a:tc>
              </a:tr>
              <a:tr h="585216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80" b="1">
                          <a:solidFill>
                            <a:srgbClr val="141414"/>
                          </a:solidFill>
                          <a:latin typeface="Arial"/>
                        </a:rPr>
                        <a:t>Loyal 18%</a:t>
                      </a:r>
                    </a:p>
                  </a:txBody>
                  <a:tcPr marL="82296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80" b="0">
                          <a:solidFill>
                            <a:srgbClr val="2A2722"/>
                          </a:solidFill>
                          <a:latin typeface="Arial"/>
                        </a:rPr>
                        <a:t>membership +0.72, visits +0.68, browsing +0.55</a:t>
                      </a:r>
                    </a:p>
                  </a:txBody>
                  <a:tcPr marL="82296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80" b="0">
                          <a:solidFill>
                            <a:srgbClr val="2A2722"/>
                          </a:solidFill>
                          <a:latin typeface="Arial"/>
                        </a:rPr>
                        <a:t>support calls −0.42</a:t>
                      </a:r>
                    </a:p>
                  </a:txBody>
                  <a:tcPr marL="82296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80" b="0">
                          <a:solidFill>
                            <a:srgbClr val="2A2722"/>
                          </a:solidFill>
                          <a:latin typeface="Arial"/>
                        </a:rPr>
                        <a:t>“been with us for years, shops weekly, happy”</a:t>
                      </a:r>
                    </a:p>
                  </a:txBody>
                  <a:tcPr marL="82296" marR="54864" marT="18288" marB="18288" anchor="ctr">
                    <a:solidFill>
                      <a:srgbClr val="FFFFFF"/>
                    </a:solidFill>
                  </a:tcPr>
                </a:tc>
              </a:tr>
              <a:tr h="585216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80" b="1">
                          <a:solidFill>
                            <a:srgbClr val="141414"/>
                          </a:solidFill>
                          <a:latin typeface="Arial"/>
                        </a:rPr>
                        <a:t>High-Value 11%</a:t>
                      </a:r>
                    </a:p>
                  </a:txBody>
                  <a:tcPr marL="82296" marR="54864" marT="18288" marB="18288" anchor="ctr">
                    <a:solidFill>
                      <a:srgbClr val="F4F0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80" b="0">
                          <a:solidFill>
                            <a:srgbClr val="2A2722"/>
                          </a:solidFill>
                          <a:latin typeface="Arial"/>
                        </a:rPr>
                        <a:t>income +0.95, basket +0.82, spend +0.78</a:t>
                      </a:r>
                    </a:p>
                  </a:txBody>
                  <a:tcPr marL="82296" marR="54864" marT="18288" marB="18288" anchor="ctr">
                    <a:solidFill>
                      <a:srgbClr val="F4F0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80" b="0">
                          <a:solidFill>
                            <a:srgbClr val="2A2722"/>
                          </a:solidFill>
                          <a:latin typeface="Arial"/>
                        </a:rPr>
                        <a:t>discount use −0.65, returns −0.58</a:t>
                      </a:r>
                    </a:p>
                  </a:txBody>
                  <a:tcPr marL="82296" marR="54864" marT="18288" marB="18288" anchor="ctr">
                    <a:solidFill>
                      <a:srgbClr val="F4F0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80" b="0">
                          <a:solidFill>
                            <a:srgbClr val="2A2722"/>
                          </a:solidFill>
                          <a:latin typeface="Arial"/>
                        </a:rPr>
                        <a:t>“wealthy, buys big, doesn't wait for sales”</a:t>
                      </a:r>
                    </a:p>
                  </a:txBody>
                  <a:tcPr marL="82296" marR="54864" marT="18288" marB="18288" anchor="ctr">
                    <a:solidFill>
                      <a:srgbClr val="F4F0E8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566928" y="4590288"/>
            <a:ext cx="6126480" cy="16916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3DD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48640" y="4718303"/>
            <a:ext cx="50292" cy="1435608"/>
          </a:xfrm>
          <a:prstGeom prst="roundRect">
            <a:avLst>
              <a:gd name="adj" fmla="val 50000"/>
            </a:avLst>
          </a:prstGeom>
          <a:solidFill>
            <a:srgbClr val="6B21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6384" y="4736592"/>
            <a:ext cx="5742432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Aft>
                <a:spcPts val="500"/>
              </a:spcAft>
            </a:pPr>
            <a:r>
              <a:rPr sz="1050" b="1" i="0" spc="90">
                <a:solidFill>
                  <a:srgbClr val="141414"/>
                </a:solidFill>
                <a:latin typeface="Arial"/>
              </a:rPr>
              <a:t>WHY LOGISTIC REGRESSION?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950" b="0" i="0">
                <a:solidFill>
                  <a:srgbClr val="2A2722"/>
                </a:solidFill>
                <a:latin typeface="Arial"/>
              </a:rPr>
              <a:t>Because it can be opened and read. Ask why someone is VIP and it answers “income +0.95” — no black box. The forest scores higher (75%) but cannot explain itself; we keep it for comparison and let the business choose.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950" b="0" i="0">
                <a:solidFill>
                  <a:srgbClr val="2A2722"/>
                </a:solidFill>
                <a:latin typeface="Arial"/>
              </a:rPr>
              <a:t>Critically, it knows what it doesn't know: 70% confidence really is right ~70% of the time, so a rule like “VIP treatment only above 70%” holds. Answers take ~42 ms.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33488" y="1847088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050" b="1" i="0" spc="90">
                <a:solidFill>
                  <a:srgbClr val="141414"/>
                </a:solidFill>
                <a:latin typeface="Arial"/>
              </a:rPr>
              <a:t>HEAVIEST CLUES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33488" y="2258568"/>
            <a:ext cx="11887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819" b="0" i="0">
                <a:solidFill>
                  <a:srgbClr val="5F594E"/>
                </a:solidFill>
                <a:latin typeface="Arial"/>
              </a:rPr>
              <a:t>monthly_spend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613648" y="2286000"/>
            <a:ext cx="777240" cy="169164"/>
          </a:xfrm>
          <a:prstGeom prst="roundRect">
            <a:avLst>
              <a:gd name="adj" fmla="val 50000"/>
            </a:avLst>
          </a:prstGeom>
          <a:solidFill>
            <a:srgbClr val="ECE6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613648" y="2286000"/>
            <a:ext cx="139903" cy="169164"/>
          </a:xfrm>
          <a:prstGeom prst="roundRect">
            <a:avLst>
              <a:gd name="adj" fmla="val 50000"/>
            </a:avLst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500616" y="2231136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950" b="1" i="0">
                <a:solidFill>
                  <a:srgbClr val="141414"/>
                </a:solidFill>
                <a:latin typeface="Arial"/>
              </a:rPr>
              <a:t>0.18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33488" y="2542032"/>
            <a:ext cx="11887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819" b="0" i="0">
                <a:solidFill>
                  <a:srgbClr val="5F594E"/>
                </a:solidFill>
                <a:latin typeface="Arial"/>
              </a:rPr>
              <a:t>purchase_freq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613648" y="2569464"/>
            <a:ext cx="777240" cy="169164"/>
          </a:xfrm>
          <a:prstGeom prst="roundRect">
            <a:avLst>
              <a:gd name="adj" fmla="val 50000"/>
            </a:avLst>
          </a:prstGeom>
          <a:solidFill>
            <a:srgbClr val="ECE6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613648" y="2569464"/>
            <a:ext cx="128016" cy="169164"/>
          </a:xfrm>
          <a:prstGeom prst="roundRect">
            <a:avLst>
              <a:gd name="adj" fmla="val 50000"/>
            </a:avLst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500616" y="251460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950" b="1" i="0">
                <a:solidFill>
                  <a:srgbClr val="141414"/>
                </a:solidFill>
                <a:latin typeface="Arial"/>
              </a:rPr>
              <a:t>0.15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33488" y="2825496"/>
            <a:ext cx="11887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819" b="0" i="0">
                <a:solidFill>
                  <a:srgbClr val="5F594E"/>
                </a:solidFill>
                <a:latin typeface="Arial"/>
              </a:rPr>
              <a:t>annual_income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613648" y="2852928"/>
            <a:ext cx="777240" cy="169164"/>
          </a:xfrm>
          <a:prstGeom prst="roundRect">
            <a:avLst>
              <a:gd name="adj" fmla="val 50000"/>
            </a:avLst>
          </a:prstGeom>
          <a:solidFill>
            <a:srgbClr val="ECE6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613648" y="2852928"/>
            <a:ext cx="128016" cy="169164"/>
          </a:xfrm>
          <a:prstGeom prst="roundRect">
            <a:avLst>
              <a:gd name="adj" fmla="val 50000"/>
            </a:avLst>
          </a:prstGeom>
          <a:solidFill>
            <a:srgbClr val="6B21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500616" y="2798064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950" b="1" i="0">
                <a:solidFill>
                  <a:srgbClr val="141414"/>
                </a:solidFill>
                <a:latin typeface="Arial"/>
              </a:rPr>
              <a:t>0.14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33488" y="3108960"/>
            <a:ext cx="11887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819" b="0" i="0">
                <a:solidFill>
                  <a:srgbClr val="5F594E"/>
                </a:solidFill>
                <a:latin typeface="Arial"/>
              </a:rPr>
              <a:t>months_active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613648" y="3136391"/>
            <a:ext cx="777240" cy="169164"/>
          </a:xfrm>
          <a:prstGeom prst="roundRect">
            <a:avLst>
              <a:gd name="adj" fmla="val 50000"/>
            </a:avLst>
          </a:prstGeom>
          <a:solidFill>
            <a:srgbClr val="ECE6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8613648" y="3136391"/>
            <a:ext cx="128016" cy="169164"/>
          </a:xfrm>
          <a:prstGeom prst="roundRect">
            <a:avLst>
              <a:gd name="adj" fmla="val 50000"/>
            </a:avLst>
          </a:prstGeom>
          <a:solidFill>
            <a:srgbClr val="4A4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500616" y="3081527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950" b="1" i="0">
                <a:solidFill>
                  <a:srgbClr val="141414"/>
                </a:solidFill>
                <a:latin typeface="Arial"/>
              </a:rPr>
              <a:t>0.12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33488" y="3392424"/>
            <a:ext cx="11887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819" b="0" i="0">
                <a:solidFill>
                  <a:srgbClr val="5F594E"/>
                </a:solidFill>
                <a:latin typeface="Arial"/>
              </a:rPr>
              <a:t>avg_order_value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613648" y="3419856"/>
            <a:ext cx="777240" cy="169164"/>
          </a:xfrm>
          <a:prstGeom prst="roundRect">
            <a:avLst>
              <a:gd name="adj" fmla="val 50000"/>
            </a:avLst>
          </a:prstGeom>
          <a:solidFill>
            <a:srgbClr val="ECE6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8613648" y="3419856"/>
            <a:ext cx="128016" cy="169164"/>
          </a:xfrm>
          <a:prstGeom prst="roundRect">
            <a:avLst>
              <a:gd name="adj" fmla="val 50000"/>
            </a:avLst>
          </a:prstGeom>
          <a:solidFill>
            <a:srgbClr val="4A4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500616" y="3364992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950" b="1" i="0">
                <a:solidFill>
                  <a:srgbClr val="141414"/>
                </a:solidFill>
                <a:latin typeface="Arial"/>
              </a:rPr>
              <a:t>0.11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33488" y="3675887"/>
            <a:ext cx="11887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819" b="0" i="0">
                <a:solidFill>
                  <a:srgbClr val="5F594E"/>
                </a:solidFill>
                <a:latin typeface="Arial"/>
              </a:rPr>
              <a:t>browsing_time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613648" y="3703320"/>
            <a:ext cx="777240" cy="169164"/>
          </a:xfrm>
          <a:prstGeom prst="roundRect">
            <a:avLst>
              <a:gd name="adj" fmla="val 50000"/>
            </a:avLst>
          </a:prstGeom>
          <a:solidFill>
            <a:srgbClr val="ECE6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8613648" y="3703320"/>
            <a:ext cx="128016" cy="169164"/>
          </a:xfrm>
          <a:prstGeom prst="roundRect">
            <a:avLst>
              <a:gd name="adj" fmla="val 50000"/>
            </a:avLst>
          </a:prstGeom>
          <a:solidFill>
            <a:srgbClr val="8A7A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500616" y="3648456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950" b="1" i="0">
                <a:solidFill>
                  <a:srgbClr val="141414"/>
                </a:solidFill>
                <a:latin typeface="Arial"/>
              </a:rPr>
              <a:t>0.09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33488" y="3959351"/>
            <a:ext cx="11887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819" b="0" i="0">
                <a:solidFill>
                  <a:srgbClr val="5F594E"/>
                </a:solidFill>
                <a:latin typeface="Arial"/>
              </a:rPr>
              <a:t>discount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613648" y="3986783"/>
            <a:ext cx="777240" cy="169164"/>
          </a:xfrm>
          <a:prstGeom prst="roundRect">
            <a:avLst>
              <a:gd name="adj" fmla="val 50000"/>
            </a:avLst>
          </a:prstGeom>
          <a:solidFill>
            <a:srgbClr val="ECE6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8613648" y="3986783"/>
            <a:ext cx="128016" cy="169164"/>
          </a:xfrm>
          <a:prstGeom prst="roundRect">
            <a:avLst>
              <a:gd name="adj" fmla="val 50000"/>
            </a:avLst>
          </a:prstGeom>
          <a:solidFill>
            <a:srgbClr val="8A7A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500616" y="393192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950" b="1" i="0">
                <a:solidFill>
                  <a:srgbClr val="141414"/>
                </a:solidFill>
                <a:latin typeface="Arial"/>
              </a:rPr>
              <a:t>0.07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333488" y="4242816"/>
            <a:ext cx="11887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819" b="0" i="0">
                <a:solidFill>
                  <a:srgbClr val="5F594E"/>
                </a:solidFill>
                <a:latin typeface="Arial"/>
              </a:rPr>
              <a:t>return_rate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613648" y="4270248"/>
            <a:ext cx="777240" cy="169164"/>
          </a:xfrm>
          <a:prstGeom prst="roundRect">
            <a:avLst>
              <a:gd name="adj" fmla="val 50000"/>
            </a:avLst>
          </a:prstGeom>
          <a:solidFill>
            <a:srgbClr val="ECE6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8613648" y="4270248"/>
            <a:ext cx="128016" cy="169164"/>
          </a:xfrm>
          <a:prstGeom prst="roundRect">
            <a:avLst>
              <a:gd name="adj" fmla="val 50000"/>
            </a:avLst>
          </a:prstGeom>
          <a:solidFill>
            <a:srgbClr val="8A7A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500616" y="4215384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950" b="1" i="0">
                <a:solidFill>
                  <a:srgbClr val="141414"/>
                </a:solidFill>
                <a:latin typeface="Arial"/>
              </a:rPr>
              <a:t>0.06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829800" y="1847088"/>
            <a:ext cx="1801368" cy="4434840"/>
          </a:xfrm>
          <a:prstGeom prst="roundRect">
            <a:avLst>
              <a:gd name="adj" fmla="val 5500"/>
            </a:avLst>
          </a:prstGeom>
          <a:solidFill>
            <a:srgbClr val="1212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9774936" y="1984248"/>
            <a:ext cx="50292" cy="1645920"/>
          </a:xfrm>
          <a:prstGeom prst="roundRect">
            <a:avLst>
              <a:gd name="adj" fmla="val 50000"/>
            </a:avLst>
          </a:prstGeom>
          <a:solidFill>
            <a:srgbClr val="0E8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040112" y="2011680"/>
            <a:ext cx="1481328" cy="411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Aft>
                <a:spcPts val="500"/>
              </a:spcAft>
            </a:pPr>
            <a:r>
              <a:rPr sz="950" b="1" i="0" spc="70">
                <a:solidFill>
                  <a:srgbClr val="FFFFFF"/>
                </a:solidFill>
                <a:latin typeface="Arial"/>
              </a:rPr>
              <a:t>WHAT THE BUSINESS DOES</a:t>
            </a:r>
          </a:p>
          <a:p>
            <a:pPr algn="l">
              <a:lnSpc>
                <a:spcPct val="110000"/>
              </a:lnSpc>
              <a:spcAft>
                <a:spcPts val="500"/>
              </a:spcAft>
            </a:pPr>
            <a:r>
              <a:rPr sz="880" b="0" i="0">
                <a:solidFill>
                  <a:srgbClr val="E8E4DC"/>
                </a:solidFill>
                <a:latin typeface="Arial"/>
              </a:rPr>
              <a:t>Occasional → win-back offer, watch returns</a:t>
            </a:r>
          </a:p>
          <a:p>
            <a:pPr algn="l">
              <a:lnSpc>
                <a:spcPct val="110000"/>
              </a:lnSpc>
              <a:spcAft>
                <a:spcPts val="500"/>
              </a:spcAft>
            </a:pPr>
            <a:r>
              <a:rPr sz="880" b="0" i="0">
                <a:solidFill>
                  <a:srgbClr val="E8E4DC"/>
                </a:solidFill>
                <a:latin typeface="Arial"/>
              </a:rPr>
              <a:t>Regular → small rewards, push to Loyal</a:t>
            </a:r>
          </a:p>
          <a:p>
            <a:pPr algn="l">
              <a:lnSpc>
                <a:spcPct val="110000"/>
              </a:lnSpc>
              <a:spcAft>
                <a:spcPts val="500"/>
              </a:spcAft>
            </a:pPr>
            <a:r>
              <a:rPr sz="880" b="0" i="0">
                <a:solidFill>
                  <a:srgbClr val="E8E4DC"/>
                </a:solidFill>
                <a:latin typeface="Arial"/>
              </a:rPr>
              <a:t>Loyal → early access; 0.8 support calls = happy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880" b="0" i="0">
                <a:solidFill>
                  <a:srgbClr val="E8E4DC"/>
                </a:solidFill>
                <a:latin typeface="Arial"/>
              </a:rPr>
              <a:t>High-Value → VIP care, no discounts needed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840" b="0" i="0">
                <a:solidFill>
                  <a:srgbClr val="B9B2A4"/>
                </a:solidFill>
                <a:latin typeface="Arial"/>
              </a:rPr>
              <a:t>Learning curve flat after 30k — more data wouldn't help.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66928" y="6492240"/>
            <a:ext cx="6858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750" b="0" i="0" spc="100">
                <a:solidFill>
                  <a:srgbClr val="9A9385"/>
                </a:solidFill>
                <a:latin typeface="Arial"/>
              </a:rPr>
              <a:t>RETAIL OPS  •  KAGGLE 50K REAL  •  LENS v3.0  •  15/18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1018520" y="6272784"/>
            <a:ext cx="8229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6000"/>
              </a:lnSpc>
              <a:spcAft>
                <a:spcPts val="400"/>
              </a:spcAft>
            </a:pPr>
            <a:r>
              <a:rPr sz="2400" b="1" i="0">
                <a:solidFill>
                  <a:srgbClr val="C7C0B1"/>
                </a:solidFill>
                <a:latin typeface="Arial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050" b="1" i="0" spc="140">
                <a:solidFill>
                  <a:srgbClr val="8A8478"/>
                </a:solidFill>
                <a:latin typeface="Arial"/>
              </a:rPr>
              <a:t>LIVE DEMO  •  LENS v3.0  •  KAGGLE 50K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49808"/>
            <a:ext cx="1106424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4000" b="1" i="0">
                <a:solidFill>
                  <a:srgbClr val="141414"/>
                </a:solidFill>
                <a:latin typeface="Arial"/>
              </a:rPr>
              <a:t>Try it live in 60 seconds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554480"/>
            <a:ext cx="11055096" cy="17780"/>
          </a:xfrm>
          <a:prstGeom prst="rect">
            <a:avLst/>
          </a:prstGeom>
          <a:solidFill>
            <a:srgbClr val="DDD6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66928" y="1783080"/>
            <a:ext cx="5074920" cy="138988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3DD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1911095"/>
            <a:ext cx="50292" cy="1133856"/>
          </a:xfrm>
          <a:prstGeom prst="roundRect">
            <a:avLst>
              <a:gd name="adj" fmla="val 50000"/>
            </a:avLst>
          </a:prstGeom>
          <a:solidFill>
            <a:srgbClr val="6B21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1938528"/>
            <a:ext cx="461772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Aft>
                <a:spcPts val="500"/>
              </a:spcAft>
            </a:pPr>
            <a:r>
              <a:rPr sz="1050" b="1" i="0" spc="80">
                <a:solidFill>
                  <a:srgbClr val="141414"/>
                </a:solidFill>
                <a:latin typeface="Arial"/>
              </a:rPr>
              <a:t>1  •  BROWSE</a:t>
            </a:r>
          </a:p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00" b="0" i="0">
                <a:solidFill>
                  <a:srgbClr val="2A2722"/>
                </a:solidFill>
                <a:latin typeface="Arial"/>
              </a:rPr>
              <a:t>Open the site and land on Customers: 120 real shoppers, filters for the four groups. Click any row that catches your eye.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3319272"/>
            <a:ext cx="5074920" cy="138988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3DD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48640" y="3447288"/>
            <a:ext cx="50292" cy="1133856"/>
          </a:xfrm>
          <a:prstGeom prst="roundRect">
            <a:avLst>
              <a:gd name="adj" fmla="val 50000"/>
            </a:avLst>
          </a:prstGeom>
          <a:solidFill>
            <a:srgbClr val="0E8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8" y="3474720"/>
            <a:ext cx="461772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Aft>
                <a:spcPts val="500"/>
              </a:spcAft>
            </a:pPr>
            <a:r>
              <a:rPr sz="1050" b="1" i="0" spc="80">
                <a:solidFill>
                  <a:srgbClr val="141414"/>
                </a:solidFill>
                <a:latin typeface="Arial"/>
              </a:rPr>
              <a:t>2  •  PREDICT</a:t>
            </a:r>
          </a:p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00" b="0" i="0">
                <a:solidFill>
                  <a:srgbClr val="2A2722"/>
                </a:solidFill>
                <a:latin typeface="Arial"/>
              </a:rPr>
              <a:t>Their details fill the form. Nudge spending or discount use and watch the answer move — % bars, a confidence number, a one-line reason, a receipt ID.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4855464"/>
            <a:ext cx="5074920" cy="138988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3DD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48640" y="4983479"/>
            <a:ext cx="50292" cy="1133856"/>
          </a:xfrm>
          <a:prstGeom prst="roundRect">
            <a:avLst>
              <a:gd name="adj" fmla="val 50000"/>
            </a:avLst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8" y="5010912"/>
            <a:ext cx="461772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Aft>
                <a:spcPts val="500"/>
              </a:spcAft>
            </a:pPr>
            <a:r>
              <a:rPr sz="1050" b="1" i="0" spc="80">
                <a:solidFill>
                  <a:srgbClr val="141414"/>
                </a:solidFill>
                <a:latin typeface="Arial"/>
              </a:rPr>
              <a:t>3  •  EXPLORE</a:t>
            </a:r>
          </a:p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00" b="0" i="0">
                <a:solidFill>
                  <a:srgbClr val="2A2722"/>
                </a:solidFill>
                <a:latin typeface="Arial"/>
              </a:rPr>
              <a:t>Insights draws the big picture: group sizes, the clues the model weighs most, 3,000 customers painted in four colours, the full report card.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89320" y="1783080"/>
            <a:ext cx="5641848" cy="4498848"/>
          </a:xfrm>
          <a:prstGeom prst="roundRect">
            <a:avLst>
              <a:gd name="adj" fmla="val 5500"/>
            </a:avLst>
          </a:prstGeom>
          <a:solidFill>
            <a:srgbClr val="1212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934456" y="1920240"/>
            <a:ext cx="50292" cy="4206240"/>
          </a:xfrm>
          <a:prstGeom prst="roundRect">
            <a:avLst>
              <a:gd name="adj" fmla="val 50000"/>
            </a:avLst>
          </a:prstGeom>
          <a:solidFill>
            <a:srgbClr val="6B21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63640" y="1956816"/>
            <a:ext cx="5212080" cy="4206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Aft>
                <a:spcPts val="700"/>
              </a:spcAft>
            </a:pPr>
            <a:r>
              <a:rPr sz="1050" b="1" i="0" spc="90">
                <a:solidFill>
                  <a:srgbClr val="FFFFFF"/>
                </a:solidFill>
                <a:latin typeface="Arial"/>
              </a:rPr>
              <a:t>EXAMPLE — ONE CUSTOMER</a:t>
            </a:r>
          </a:p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950" b="1" i="0">
                <a:solidFill>
                  <a:srgbClr val="B9B2A4"/>
                </a:solidFill>
                <a:latin typeface="Arial"/>
              </a:rPr>
              <a:t>What we told the model:</a:t>
            </a:r>
          </a:p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980" b="0" i="0">
                <a:solidFill>
                  <a:srgbClr val="E8E4DC"/>
                </a:solidFill>
                <a:latin typeface="Arial"/>
              </a:rPr>
              <a:t>45 years old  •  earns ₹1,20,000/yr  •  customer for 72 months</a:t>
            </a:r>
          </a:p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980" b="0" i="0">
                <a:solidFill>
                  <a:srgbClr val="E8E4DC"/>
                </a:solidFill>
                <a:latin typeface="Arial"/>
              </a:rPr>
              <a:t>spends ₹650/month  •  shops 4.5× a month  •  basket ₹280</a:t>
            </a:r>
          </a:p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980" b="0" i="0">
                <a:solidFill>
                  <a:srgbClr val="E8E4DC"/>
                </a:solidFill>
                <a:latin typeface="Arial"/>
              </a:rPr>
              <a:t>barely uses discounts (0.05)  •  almost never returns (0.02)</a:t>
            </a:r>
          </a:p>
          <a:p>
            <a:pPr algn="l">
              <a:lnSpc>
                <a:spcPct val="106000"/>
              </a:lnSpc>
              <a:spcAft>
                <a:spcPts val="800"/>
              </a:spcAft>
            </a:pPr>
            <a:r>
              <a:rPr sz="980" b="0" i="0">
                <a:solidFill>
                  <a:srgbClr val="E8E4DC"/>
                </a:solidFill>
                <a:latin typeface="Arial"/>
              </a:rPr>
              <a:t>95 min on the site  •  0 support calls  •  pays by Card  •  Urban</a:t>
            </a:r>
          </a:p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950" b="1" i="0">
                <a:solidFill>
                  <a:srgbClr val="B9B2A4"/>
                </a:solidFill>
                <a:latin typeface="Arial"/>
              </a:rPr>
              <a:t>What came back:</a:t>
            </a:r>
          </a:p>
          <a:p>
            <a:pPr algn="l">
              <a:lnSpc>
                <a:spcPct val="106000"/>
              </a:lnSpc>
              <a:spcAft>
                <a:spcPts val="600"/>
              </a:spcAft>
            </a:pPr>
            <a:r>
              <a:rPr sz="1200" b="1" i="0">
                <a:solidFill>
                  <a:srgbClr val="FFFFFF"/>
                </a:solidFill>
                <a:latin typeface="Arial"/>
              </a:rPr>
              <a:t>→  HIGH-VALUE — 78% sure  →  send the VIP invitation</a:t>
            </a:r>
          </a:p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950" b="0" i="0">
                <a:solidFill>
                  <a:srgbClr val="E8E4DC"/>
                </a:solidFill>
                <a:latin typeface="Arial"/>
              </a:rPr>
              <a:t>Answered in 42 milliseconds — with a receipt of every stage it passed through.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50" b="0" i="0">
                <a:solidFill>
                  <a:srgbClr val="B9B2A4"/>
                </a:solidFill>
                <a:latin typeface="Arial"/>
              </a:rPr>
              <a:t>For the curious: behind the page sits a small API — send the 12 numbers, receive everything above as tidy JSON. One command is enough.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6492240"/>
            <a:ext cx="6858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750" b="0" i="0" spc="100">
                <a:solidFill>
                  <a:srgbClr val="9A9385"/>
                </a:solidFill>
                <a:latin typeface="Arial"/>
              </a:rPr>
              <a:t>RETAIL OPS  •  KAGGLE 50K REAL  •  LENS v3.0  •  16/18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18520" y="6272784"/>
            <a:ext cx="8229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6000"/>
              </a:lnSpc>
              <a:spcAft>
                <a:spcPts val="400"/>
              </a:spcAft>
            </a:pPr>
            <a:r>
              <a:rPr sz="2400" b="1" i="0">
                <a:solidFill>
                  <a:srgbClr val="C7C0B1"/>
                </a:solidFill>
                <a:latin typeface="Arial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050" b="1" i="0" spc="140">
                <a:solidFill>
                  <a:srgbClr val="8A8478"/>
                </a:solidFill>
                <a:latin typeface="Arial"/>
              </a:rPr>
              <a:t>CO MAPPING  •  6 COS  •  REAL 50K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49808"/>
            <a:ext cx="1106424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4000" b="1" i="0">
                <a:solidFill>
                  <a:srgbClr val="141414"/>
                </a:solidFill>
                <a:latin typeface="Arial"/>
              </a:rPr>
              <a:t>All 6 course outcomes, covered with real data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554480"/>
            <a:ext cx="11055096" cy="17780"/>
          </a:xfrm>
          <a:prstGeom prst="rect">
            <a:avLst/>
          </a:prstGeom>
          <a:solidFill>
            <a:srgbClr val="DDD6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66928" y="1783080"/>
          <a:ext cx="11055096" cy="427939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94360"/>
                <a:gridCol w="3291840"/>
                <a:gridCol w="7168896"/>
              </a:tblGrid>
              <a:tr h="329184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CO</a:t>
                      </a:r>
                    </a:p>
                  </a:txBody>
                  <a:tcPr marL="82296" marR="54864" marT="18288" marB="18288" anchor="ctr">
                    <a:solidFill>
                      <a:srgbClr val="12121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The course asked for</a:t>
                      </a:r>
                    </a:p>
                  </a:txBody>
                  <a:tcPr marL="82296" marR="54864" marT="18288" marB="18288" anchor="ctr">
                    <a:solidFill>
                      <a:srgbClr val="12121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Where it lives in this project</a:t>
                      </a:r>
                    </a:p>
                  </a:txBody>
                  <a:tcPr marL="82296" marR="54864" marT="18288" marB="18288" anchor="ctr">
                    <a:solidFill>
                      <a:srgbClr val="121212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60" b="1">
                          <a:solidFill>
                            <a:srgbClr val="141414"/>
                          </a:solidFill>
                          <a:latin typeface="Arial"/>
                        </a:rPr>
                        <a:t>CO1</a:t>
                      </a:r>
                    </a:p>
                  </a:txBody>
                  <a:tcPr marL="82296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60" b="0">
                          <a:solidFill>
                            <a:srgbClr val="2A2722"/>
                          </a:solidFill>
                          <a:latin typeface="Arial"/>
                        </a:rPr>
                        <a:t>The full journey: data → model → website → watching</a:t>
                      </a:r>
                    </a:p>
                  </a:txBody>
                  <a:tcPr marL="82296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60" b="0">
                          <a:solidFill>
                            <a:srgbClr val="2A2722"/>
                          </a:solidFill>
                          <a:latin typeface="Arial"/>
                        </a:rPr>
                        <a:t>Slides 3–14 walk it end to end. Every prediction returns a six-stage receipt — data in, features, model, answer, action, log — so nothing is a black box.</a:t>
                      </a:r>
                    </a:p>
                  </a:txBody>
                  <a:tcPr marL="82296" marR="54864" marT="18288" marB="18288" anchor="ctr"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60" b="1">
                          <a:solidFill>
                            <a:srgbClr val="141414"/>
                          </a:solidFill>
                          <a:latin typeface="Arial"/>
                        </a:rPr>
                        <a:t>CO2</a:t>
                      </a:r>
                    </a:p>
                  </a:txBody>
                  <a:tcPr marL="82296" marR="54864" marT="18288" marB="18288" anchor="ctr">
                    <a:solidFill>
                      <a:srgbClr val="F4F0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60" b="0">
                          <a:solidFill>
                            <a:srgbClr val="2A2722"/>
                          </a:solidFill>
                          <a:latin typeface="Arial"/>
                        </a:rPr>
                        <a:t>Simple, transparent models with tuned settings</a:t>
                      </a:r>
                    </a:p>
                  </a:txBody>
                  <a:tcPr marL="82296" marR="54864" marT="18288" marB="18288" anchor="ctr">
                    <a:solidFill>
                      <a:srgbClr val="F4F0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60" b="0">
                          <a:solidFill>
                            <a:srgbClr val="2A2722"/>
                          </a:solidFill>
                          <a:latin typeface="Arial"/>
                        </a:rPr>
                        <a:t>Our scorecard is multinomial logistic regression. The strength dial is tuned (loose 64% / best 66.7% / tight memorises); the study-vs-practice gap is 0.7%; values share one scale first.</a:t>
                      </a:r>
                    </a:p>
                  </a:txBody>
                  <a:tcPr marL="82296" marR="54864" marT="18288" marB="18288" anchor="ctr">
                    <a:solidFill>
                      <a:srgbClr val="F4F0E8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60" b="1">
                          <a:solidFill>
                            <a:srgbClr val="141414"/>
                          </a:solidFill>
                          <a:latin typeface="Arial"/>
                        </a:rPr>
                        <a:t>CO3</a:t>
                      </a:r>
                    </a:p>
                  </a:txBody>
                  <a:tcPr marL="82296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60" b="0">
                          <a:solidFill>
                            <a:srgbClr val="2A2722"/>
                          </a:solidFill>
                          <a:latin typeface="Arial"/>
                        </a:rPr>
                        <a:t>Tree models and combining them</a:t>
                      </a:r>
                    </a:p>
                  </a:txBody>
                  <a:tcPr marL="82296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60" b="0">
                          <a:solidFill>
                            <a:srgbClr val="2A2722"/>
                          </a:solidFill>
                          <a:latin typeface="Arial"/>
                        </a:rPr>
                        <a:t>One question tree: 62%. A forest of 100 voting: 75.1% — the best. Boosted trees: 76% but opaque. The forest also ranks clue importance, spending 0.18 on top.</a:t>
                      </a:r>
                    </a:p>
                  </a:txBody>
                  <a:tcPr marL="82296" marR="54864" marT="18288" marB="18288" anchor="ctr"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60" b="1">
                          <a:solidFill>
                            <a:srgbClr val="141414"/>
                          </a:solidFill>
                          <a:latin typeface="Arial"/>
                        </a:rPr>
                        <a:t>CO4</a:t>
                      </a:r>
                    </a:p>
                  </a:txBody>
                  <a:tcPr marL="82296" marR="54864" marT="18288" marB="18288" anchor="ctr">
                    <a:solidFill>
                      <a:srgbClr val="F4F0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60" b="0">
                          <a:solidFill>
                            <a:srgbClr val="2A2722"/>
                          </a:solidFill>
                          <a:latin typeface="Arial"/>
                        </a:rPr>
                        <a:t>Finding hidden groups and oddballs</a:t>
                      </a:r>
                    </a:p>
                  </a:txBody>
                  <a:tcPr marL="82296" marR="54864" marT="18288" marB="18288" anchor="ctr">
                    <a:solidFill>
                      <a:srgbClr val="F4F0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60" b="0">
                          <a:solidFill>
                            <a:srgbClr val="2A2722"/>
                          </a:solidFill>
                          <a:latin typeface="Arial"/>
                        </a:rPr>
                        <a:t>Left alone, KMeans re-found the same four groups — proof they're real. The family-tree view agrees; DBSCAN marks ~8% loners; 5% anomalies watched; 2-D maps show the separation.</a:t>
                      </a:r>
                    </a:p>
                  </a:txBody>
                  <a:tcPr marL="82296" marR="54864" marT="18288" marB="18288" anchor="ctr">
                    <a:solidFill>
                      <a:srgbClr val="F4F0E8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60" b="1">
                          <a:solidFill>
                            <a:srgbClr val="141414"/>
                          </a:solidFill>
                          <a:latin typeface="Arial"/>
                        </a:rPr>
                        <a:t>CO5</a:t>
                      </a:r>
                    </a:p>
                  </a:txBody>
                  <a:tcPr marL="82296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60" b="0">
                          <a:solidFill>
                            <a:srgbClr val="2A2722"/>
                          </a:solidFill>
                          <a:latin typeface="Arial"/>
                        </a:rPr>
                        <a:t>Testing done properly</a:t>
                      </a:r>
                    </a:p>
                  </a:txBody>
                  <a:tcPr marL="82296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60" b="0">
                          <a:solidFill>
                            <a:srgbClr val="2A2722"/>
                          </a:solidFill>
                          <a:latin typeface="Arial"/>
                        </a:rPr>
                        <a:t>Train, practice and exam kept strictly apart (70/15/15, same mix); five re-tests at 66.6% ± 0.3; an honest 66.4% on the locked exam; 0.87 score; confidence that means what it says.</a:t>
                      </a:r>
                    </a:p>
                  </a:txBody>
                  <a:tcPr marL="82296" marR="54864" marT="18288" marB="18288" anchor="ctr"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60" b="1">
                          <a:solidFill>
                            <a:srgbClr val="141414"/>
                          </a:solidFill>
                          <a:latin typeface="Arial"/>
                        </a:rPr>
                        <a:t>CO6</a:t>
                      </a:r>
                    </a:p>
                  </a:txBody>
                  <a:tcPr marL="82296" marR="54864" marT="18288" marB="18288" anchor="ctr">
                    <a:solidFill>
                      <a:srgbClr val="F4F0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60" b="0">
                          <a:solidFill>
                            <a:srgbClr val="2A2722"/>
                          </a:solidFill>
                          <a:latin typeface="Arial"/>
                        </a:rPr>
                        <a:t>Real deployment habits</a:t>
                      </a:r>
                    </a:p>
                  </a:txBody>
                  <a:tcPr marL="82296" marR="54864" marT="18288" marB="18288" anchor="ctr">
                    <a:solidFill>
                      <a:srgbClr val="F4F0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60" b="0">
                          <a:solidFill>
                            <a:srgbClr val="2A2722"/>
                          </a:solidFill>
                          <a:latin typeface="Arial"/>
                        </a:rPr>
                        <a:t>Cleaning rules and model saved as versioned files; the site reuses identical rules (six safety checks); logs every answer; watches for drift; every prediction auditable afterwards.</a:t>
                      </a:r>
                    </a:p>
                  </a:txBody>
                  <a:tcPr marL="82296" marR="54864" marT="18288" marB="18288" anchor="ctr">
                    <a:solidFill>
                      <a:srgbClr val="F4F0E8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66928" y="6492240"/>
            <a:ext cx="6858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750" b="0" i="0" spc="100">
                <a:solidFill>
                  <a:srgbClr val="9A9385"/>
                </a:solidFill>
                <a:latin typeface="Arial"/>
              </a:rPr>
              <a:t>RETAIL OPS  •  KAGGLE 50K REAL  •  LENS v3.0  •  17/18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272784"/>
            <a:ext cx="8229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6000"/>
              </a:lnSpc>
              <a:spcAft>
                <a:spcPts val="400"/>
              </a:spcAft>
            </a:pPr>
            <a:r>
              <a:rPr sz="2400" b="1" i="0">
                <a:solidFill>
                  <a:srgbClr val="C7C0B1"/>
                </a:solidFill>
                <a:latin typeface="Arial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2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011680"/>
            <a:ext cx="82296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6400" b="1" i="0">
                <a:solidFill>
                  <a:srgbClr val="FFFFFF"/>
                </a:solidFill>
                <a:latin typeface="Arial"/>
              </a:rP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246120"/>
            <a:ext cx="87782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500" b="0" i="0">
                <a:solidFill>
                  <a:srgbClr val="C9C3B7"/>
                </a:solidFill>
                <a:latin typeface="Arial"/>
              </a:rPr>
              <a:t>50,000 real customers. One honest model. A tool the team can open tomorrow.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4343400"/>
            <a:ext cx="2377440" cy="384048"/>
          </a:xfrm>
          <a:prstGeom prst="roundRect">
            <a:avLst>
              <a:gd name="adj" fmla="val 50000"/>
            </a:avLst>
          </a:prstGeom>
          <a:solidFill>
            <a:srgbClr val="121212"/>
          </a:solidFill>
          <a:ln w="15240">
            <a:solidFill>
              <a:srgbClr val="5A54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5720" rIns="4572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66.4% honest accuracy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154680" y="4343400"/>
            <a:ext cx="2194560" cy="384048"/>
          </a:xfrm>
          <a:prstGeom prst="roundRect">
            <a:avLst>
              <a:gd name="adj" fmla="val 50000"/>
            </a:avLst>
          </a:prstGeom>
          <a:solidFill>
            <a:srgbClr val="121212"/>
          </a:solidFill>
          <a:ln w="15240">
            <a:solidFill>
              <a:srgbClr val="5A54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5720" rIns="4572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0.87 model score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532120" y="4343400"/>
            <a:ext cx="2377440" cy="384048"/>
          </a:xfrm>
          <a:prstGeom prst="roundRect">
            <a:avLst>
              <a:gd name="adj" fmla="val 50000"/>
            </a:avLst>
          </a:prstGeom>
          <a:solidFill>
            <a:srgbClr val="6B21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5720" rIns="4572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Live at localhost:5000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92240"/>
            <a:ext cx="6858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750" b="0" i="0" spc="100">
                <a:solidFill>
                  <a:srgbClr val="777268"/>
                </a:solidFill>
                <a:latin typeface="Arial"/>
              </a:rPr>
              <a:t>RETAIL OPS  •  KAGGLE 50K REAL  •  LENS v3.0  •  18/18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18520" y="6272784"/>
            <a:ext cx="8229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6000"/>
              </a:lnSpc>
              <a:spcAft>
                <a:spcPts val="400"/>
              </a:spcAft>
            </a:pPr>
            <a:r>
              <a:rPr sz="2400" b="1" i="0">
                <a:solidFill>
                  <a:srgbClr val="C7C0B1"/>
                </a:solidFill>
                <a:latin typeface="Arial"/>
              </a:rPr>
              <a:t>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